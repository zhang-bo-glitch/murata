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0890" autoAdjust="0"/>
  </p:normalViewPr>
  <p:slideViewPr>
    <p:cSldViewPr>
      <p:cViewPr>
        <p:scale>
          <a:sx n="75" d="100"/>
          <a:sy n="75" d="100"/>
        </p:scale>
        <p:origin x="946" y="4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各位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领导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各位同事，大家好。我</a:t>
            </a:r>
            <a:r>
              <a:rPr lang="ja-JP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是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张博，南京理工大学控制工程专业硕士研究生。这个暑假，我在无锡村田电子参加了暑期夏令营，并在村田二场完成了为期一个月的部门实习。今天汇报的题目是《从产线认知到机器人双点检测动作改造》——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一句话概括，就是如何把课堂和实验室里学到的控制知识，真正“装进”一条产线里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说整体。这30天，从7月13号到8月12号，我的角色经历了三次变化：一开始是参观者，看安全、看设备、看生产逻辑；接着是学习者，把PLC、通信和机器人连成一条知识链；最后变成参与者，亲手完成了机械臂的双点检测动作。最后沉淀下来的，是一条控制链、一个真正能在设备上跑起来的动作单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夏令营的课程给了我视野的广度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——企业与安全、产业与技术、团队与交流、成果输出，让我先理解一家制造企业为什么这样运转；而部门的实践，给了我技术的深度。一句话，课程让我先想清楚“控制工程能在哪些环节创造价值”，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而部门然我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再去现场找答案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部门实习的计划，是把学习压缩成一条递进的技术路线，每一步都为下一步服务。先认知现场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——安全意识和两条产线；再学PLC与通信；然后是机器人；接着做实践，把吸取、检测、动作衔接起来；最后沉淀资料、做汇报。先理解设备，才能安全、准确地去改动作，这个顺序很重要。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想特别说一句：我不是从零开始的。本科毕业设计做了一条紫菜处理与清洗的PLC生产线，让我一天就找回了梯形图和顺序控制的语感；硕士期间参与的国家级项目，用八个电机协同控制空间里的球体，让我天然理解多执行器协同和通信；而我的研究方向惯性导航，恰恰是坐标变换和姿态表达，所以后面理解机器人的世界坐标系、工具坐标系、用户坐标系特别快。过去的知识没有给我标准答案，但让我更快提出了正确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第一步是现场认知。在SUS合理化线、UV贴膜自动化线，还有各种电气部品和产线执行元件里，我看到的不是零散的零件，而是一条清晰的链：感知——控制——执行。传感器采集状态，PLC做判断，机构和机器人去执行。后面所有的动作，都建立在这根链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PLC这一块，重点从我“会写指令”转到了“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看懂设备状态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一天回顾梯形图，然后做I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O映射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让程序里的每一个变量，都对应到真实设备的一个状态；再学ST结构化编程表达复杂逻辑；最后用PLC读取激光传感器的测距信息，让传感数据真正成为动作的依据。当变量能对上设备状态，程序才真正成为产线行为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通信让我从“单机控制”走到了“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设备协同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EtherCAT、EtherNet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IP、Modbus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TCP——这三种工业以太网协议，把传感器、PLC、机器人连成一张网。一句话总结这条链路：传感器给状态，PLC做判断，网络传指令，机器人完成动作。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到了机器人，最关键的是坐标系。世界坐标系是整机的统一基准，工具坐标系TCP是吸嘴末端的位置和姿态，用户坐标系是面向PCB工作平面的局部基准。坐标系一旦统一，机器人的动作才能被准确描述。这里要再次感谢我的惯性导航背景——坐标变换和姿态表达对我来说是“母语”，所以这一块吸收得非常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我的实践任务，落在这条流程的关键衔接处。贴片完成之后，激光测高、吸嘴取膜、取膜检测、膜材贴合、进入加压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而我要做的，是把原来的单点检测，扩展成双点检测，并且保持和原流程的顺序衔接，不打断后面的节拍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具体改了什么？原流程只检右上角一个点；我的目标流程，新增了左上角的检测，把一次检测变成两次。路径上是：原点P0 → 右上角P1 → 回到原点P0 → 左上角P2 → 后续。看起来只是多了一个检测点，但工程上影响三件事：检测覆盖更完整、以P0作为统一中间位置让路径可复现、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最后是能够在不改变代码大框架的前提下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能无缝衔接原有流程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为什么强调P0？因为P0既是取膜后的起始位置，也是两次检测之间统一的“中间站”。P0—P1—P0—P2这条路径，每一次都能回到同一个已知点，所以它可验证、可复现，也更容易排查问题。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有一句话叫做，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稳定的路径，是稳定质量的前提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改造过程中是如何完成的？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现场调试，我的原则是先确认安全、位置、顺序，再谈速度。五步走：先定义清楚P0、P1、P2三个点；用示教器低速确认XYZ方向和姿态；再逐段验证三段路径；确认和后续动作的衔接；最后连续观察重复性，从“能动”走向“稳定可复现”。目前我已经完成了动作序列、点位定位和流程衔接；下一步要做的，是量化验证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记录连续运行次数和成功率、评估对节拍的影响、用单张和多张样本做验证，并把异常和报警都记下来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最后，回到开头那句话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——这30天，我从一个参观者，变成了一个学习者，再变成了一个参与者。带走的不是一份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工作经历</a:t>
            </a:r>
            <a:r>
              <a:rPr lang="ja-JP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而是三样东西：系统思维、安全优先、持续验证。感谢各位指导老师和团队这一个多月来的包容和指点。结业，对我来说是新的起点。谢谢大家！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从产线认知到机器人双点检测动作改造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张博｜南京理工大学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控制工程</a:t>
            </a:r>
            <a:endParaRPr dirty="0"/>
          </a:p>
          <a:p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2026.07.13—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08.12</a:t>
            </a:r>
            <a:endParaRPr dirty="0"/>
          </a:p>
          <a:p>
            <a:pPr algn="l"/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无锡村田电子</a:t>
            </a:r>
            <a:r>
              <a:rPr sz="1400" b="0" dirty="0">
                <a:solidFill>
                  <a:srgbClr val="F5002F"/>
                </a:solidFill>
                <a:latin typeface="微软雅黑" panose="020B0503020204020204" charset="-122"/>
              </a:rPr>
              <a:t> · </a:t>
            </a:r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村田二场</a:t>
            </a:r>
            <a:r>
              <a:rPr sz="1400" b="0" dirty="0">
                <a:solidFill>
                  <a:srgbClr val="F5002F"/>
                </a:solidFill>
                <a:latin typeface="微软雅黑" panose="020B0503020204020204" charset="-122"/>
              </a:rPr>
              <a:t> ｜ 2026 </a:t>
            </a:r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暑期夏令营结业汇报</a:t>
            </a:r>
            <a:endParaRPr sz="14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把知识装进产线</a:t>
            </a:r>
            <a:endParaRPr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/ 14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984365" y="5612765"/>
            <a:ext cx="5085715" cy="3035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本报告中部分示意图、效果图由</a:t>
            </a:r>
            <a:r>
              <a:rPr lang="en-US" altLang="zh-CN" sz="2000" b="1" dirty="0">
                <a:solidFill>
                  <a:srgbClr val="F5002F"/>
                </a:solidFill>
                <a:latin typeface="微软雅黑" panose="020B0503020204020204" charset="-122"/>
              </a:rPr>
              <a:t>AI</a:t>
            </a:r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辅助生成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不只是完成课程，而是把所学汇聚成一个能够在设备上执行的动作单元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一个月里，我从“参观者”走到了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lang="zh-CN" altLang="en-US"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者”</a:t>
            </a:r>
            <a:endParaRPr dirty="0"/>
          </a:p>
        </p:txBody>
      </p:sp>
      <p:sp>
        <p:nvSpPr>
          <p:cNvPr id="4" name="s02-days"/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30天</a:t>
            </a:r>
          </a:p>
        </p:txBody>
      </p:sp>
      <p:sp>
        <p:nvSpPr>
          <p:cNvPr id="5" name="s02-date"/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7.13—8.12</a:t>
            </a:r>
          </a:p>
        </p:txBody>
      </p:sp>
      <p:sp>
        <p:nvSpPr>
          <p:cNvPr id="6" name="s02-flow-line"/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2-01-num"/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2-01-title"/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参观者</a:t>
            </a:r>
          </a:p>
        </p:txBody>
      </p:sp>
      <p:sp>
        <p:nvSpPr>
          <p:cNvPr id="9" name="s02-01-detail"/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认识安全、设备与生产逻辑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2-02-num"/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2-02-title"/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学习者</a:t>
            </a:r>
          </a:p>
        </p:txBody>
      </p:sp>
      <p:sp>
        <p:nvSpPr>
          <p:cNvPr id="12" name="s02-02-detail"/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打通PLC、通信与机器人知识链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2-03-num"/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2-03-title"/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</a:t>
            </a:r>
            <a:r>
              <a:rPr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者</a:t>
            </a:r>
          </a:p>
        </p:txBody>
      </p:sp>
      <p:sp>
        <p:nvSpPr>
          <p:cNvPr id="15" name="s02-03-detail"/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完成机械臂双点检测动作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2-result-rule"/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2-result"/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1条控制链 · 1个落地动作单元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090535" y="1556792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企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安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全</a:t>
            </a:r>
            <a:endParaRPr sz="110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产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技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术</a:t>
            </a:r>
            <a:endParaRPr sz="105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团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队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交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流</a:t>
            </a:r>
            <a:endParaRPr lang="en-US" sz="105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成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果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输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出</a:t>
            </a:r>
            <a:endParaRPr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夏令营给了广度，部门实践给了深度</a:t>
            </a:r>
          </a:p>
        </p:txBody>
      </p:sp>
      <p:sp>
        <p:nvSpPr>
          <p:cNvPr id="6" name="s03-tag"/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夏令营｜视野广度</a:t>
            </a:r>
            <a:endParaRPr sz="16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3-dot-1"/>
          <p:cNvSpPr>
            <a:spLocks noGrp="1"/>
          </p:cNvSpPr>
          <p:nvPr/>
        </p:nvSpPr>
        <p:spPr>
          <a:xfrm>
            <a:off x="7739608" y="1777797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8" name="s03-dot-2"/>
          <p:cNvSpPr>
            <a:spLocks noGrp="1"/>
          </p:cNvSpPr>
          <p:nvPr/>
        </p:nvSpPr>
        <p:spPr>
          <a:xfrm>
            <a:off x="7739608" y="248032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3-dot-3"/>
          <p:cNvSpPr>
            <a:spLocks noGrp="1"/>
          </p:cNvSpPr>
          <p:nvPr/>
        </p:nvSpPr>
        <p:spPr>
          <a:xfrm>
            <a:off x="7752184" y="314594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0" name="s03-dot-4"/>
          <p:cNvSpPr>
            <a:spLocks noGrp="1"/>
          </p:cNvSpPr>
          <p:nvPr/>
        </p:nvSpPr>
        <p:spPr>
          <a:xfrm>
            <a:off x="7752184" y="379402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1" name="s03-callout-line"/>
          <p:cNvSpPr>
            <a:spLocks noGrp="1"/>
          </p:cNvSpPr>
          <p:nvPr/>
        </p:nvSpPr>
        <p:spPr>
          <a:xfrm>
            <a:off x="7810500" y="4673282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03-callout"/>
          <p:cNvSpPr>
            <a:spLocks noGrp="1"/>
          </p:cNvSpPr>
          <p:nvPr/>
        </p:nvSpPr>
        <p:spPr>
          <a:xfrm>
            <a:off x="8039100" y="4610824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课程让我先理解一家制造企业为什么这样运转，再思考控制工程可以在哪些环节创造价值</a:t>
            </a:r>
            <a:r>
              <a:rPr sz="15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pPr algn="l"/>
            <a:r>
              <a:rPr sz="1200" b="0" dirty="0" err="1">
                <a:solidFill>
                  <a:srgbClr val="595959"/>
                </a:solidFill>
                <a:latin typeface="微软雅黑" panose="020B0503020204020204" charset="-122"/>
              </a:rPr>
              <a:t>夏令营以开营讲座、产线参观、跨部门交流等形式，建立对企业整体运转的认知</a:t>
            </a:r>
            <a:r>
              <a:rPr sz="12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03 / 14</a:t>
            </a:r>
          </a:p>
        </p:txBody>
      </p:sp>
      <p:pic>
        <p:nvPicPr>
          <p:cNvPr id="13" name="图片 12" descr="表格2_夏令营日程安排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76300" y="5102696"/>
            <a:ext cx="4476750" cy="990600"/>
          </a:xfrm>
        </p:spPr>
        <p:txBody>
          <a:bodyPr>
            <a:normAutofit/>
          </a:bodyPr>
          <a:lstStyle/>
          <a:p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每一步都为下一步服务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先理解设备，才能安全、准确地修改动作</a:t>
            </a:r>
            <a:endParaRPr b="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五个递进阶段，把学习压缩成一条技术路线</a:t>
            </a:r>
          </a:p>
        </p:txBody>
      </p:sp>
      <p:sp>
        <p:nvSpPr>
          <p:cNvPr id="4" name="s04-stage-line"/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4-stage-1"/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04-title-1"/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现场认知</a:t>
            </a:r>
          </a:p>
        </p:txBody>
      </p:sp>
      <p:sp>
        <p:nvSpPr>
          <p:cNvPr id="7" name="s04-detail-1"/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安全意识｜SUS合理化线｜UV贴膜线</a:t>
            </a:r>
          </a:p>
        </p:txBody>
      </p:sp>
      <p:sp>
        <p:nvSpPr>
          <p:cNvPr id="8" name="s04-stage-2"/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4-title-2"/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PLC与通信</a:t>
            </a:r>
          </a:p>
        </p:txBody>
      </p:sp>
      <p:sp>
        <p:nvSpPr>
          <p:cNvPr id="10" name="s04-detail-2"/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梯形图｜I/O映射｜ST｜工业以太网</a:t>
            </a:r>
          </a:p>
        </p:txBody>
      </p:sp>
      <p:sp>
        <p:nvSpPr>
          <p:cNvPr id="11" name="s04-stage-3"/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04-title-3"/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机器人</a:t>
            </a:r>
          </a:p>
        </p:txBody>
      </p:sp>
      <p:sp>
        <p:nvSpPr>
          <p:cNvPr id="13" name="s04-detail-3"/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示教器｜坐标系｜低速手动操作</a:t>
            </a:r>
          </a:p>
        </p:txBody>
      </p:sp>
      <p:sp>
        <p:nvSpPr>
          <p:cNvPr id="14" name="s04-stage-4"/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04-title-4"/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</a:t>
            </a:r>
          </a:p>
        </p:txBody>
      </p:sp>
      <p:sp>
        <p:nvSpPr>
          <p:cNvPr id="16" name="s04-detail-4"/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吸取、检测与动作衔接</a:t>
            </a:r>
          </a:p>
        </p:txBody>
      </p:sp>
      <p:sp>
        <p:nvSpPr>
          <p:cNvPr id="17" name="s04-stage-5"/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04-title-5"/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成果沉淀</a:t>
            </a:r>
          </a:p>
        </p:txBody>
      </p:sp>
      <p:sp>
        <p:nvSpPr>
          <p:cNvPr id="19" name="s04-detail-5"/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资料整理与结业汇报</a:t>
            </a:r>
          </a:p>
        </p:txBody>
      </p:sp>
      <p:sp>
        <p:nvSpPr>
          <p:cNvPr id="20" name="s04-plan-frame"/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04-image-tag"/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部门实习计划｜技术深度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04 / 14</a:t>
            </a:r>
          </a:p>
        </p:txBody>
      </p:sp>
      <p:pic>
        <p:nvPicPr>
          <p:cNvPr id="23" name="图片 22" descr="表格1_实习生计划安排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/>
          <a:lstStyle/>
          <a:p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过去知识没有直接给出答案，但让我更快提出正确问题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dirty="0"/>
          </a:p>
          <a:p>
            <a:pPr algn="l"/>
            <a:r>
              <a:rPr b="1" dirty="0" err="1">
                <a:solidFill>
                  <a:srgbClr val="F5002F"/>
                </a:solidFill>
                <a:latin typeface="微软雅黑" panose="020B0503020204020204" charset="-122"/>
              </a:rPr>
              <a:t>三段经历叠加，让我在部门实践中不是从零起步，上手明显更快</a:t>
            </a:r>
            <a:r>
              <a:rPr b="1" dirty="0">
                <a:solidFill>
                  <a:srgbClr val="F5002F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三段既有经历，缩短了理解现场的路径</a:t>
            </a:r>
          </a:p>
        </p:txBody>
      </p:sp>
      <p:sp>
        <p:nvSpPr>
          <p:cNvPr id="4" name="s05-leftbar-0"/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5-source-0"/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本科PLC毕业设计</a:t>
            </a:r>
          </a:p>
        </p:txBody>
      </p:sp>
      <p:sp>
        <p:nvSpPr>
          <p:cNvPr id="6" name="s05-source-detail-0"/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紫菜处理与清洗生产线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5-arrow-0"/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05-output-0"/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快速回顾梯形图与顺序控制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5-rowline-0"/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05-leftbar-1"/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05-source-1"/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期间参与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国家级项目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5-source-detail-1"/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八电机协同控制空间球体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5-arrow-1"/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05-output-1"/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理解多执行器协同与通信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5-rowline-1"/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05-leftbar-2"/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5-source-2"/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研究方向：惯性导航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05-source-detail-2"/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坐标变换与姿态表达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5-arrow-2"/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20" name="s05-output-2"/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快速吸收世界</a:t>
            </a:r>
            <a:r>
              <a:rPr sz="2175" b="1" dirty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/TCP/</a:t>
            </a: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用户坐标系</a:t>
            </a:r>
            <a:endParaRPr sz="2175" b="1" dirty="0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lnSpcReduction="10000"/>
          </a:bodyPr>
          <a:lstStyle/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SUS合理化线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UV贴膜自动化线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常见电气部品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生产线执行元件</a:t>
            </a:r>
            <a:endParaRPr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从认识部品开始，我看见了“感知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控制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dirty="0"/>
          </a:p>
        </p:txBody>
      </p:sp>
      <p:sp>
        <p:nvSpPr>
          <p:cNvPr id="4" name="s06-tag"/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现场见学</a:t>
            </a:r>
            <a:endParaRPr sz="15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6-chain-line"/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6-chain"/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6-chain-detail"/>
          <p:cNvSpPr>
            <a:spLocks noGrp="1"/>
          </p:cNvSpPr>
          <p:nvPr/>
        </p:nvSpPr>
        <p:spPr>
          <a:xfrm>
            <a:off x="576072" y="5314950"/>
            <a:ext cx="4223784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6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sz="16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</a:t>
            </a:r>
            <a:r>
              <a:rPr sz="16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sz="16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16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PLC/</a:t>
            </a:r>
            <a:r>
              <a:rPr sz="16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程序</a:t>
            </a:r>
            <a:r>
              <a:rPr lang="en-US" sz="16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sz="16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6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机构与机器人</a:t>
            </a:r>
            <a:endParaRPr sz="16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sz="20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当变量能够对应到设备状态，程序才真正成为产线行为的说明书</a:t>
            </a:r>
            <a:r>
              <a:rPr sz="20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8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PLC学习的重点，从“会写指令”转向“看懂设备状态”</a:t>
            </a:r>
          </a:p>
        </p:txBody>
      </p:sp>
      <p:sp>
        <p:nvSpPr>
          <p:cNvPr id="4" name="s07-day"/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1天</a:t>
            </a:r>
          </a:p>
        </p:txBody>
      </p:sp>
      <p:sp>
        <p:nvSpPr>
          <p:cNvPr id="5" name="s07-day-detail"/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完成梯形图基础回顾</a:t>
            </a:r>
          </a:p>
        </p:txBody>
      </p:sp>
      <p:sp>
        <p:nvSpPr>
          <p:cNvPr id="6" name="s07-flow"/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7-num-0"/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7-title-0"/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梯形图回顾</a:t>
            </a:r>
          </a:p>
        </p:txBody>
      </p:sp>
      <p:sp>
        <p:nvSpPr>
          <p:cNvPr id="9" name="s07-detail-0"/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快速恢复顺序控制语感</a:t>
            </a:r>
          </a:p>
        </p:txBody>
      </p:sp>
      <p:sp>
        <p:nvSpPr>
          <p:cNvPr id="10" name="s07-num-1"/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7-title-1"/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I/O映射</a:t>
            </a:r>
          </a:p>
        </p:txBody>
      </p:sp>
      <p:sp>
        <p:nvSpPr>
          <p:cNvPr id="12" name="s07-detail-1"/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变量与真实设备一一对应</a:t>
            </a:r>
          </a:p>
        </p:txBody>
      </p:sp>
      <p:sp>
        <p:nvSpPr>
          <p:cNvPr id="13" name="s07-num-2"/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7-title-2"/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ST编程</a:t>
            </a:r>
          </a:p>
        </p:txBody>
      </p:sp>
      <p:sp>
        <p:nvSpPr>
          <p:cNvPr id="15" name="s07-detail-2"/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结构化表达复杂逻辑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7-num-3"/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</a:p>
        </p:txBody>
      </p:sp>
      <p:sp>
        <p:nvSpPr>
          <p:cNvPr id="17" name="s07-title-3"/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激光测距读取</a:t>
            </a:r>
          </a:p>
        </p:txBody>
      </p:sp>
      <p:sp>
        <p:nvSpPr>
          <p:cNvPr id="18" name="s07-detail-3"/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让传感信息成为动作依据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7-result-line"/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Rectangle 1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工业通信让我从“单机控制”走向“设备协同”</a:t>
            </a:r>
          </a:p>
        </p:txBody>
      </p:sp>
      <p:sp>
        <p:nvSpPr>
          <p:cNvPr id="4" name="s08-p1"/>
          <p:cNvSpPr>
            <a:spLocks noGrp="1"/>
          </p:cNvSpPr>
          <p:nvPr/>
        </p:nvSpPr>
        <p:spPr>
          <a:xfrm>
            <a:off x="1562100" y="1028699"/>
            <a:ext cx="2517676" cy="7859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EtherCAT</a:t>
            </a:r>
            <a:endParaRPr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8-p2"/>
          <p:cNvSpPr>
            <a:spLocks noGrp="1"/>
          </p:cNvSpPr>
          <p:nvPr/>
        </p:nvSpPr>
        <p:spPr>
          <a:xfrm>
            <a:off x="4572000" y="1028700"/>
            <a:ext cx="2244080" cy="7859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EtherNet</a:t>
            </a:r>
            <a:r>
              <a:rPr sz="15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/IP</a:t>
            </a:r>
          </a:p>
        </p:txBody>
      </p:sp>
      <p:sp>
        <p:nvSpPr>
          <p:cNvPr id="6" name="s08-p3"/>
          <p:cNvSpPr>
            <a:spLocks noGrp="1"/>
          </p:cNvSpPr>
          <p:nvPr/>
        </p:nvSpPr>
        <p:spPr>
          <a:xfrm>
            <a:off x="7639049" y="1028699"/>
            <a:ext cx="2176711" cy="785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Modbus </a:t>
            </a:r>
            <a:r>
              <a:rPr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TCP</a:t>
            </a:r>
            <a:endParaRPr sz="15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8-result-line"/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08-result"/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传感器给状态，PLC做判断，网络传指令，机器人完成动作。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世界坐标系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整机运动的统一基准</a:t>
            </a: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工具坐标系（TCP）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吸嘴末端的位置与姿态</a:t>
            </a: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用户坐标系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面向PCB工作平面的局部基准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坐标系一旦统一，机器人动作才可被准确描述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/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9-callout"/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惯性导航研究帮助我快速建立坐标变换与姿态表达思维。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双点检测位于整条贴片与加压流程的关键衔接处</a:t>
            </a:r>
          </a:p>
        </p:txBody>
      </p:sp>
      <p:sp>
        <p:nvSpPr>
          <p:cNvPr id="4" name="s10-label-0"/>
          <p:cNvSpPr>
            <a:spLocks noGrp="1"/>
          </p:cNvSpPr>
          <p:nvPr/>
        </p:nvSpPr>
        <p:spPr>
          <a:xfrm>
            <a:off x="1273175" y="1123352"/>
            <a:ext cx="1462151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</a:t>
            </a:r>
            <a:r>
              <a:rPr sz="16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贴片完成</a:t>
            </a:r>
            <a:endParaRPr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10-label-1"/>
          <p:cNvSpPr>
            <a:spLocks noGrp="1"/>
          </p:cNvSpPr>
          <p:nvPr/>
        </p:nvSpPr>
        <p:spPr>
          <a:xfrm>
            <a:off x="3104642" y="1123352"/>
            <a:ext cx="1169034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</a:t>
            </a:r>
            <a:r>
              <a:rPr sz="16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激光测高</a:t>
            </a:r>
            <a:endParaRPr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0-label-2"/>
          <p:cNvSpPr>
            <a:spLocks noGrp="1"/>
          </p:cNvSpPr>
          <p:nvPr/>
        </p:nvSpPr>
        <p:spPr>
          <a:xfrm>
            <a:off x="4642992" y="1123352"/>
            <a:ext cx="1169036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</a:t>
            </a:r>
            <a:r>
              <a:rPr sz="16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吸嘴取膜</a:t>
            </a:r>
            <a:endParaRPr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10-label-3"/>
          <p:cNvSpPr>
            <a:spLocks noGrp="1"/>
          </p:cNvSpPr>
          <p:nvPr/>
        </p:nvSpPr>
        <p:spPr>
          <a:xfrm>
            <a:off x="6181344" y="1123352"/>
            <a:ext cx="109728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</a:t>
            </a: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取膜检测</a:t>
            </a:r>
            <a:endParaRPr sz="16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10-label-4"/>
          <p:cNvSpPr>
            <a:spLocks noGrp="1"/>
          </p:cNvSpPr>
          <p:nvPr/>
        </p:nvSpPr>
        <p:spPr>
          <a:xfrm>
            <a:off x="7647940" y="1123352"/>
            <a:ext cx="124079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 </a:t>
            </a:r>
            <a:r>
              <a:rPr sz="16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膜材贴合</a:t>
            </a:r>
            <a:endParaRPr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10-label-5"/>
          <p:cNvSpPr>
            <a:spLocks noGrp="1"/>
          </p:cNvSpPr>
          <p:nvPr/>
        </p:nvSpPr>
        <p:spPr>
          <a:xfrm>
            <a:off x="9258046" y="1123352"/>
            <a:ext cx="1169035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 </a:t>
            </a:r>
            <a:r>
              <a:rPr sz="16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进入加压</a:t>
            </a:r>
            <a:endParaRPr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10-task-line"/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10-task-tag"/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改造任务：单点 → 双点</a:t>
            </a:r>
            <a:endParaRPr sz="1425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10-task"/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将单点检测扩展为双点检测</a:t>
            </a:r>
            <a:r>
              <a:rPr sz="1200" b="1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zh-CN" altLang="en-US" sz="1200" b="1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通过更完整的信息检测是否多模吸附，</a:t>
            </a:r>
            <a:r>
              <a:rPr sz="1200" b="1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并保持与原流程的顺序衔接</a:t>
            </a:r>
            <a:r>
              <a:rPr sz="1200" b="1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10 / 14</a:t>
            </a:r>
          </a:p>
        </p:txBody>
      </p:sp>
      <p:sp>
        <p:nvSpPr>
          <p:cNvPr id="2" name="Rounded Rectangle 25"/>
          <p:cNvSpPr/>
          <p:nvPr/>
        </p:nvSpPr>
        <p:spPr>
          <a:xfrm>
            <a:off x="623570" y="5346700"/>
            <a:ext cx="5111175" cy="95504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lang="zh-CN" sz="1600" b="1">
                <a:solidFill>
                  <a:srgbClr val="F5002F"/>
                </a:solidFill>
                <a:latin typeface="微软雅黑" panose="020B0503020204020204" charset="-122"/>
              </a:rPr>
              <a:t>【</a:t>
            </a:r>
            <a:r>
              <a:rPr sz="1600" b="1">
                <a:solidFill>
                  <a:srgbClr val="F5002F"/>
                </a:solidFill>
                <a:latin typeface="微软雅黑" panose="020B0503020204020204" charset="-122"/>
              </a:rPr>
              <a:t>为什么改造</a:t>
            </a:r>
            <a:r>
              <a:rPr lang="zh-CN" sz="1600" b="1">
                <a:solidFill>
                  <a:srgbClr val="F5002F"/>
                </a:solidFill>
                <a:latin typeface="微软雅黑" panose="020B0503020204020204" charset="-122"/>
              </a:rPr>
              <a:t>】</a:t>
            </a:r>
            <a:endParaRPr sz="1600" b="1">
              <a:solidFill>
                <a:srgbClr val="F5002F"/>
              </a:solidFill>
              <a:latin typeface="微软雅黑" panose="020B0503020204020204" charset="-122"/>
            </a:endParaRPr>
          </a:p>
          <a:p>
            <a:r>
              <a:rPr lang="en-US" sz="1400">
                <a:solidFill>
                  <a:srgbClr val="595959"/>
                </a:solidFill>
                <a:latin typeface="微软雅黑" panose="020B0503020204020204" charset="-122"/>
              </a:rPr>
              <a:t>       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原单点检测仅检右上角，静电吸附易造成多张膜漏检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，存</a:t>
            </a:r>
            <a:r>
              <a:rPr lang="zh-CN"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在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质量隐患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51983" y="5348605"/>
            <a:ext cx="5556121" cy="944880"/>
          </a:xfrm>
          <a:prstGeom prst="roundRect">
            <a:avLst/>
          </a:prstGeom>
          <a:solidFill>
            <a:srgbClr val="E8F1FB"/>
          </a:solidFill>
          <a:ln w="15875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lang="zh-CN" sz="1600" b="1">
                <a:solidFill>
                  <a:srgbClr val="005BAC"/>
                </a:solidFill>
                <a:latin typeface="微软雅黑" panose="020B0503020204020204" charset="-122"/>
              </a:rPr>
              <a:t>【</a:t>
            </a:r>
            <a:r>
              <a:rPr sz="1600" b="1">
                <a:solidFill>
                  <a:srgbClr val="005BAC"/>
                </a:solidFill>
                <a:latin typeface="微软雅黑" panose="020B0503020204020204" charset="-122"/>
              </a:rPr>
              <a:t>解决的困境</a:t>
            </a:r>
            <a:r>
              <a:rPr lang="zh-CN" sz="1600" b="1">
                <a:solidFill>
                  <a:srgbClr val="005BAC"/>
                </a:solidFill>
                <a:latin typeface="微软雅黑" panose="020B0503020204020204" charset="-122"/>
              </a:rPr>
              <a:t>】</a:t>
            </a:r>
            <a:endParaRPr sz="1600" b="1">
              <a:solidFill>
                <a:srgbClr val="005BAC"/>
              </a:solidFill>
              <a:latin typeface="微软雅黑" panose="020B0503020204020204" charset="-122"/>
            </a:endParaRPr>
          </a:p>
          <a:p>
            <a:r>
              <a:rPr lang="en-US" sz="1400">
                <a:solidFill>
                  <a:srgbClr val="595959"/>
                </a:solidFill>
                <a:latin typeface="微软雅黑" panose="020B0503020204020204" charset="-122"/>
              </a:rPr>
              <a:t>       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新增左上角检测，双角点互验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覆盖更完整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，杜绝多张膜流入贴片与加压</a:t>
            </a:r>
            <a:r>
              <a:rPr lang="zh-CN" sz="1400">
                <a:solidFill>
                  <a:srgbClr val="595959"/>
                </a:solidFill>
                <a:latin typeface="微软雅黑" panose="020B0503020204020204" charset="-122"/>
              </a:rPr>
              <a:t>，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显著降低多张模流入加压工序的风险。</a:t>
            </a:r>
            <a:endParaRPr lang="zh-CN" sz="1400">
              <a:solidFill>
                <a:srgbClr val="595959"/>
              </a:solidFill>
              <a:latin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原流程只检右上角，新增左上角扩大检测覆盖</a:t>
            </a:r>
          </a:p>
        </p:txBody>
      </p:sp>
      <p:sp>
        <p:nvSpPr>
          <p:cNvPr id="4" name="s11-original-heading"/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原流程｜一次检测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11-target-heading"/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目标流程｜两次检测</a:t>
            </a:r>
            <a:endParaRPr sz="187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1-vline"/>
          <p:cNvSpPr>
            <a:spLocks noGrp="1"/>
          </p:cNvSpPr>
          <p:nvPr/>
        </p:nvSpPr>
        <p:spPr>
          <a:xfrm>
            <a:off x="5905500" y="116205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11-o-arrow-0"/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11-o-arrow-1"/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9" name="s11-o-node-0"/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</a:t>
            </a:r>
          </a:p>
        </p:txBody>
      </p:sp>
      <p:sp>
        <p:nvSpPr>
          <p:cNvPr id="10" name="s11-o-node-1"/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</a:p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右上角</a:t>
            </a:r>
          </a:p>
        </p:txBody>
      </p:sp>
      <p:sp>
        <p:nvSpPr>
          <p:cNvPr id="11" name="s11-o-node-2"/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</a:t>
            </a:r>
          </a:p>
        </p:txBody>
      </p:sp>
      <p:sp>
        <p:nvSpPr>
          <p:cNvPr id="12" name="s11-t-arrow-0"/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3" name="s11-t-arrow-1"/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11-t-arrow-2"/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5" name="s11-t-arrow-3"/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6" name="s11-t-node-0"/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</p:txBody>
      </p:sp>
      <p:sp>
        <p:nvSpPr>
          <p:cNvPr id="17" name="s11-t-node-1"/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</a:p>
        </p:txBody>
      </p:sp>
      <p:sp>
        <p:nvSpPr>
          <p:cNvPr id="18" name="s11-t-node-2"/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</p:txBody>
      </p:sp>
      <p:sp>
        <p:nvSpPr>
          <p:cNvPr id="19" name="s11-t-node-3"/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</a:t>
            </a:r>
          </a:p>
        </p:txBody>
      </p:sp>
      <p:sp>
        <p:nvSpPr>
          <p:cNvPr id="20" name="s11-t-node-4"/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</a:p>
        </p:txBody>
      </p:sp>
      <p:sp>
        <p:nvSpPr>
          <p:cNvPr id="21" name="s11-target-detail"/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 → 右上角 → 原点 → 左上角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s11-bottom-line"/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11-bottom-heading"/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变化只有一个检测点，工程影响涉及三件事</a:t>
            </a:r>
          </a:p>
        </p:txBody>
      </p:sp>
      <p:sp>
        <p:nvSpPr>
          <p:cNvPr id="24" name="s11-impact-title-0"/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检测覆盖</a:t>
            </a:r>
          </a:p>
        </p:txBody>
      </p:sp>
      <p:sp>
        <p:nvSpPr>
          <p:cNvPr id="25" name="s11-impact-detail-0"/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两个角点提供更完整的局部信息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s11-impact-divider-1"/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11-impact-title-1"/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路径复现</a:t>
            </a:r>
          </a:p>
        </p:txBody>
      </p:sp>
      <p:sp>
        <p:nvSpPr>
          <p:cNvPr id="28" name="s11-impact-detail-1"/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以P0作为统一中间位置</a:t>
            </a:r>
          </a:p>
        </p:txBody>
      </p:sp>
      <p:sp>
        <p:nvSpPr>
          <p:cNvPr id="29" name="s11-impact-divider-2"/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11-impact-title-2"/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流程衔接</a:t>
            </a:r>
          </a:p>
        </p:txBody>
      </p:sp>
      <p:sp>
        <p:nvSpPr>
          <p:cNvPr id="31" name="s11-impact-detail-2"/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通过后继续原有贴膜与加压动作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6_双点检测_P0至P1返回再至P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“P0—P1—P0—P2”构成可验证的稳定路径</a:t>
            </a:r>
          </a:p>
        </p:txBody>
      </p:sp>
      <p:sp>
        <p:nvSpPr>
          <p:cNvPr id="8" name="s12-bottom-rule"/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12-bottom"/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P0既是取膜后的起始位置，也是两次检测之间的统一中间位置。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12 / 14</a:t>
            </a:r>
          </a:p>
        </p:txBody>
      </p:sp>
      <p:sp>
        <p:nvSpPr>
          <p:cNvPr id="14" name="Rounded Rectangle 13">
            <a:hlinkClick r:id="rId4" action="ppaction://hlinkfile"/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dirty="0">
                <a:solidFill>
                  <a:srgbClr val="F5002F"/>
                </a:solidFill>
                <a:latin typeface="微软雅黑" panose="020B0503020204020204" charset="-122"/>
              </a:rPr>
              <a:t>▶ </a:t>
            </a:r>
            <a:r>
              <a:rPr sz="1200" b="1" dirty="0" err="1">
                <a:solidFill>
                  <a:srgbClr val="F5002F"/>
                </a:solidFill>
                <a:latin typeface="微软雅黑" panose="020B0503020204020204" charset="-122"/>
              </a:rPr>
              <a:t>现场演示</a:t>
            </a:r>
            <a:endParaRPr sz="1200" b="1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双点检测动作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适配视频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现场调试先确认安全、位置与顺序，再谈速度</a:t>
            </a:r>
          </a:p>
        </p:txBody>
      </p:sp>
      <p:sp>
        <p:nvSpPr>
          <p:cNvPr id="4" name="s13-timeline"/>
          <p:cNvSpPr>
            <a:spLocks noGrp="1"/>
          </p:cNvSpPr>
          <p:nvPr/>
        </p:nvSpPr>
        <p:spPr>
          <a:xfrm>
            <a:off x="1257300" y="1371600"/>
            <a:ext cx="9525" cy="34861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13-step-0"/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13-title-0"/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明确P0 / P1 / P2</a:t>
            </a:r>
          </a:p>
        </p:txBody>
      </p:sp>
      <p:sp>
        <p:nvSpPr>
          <p:cNvPr id="7" name="s13-detail-0"/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先定义统一原点与两个检测位置</a:t>
            </a:r>
          </a:p>
        </p:txBody>
      </p:sp>
      <p:sp>
        <p:nvSpPr>
          <p:cNvPr id="8" name="s13-step-1"/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13-title-1"/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低速确认XYZ与姿态</a:t>
            </a:r>
          </a:p>
        </p:txBody>
      </p:sp>
      <p:sp>
        <p:nvSpPr>
          <p:cNvPr id="10" name="s13-detail-1"/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使用示教器检查移动方向</a:t>
            </a:r>
          </a:p>
        </p:txBody>
      </p:sp>
      <p:sp>
        <p:nvSpPr>
          <p:cNvPr id="11" name="s13-step-2"/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13-title-2"/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逐段验证三段路径</a:t>
            </a:r>
          </a:p>
        </p:txBody>
      </p:sp>
      <p:sp>
        <p:nvSpPr>
          <p:cNvPr id="13" name="s13-detail-2"/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P0→P1、P1→P0、P0→P2</a:t>
            </a:r>
          </a:p>
        </p:txBody>
      </p:sp>
      <p:sp>
        <p:nvSpPr>
          <p:cNvPr id="14" name="s13-step-3"/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13-title-3"/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确认流程衔接</a:t>
            </a:r>
          </a:p>
        </p:txBody>
      </p:sp>
      <p:sp>
        <p:nvSpPr>
          <p:cNvPr id="16" name="s13-detail-3"/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检测通过后进入原有后续动作</a:t>
            </a:r>
          </a:p>
        </p:txBody>
      </p:sp>
      <p:sp>
        <p:nvSpPr>
          <p:cNvPr id="17" name="s13-step-4"/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13-title-4"/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连续观察重复性</a:t>
            </a:r>
          </a:p>
        </p:txBody>
      </p:sp>
      <p:sp>
        <p:nvSpPr>
          <p:cNvPr id="19" name="s13-detail-4"/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从“能动”走向“稳定可复现”</a:t>
            </a:r>
          </a:p>
        </p:txBody>
      </p:sp>
      <p:sp>
        <p:nvSpPr>
          <p:cNvPr id="20" name="s13-divider"/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13-done-tag"/>
          <p:cNvSpPr>
            <a:spLocks noGrp="1"/>
          </p:cNvSpPr>
          <p:nvPr/>
        </p:nvSpPr>
        <p:spPr>
          <a:xfrm>
            <a:off x="6381750" y="12573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</a:t>
            </a:r>
          </a:p>
        </p:txBody>
      </p:sp>
      <p:sp>
        <p:nvSpPr>
          <p:cNvPr id="22" name="s13-done"/>
          <p:cNvSpPr>
            <a:spLocks noGrp="1"/>
          </p:cNvSpPr>
          <p:nvPr/>
        </p:nvSpPr>
        <p:spPr>
          <a:xfrm>
            <a:off x="6381750" y="1733550"/>
            <a:ext cx="36861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双点检测动作序列</a:t>
            </a:r>
            <a:endParaRPr sz="1875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关键点位定位</a:t>
            </a:r>
            <a:endParaRPr sz="1875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与原有后续动作衔接</a:t>
            </a:r>
            <a:endParaRPr sz="1875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s13-right-mid"/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13-next-tag"/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下一步量化验证</a:t>
            </a:r>
          </a:p>
        </p:txBody>
      </p:sp>
      <p:sp>
        <p:nvSpPr>
          <p:cNvPr id="25" name="s13-next"/>
          <p:cNvSpPr>
            <a:spLocks noGrp="1"/>
          </p:cNvSpPr>
          <p:nvPr/>
        </p:nvSpPr>
        <p:spPr>
          <a:xfrm>
            <a:off x="6381750" y="4038600"/>
            <a:ext cx="4762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连续试运行次数与成功率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新增动作对节拍的影响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单张/多张样本验证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异常、报警与流程中断记录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557184"/>
          </a:xfrm>
        </p:spPr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参观者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学习者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系统思维｜安全优先｜持续验证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感谢</a:t>
            </a:r>
            <a:r>
              <a:rPr lang="zh-CN" altLang="en-US"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指导师傅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zh-CN" altLang="en-US"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部门前辈</a:t>
            </a:r>
            <a:endParaRPr dirty="0"/>
          </a:p>
          <a:p>
            <a:pPr algn="l"/>
            <a:r>
              <a:rPr sz="1400" b="0" dirty="0" err="1">
                <a:solidFill>
                  <a:srgbClr val="595959"/>
                </a:solidFill>
                <a:latin typeface="微软雅黑" panose="020B0503020204020204" charset="-122"/>
              </a:rPr>
              <a:t>期待把控制工程的系统思维，带向更广阔的应用场景</a:t>
            </a:r>
            <a:r>
              <a:rPr sz="14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结业，是新的起点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  <a:endParaRPr sz="2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  ·  </a:t>
            </a:r>
            <a:r>
              <a:rPr sz="1100" b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感谢各位指导老师与团队</a:t>
            </a:r>
            <a:endParaRPr sz="1100" b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1110</Words>
  <Application>Microsoft Office PowerPoint</Application>
  <PresentationFormat>宽屏</PresentationFormat>
  <Paragraphs>225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微软雅黑</vt:lpstr>
      <vt:lpstr>微软雅黑</vt:lpstr>
      <vt:lpstr>Arial</vt:lpstr>
      <vt:lpstr>Confidential</vt:lpstr>
      <vt:lpstr>Standard</vt:lpstr>
      <vt:lpstr>Strictly Confidential</vt:lpstr>
      <vt:lpstr>Limited Disclosure</vt:lpstr>
      <vt:lpstr>把知识装进产线</vt:lpstr>
      <vt:lpstr>一个月里，我从“参观者”走到了“参与者”</vt:lpstr>
      <vt:lpstr>夏令营给了广度，部门实践给了深度</vt:lpstr>
      <vt:lpstr>五个递进阶段，把学习压缩成一条技术路线</vt:lpstr>
      <vt:lpstr>三段既有经历，缩短了理解现场的路径</vt:lpstr>
      <vt:lpstr>从认识部品开始，我看见了“感知—控制—执行”</vt:lpstr>
      <vt:lpstr>PLC学习的重点，从“会写指令”转向“看懂设备状态”</vt:lpstr>
      <vt:lpstr>工业通信让我从“单机控制”走向“设备协同”</vt:lpstr>
      <vt:lpstr>坐标系一旦统一，机器人动作才可被准确描述</vt:lpstr>
      <vt:lpstr>双点检测位于整条贴片与加压流程的关键衔接处</vt:lpstr>
      <vt:lpstr>原流程只检右上角，新增左上角扩大检测覆盖</vt:lpstr>
      <vt:lpstr>“P0—P1—P0—P2”构成可验证的稳定路径</vt:lpstr>
      <vt:lpstr>现场调试先确认安全、位置与顺序，再谈速度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34</cp:revision>
  <dcterms:created xsi:type="dcterms:W3CDTF">2026-07-29T12:12:00Z</dcterms:created>
  <dcterms:modified xsi:type="dcterms:W3CDTF">2026-08-03T01:56:51Z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7228C903E29F43C7ACEB3902F8984090_12</vt:lpwstr>
  </property>
  <property fmtid="{D5CDD505-2E9C-101B-9397-08002B2CF9AE}" pid="3" name="KSOProductBuildVer">
    <vt:lpwstr>2052-12.1.0.23542</vt:lpwstr>
  </property>
</Properties>
</file>