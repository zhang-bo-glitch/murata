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0" r:id="rId4"/>
    <p:sldMasterId id="2147483711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81414" autoAdjust="0"/>
  </p:normalViewPr>
  <p:slideViewPr>
    <p:cSldViewPr>
      <p:cViewPr varScale="1">
        <p:scale>
          <a:sx n="67" d="100"/>
          <a:sy n="67" d="100"/>
        </p:scale>
        <p:origin x="1267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一个月前，我面对的是一条真实产线；一个月后，我完成了其中一个机器人动作的改造。今天我想讲清楚，这个变化是怎样发生的</a:t>
            </a:r>
            <a:r>
              <a:rPr dirty="0"/>
              <a:t>。</a:t>
            </a:r>
            <a:endParaRPr lang="ja-JP" altLang="en-US" dirty="0"/>
          </a:p>
          <a:p>
            <a:endParaRPr lang="ja-JP" alt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Murata official template: Murata2024_Template_Widescreen_ZH.pptx</a:t>
            </a:r>
            <a:endParaRPr lang="en-US" dirty="0"/>
          </a:p>
          <a:p>
            <a:r>
              <a:rPr lang="en-US" dirty="0"/>
              <a:t>- User-requested generated visual: PPT</a:t>
            </a:r>
            <a:r>
              <a:rPr lang="ja-JP" altLang="en-US" dirty="0"/>
              <a:t>配图</a:t>
            </a:r>
            <a:r>
              <a:rPr lang="en-US" altLang="ja-JP" dirty="0"/>
              <a:t>_</a:t>
            </a:r>
            <a:r>
              <a:rPr lang="ja-JP" altLang="en-US" dirty="0"/>
              <a:t>村田主题</a:t>
            </a:r>
            <a:r>
              <a:rPr lang="en-US" altLang="ja-JP" dirty="0"/>
              <a:t>/01_</a:t>
            </a:r>
            <a:r>
              <a:rPr lang="ja-JP" altLang="en-US" dirty="0"/>
              <a:t>封面</a:t>
            </a:r>
            <a:r>
              <a:rPr lang="en-US" altLang="ja-JP" dirty="0"/>
              <a:t>_</a:t>
            </a:r>
            <a:r>
              <a:rPr lang="ja-JP" altLang="en-US" dirty="0"/>
              <a:t>智能制造</a:t>
            </a:r>
            <a:r>
              <a:rPr lang="en-US" altLang="ja-JP" dirty="0"/>
              <a:t>.</a:t>
            </a:r>
            <a:r>
              <a:rPr lang="en-US" dirty="0" err="1"/>
              <a:t>png</a:t>
            </a:r>
            <a:endParaRPr lang="en-US" dirty="0"/>
          </a:p>
          <a:p>
            <a:r>
              <a:rPr lang="en-US" dirty="0"/>
              <a:t>- User-provided internship description: detect.txt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先展示结果，再回到过程。强调三次角色转换：先看懂现场，再建立知识链，最后进入实践。</a:t>
            </a:r>
          </a:p>
          <a:p/>
          <a:p>
            <a:r>
              <a:t>[Sources]</a:t>
            </a:r>
          </a:p>
          <a:p>
            <a:r>
              <a:t>- User-provided internship timeline and completed work: detect.txt</a:t>
            </a:r>
          </a:p>
          <a:p>
            <a:r>
              <a:t>- Murata official template: Murata2024_Template_Widescreen_ZH.pptx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不要逐行朗读计划表。把内容归纳为企业与安全、产业与技术、团队与交流、成果输出四类，说明夏令营提供的是制造业视野。</a:t>
            </a:r>
          </a:p>
          <a:p/>
          <a:p>
            <a:r>
              <a:t>[Sources]</a:t>
            </a:r>
          </a:p>
          <a:p>
            <a:r>
              <a:t>- User-provided summer camp schedule image: C:\Users\z1475\AppData\Local\Temp\codex-clipboard-05397996-9d71-49f9-b1b7-5dce9b32fe77.jpg</a:t>
            </a:r>
          </a:p>
          <a:p>
            <a:r>
              <a:t>- User-provided dates and activity context: detect.txt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说明部门计划的递进关系：现场认知为I/O理解提供对象，PLC与通信为机器人联动提供基础，坐标系理解为动作示教提供基准，最后进入实践。</a:t>
            </a:r>
          </a:p>
          <a:p/>
          <a:p>
            <a:r>
              <a:t>[Sources]</a:t>
            </a:r>
          </a:p>
          <a:p>
            <a:r>
              <a:t>- User-provided department internship plan image: C:\Users\z1475\AppData\Local\Temp\codex-clipboard-f19b6dfd-e478-49eb-aff7-88cc39f84ca9.jpg</a:t>
            </a:r>
          </a:p>
          <a:p>
            <a:r>
              <a:t>- User-provided department learning sequence: detect.txt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个人经历不按简历方式展开，只讲知识迁移：PLC项目缩短基础复习，多电机项目帮助理解设备协同，惯性导航帮助理解机器人坐标系。</a:t>
            </a:r>
          </a:p>
          <a:p/>
          <a:p>
            <a:r>
              <a:t>[Sources]</a:t>
            </a:r>
          </a:p>
          <a:p>
            <a:r>
              <a:t>- User-provided undergraduate PLC graduation project description: detect.txt</a:t>
            </a:r>
          </a:p>
          <a:p>
            <a:r>
              <a:t>- User-provided national project and inertial navigation research description: detect.txt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最初看到的是分散部品，随后开始把它们放进同一条信息链：传感器给出状态，PLC进行判断，执行元件完成动作。</a:t>
            </a:r>
          </a:p>
          <a:p/>
          <a:p>
            <a:r>
              <a:t>[Sources]</a:t>
            </a:r>
          </a:p>
          <a:p>
            <a:r>
              <a:t>- User-provided production-line observation description: detect.txt</a:t>
            </a:r>
          </a:p>
          <a:p>
            <a:r>
              <a:t>- User-requested generated visual: PPT配图_村田主题/02_现场见学_产线认知.png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强调基础指令只用一天复习，真正的新挑战是I/O映射、ST编程和把激光测距信号对应到现场动作。</a:t>
            </a:r>
          </a:p>
          <a:p/>
          <a:p>
            <a:r>
              <a:t>[Sources]</a:t>
            </a:r>
          </a:p>
          <a:p>
            <a:r>
              <a:t>- User-provided PLC learning sequence and prior PLC experience: detect.txt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三种协议的学习帮助我建立工业网络概念。重点不是背协议名称，而是理解状态与指令如何在设备之间流动。</a:t>
            </a:r>
          </a:p>
          <a:p/>
          <a:p>
            <a:r>
              <a:t>[Sources]</a:t>
            </a:r>
          </a:p>
          <a:p>
            <a:r>
              <a:t>- User-provided industrial communication learning: EtherCAT, EtherNet/IP and Modbus TCP</a:t>
            </a:r>
          </a:p>
          <a:p>
            <a:r>
              <a:t>- User-requested generated visual: PPT配图_村田主题/03_控制闭环_传感器PLC通信机器人.png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讲清三套坐标系的对象：世界坐标是整机基准，TCP描述吸嘴末端，用户坐标面向工作平面。惯性导航基础缩短了理解过程。</a:t>
            </a:r>
          </a:p>
          <a:p/>
          <a:p>
            <a:r>
              <a:t>[Sources]</a:t>
            </a:r>
          </a:p>
          <a:p>
            <a:r>
              <a:t>- User-provided robot coordinate-system learning and inertial navigation background: detect.txt</a:t>
            </a:r>
          </a:p>
          <a:p>
            <a:r>
              <a:t>- User-requested generated visual: PPT配图_村田主题/04_机器人三类坐标系.png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先讲完整流程，再聚焦第4步。强调新增动作既要扩大检测覆盖，也要保持与取膜、贴膜和加压流程的衔接。</a:t>
            </a:r>
          </a:p>
          <a:p/>
          <a:p>
            <a:r>
              <a:t>[Sources]</a:t>
            </a:r>
          </a:p>
          <a:p>
            <a:r>
              <a:t>- User-provided complete production-line sequence: detect.txt</a:t>
            </a:r>
          </a:p>
          <a:p>
            <a:r>
              <a:t>- User-requested generated visual: PPT配图_村田主题/05_完整生产流程.png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说明成果边界：没有改变检测原理，而是在既有方式上增加第二个位置。不要宣称完全解决多张膜问题，只说扩大检测覆盖、增加判定依据。</a:t>
            </a:r>
          </a:p>
          <a:p/>
          <a:p>
            <a:r>
              <a:t>[Sources]</a:t>
            </a:r>
          </a:p>
          <a:p>
            <a:r>
              <a:t>- User-provided original and target robot motion sequence: detect.txt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按画面顺序讲：机械臂从P0到右上角P1，返回P0，再到左上角P2，通过后进入后续动作。P0让路径分段清楚，便于逐段调试。</a:t>
            </a:r>
          </a:p>
          <a:p/>
          <a:p>
            <a:r>
              <a:t>[Sources]</a:t>
            </a:r>
          </a:p>
          <a:p>
            <a:r>
              <a:t>- User-provided P0-P1-P0-P2 motion description: detect.txt</a:t>
            </a:r>
          </a:p>
          <a:p>
            <a:r>
              <a:t>- User-requested generated visual: PPT配图_村田主题/06_双点检测_P0至P1返回再至P2.png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工程现场的正确不仅是程序逻辑正确，还包括轨迹安全、位置可达、动作可复现和流程衔接正确。右侧明确区分已完成与下一步量化。</a:t>
            </a:r>
          </a:p>
          <a:p/>
          <a:p>
            <a:r>
              <a:t>[Sources]</a:t>
            </a:r>
          </a:p>
          <a:p>
            <a:r>
              <a:t>- User-provided robot manual operation and dual-point action completion: detect.txt</a:t>
            </a:r>
          </a:p>
          <a:p>
            <a:r>
              <a:t>- Validation items are explicitly presented as next-step measurements; no fabricated metrics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结尾与开头呼应：我完成的不只是多走一个点，而是理解了传感、控制、通信与执行组成的闭环。结业不是终点，而是继续走向智能制造现场的起点。</a:t>
            </a:r>
          </a:p>
          <a:p/>
          <a:p>
            <a:r>
              <a:t>[Sources]</a:t>
            </a:r>
          </a:p>
          <a:p>
            <a:r>
              <a:t>- User-provided reflection goals and completed work: detect.txt</a:t>
            </a:r>
          </a:p>
          <a:p>
            <a:r>
              <a:t>- User-requested generated visual: PPT配图_村田主题/07_结尾_走向智能制造.png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20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20" Type="http://schemas.openxmlformats.org/officeDocument/2006/relationships/slideLayout" Target="../slideLayouts/slideLayout80.xml"/><Relationship Id="rId2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从产线认知到机器人双点检测动作改造</a:t>
            </a:r>
            <a:endParaRPr dirty="0"/>
          </a:p>
          <a:p>
            <a:r>
              <a:rPr dirty="0" err="1"/>
              <a:t>张博｜南京理工大学</a:t>
            </a:r>
            <a:r>
              <a:rPr dirty="0"/>
              <a:t> </a:t>
            </a:r>
            <a:r>
              <a:rPr dirty="0" err="1"/>
              <a:t>控制工程</a:t>
            </a:r>
            <a:endParaRPr dirty="0"/>
          </a:p>
          <a:p>
            <a:r>
              <a:rPr dirty="0"/>
              <a:t>2026.07.13—</a:t>
            </a:r>
            <a:r>
              <a:rPr dirty="0">
                <a:sym typeface="+mn-ea"/>
              </a:rPr>
              <a:t>2026.</a:t>
            </a:r>
            <a:r>
              <a:rPr dirty="0"/>
              <a:t>08.12</a:t>
            </a:r>
            <a:endParaRPr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把知识装进产线</a:t>
            </a:r>
            <a:endParaRPr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723900" y="5467350"/>
            <a:ext cx="10744200" cy="514350"/>
          </a:xfrm>
        </p:spPr>
        <p:txBody>
          <a:bodyPr/>
          <a:lstStyle/>
          <a:p>
            <a:r>
              <a:rPr dirty="0" err="1"/>
              <a:t>不只是完成课程，而是把所学汇聚成一个能够在设备上执行的动作单元</a:t>
            </a:r>
            <a:r>
              <a:rPr dirty="0"/>
              <a:t>。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一个月里，我从“参观者”走到了</a:t>
            </a:r>
            <a:r>
              <a:rPr dirty="0"/>
              <a:t>“</a:t>
            </a:r>
            <a:r>
              <a:rPr lang="zh-CN" altLang="en-US" dirty="0"/>
              <a:t>参与</a:t>
            </a:r>
            <a:r>
              <a:rPr dirty="0"/>
              <a:t>者”</a:t>
            </a:r>
            <a:endParaRPr dirty="0"/>
          </a:p>
        </p:txBody>
      </p:sp>
      <p:sp>
        <p:nvSpPr>
          <p:cNvPr id="4" name="s02-days"/>
          <p:cNvSpPr>
            <a:spLocks noGrp="1"/>
          </p:cNvSpPr>
          <p:nvPr/>
        </p:nvSpPr>
        <p:spPr>
          <a:xfrm>
            <a:off x="762000" y="11620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30天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2-date"/>
          <p:cNvSpPr>
            <a:spLocks noGrp="1"/>
          </p:cNvSpPr>
          <p:nvPr/>
        </p:nvSpPr>
        <p:spPr>
          <a:xfrm>
            <a:off x="800100" y="19526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7.13—8.12</a:t>
            </a:r>
            <a:endParaRPr sz="13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2-flow-line"/>
          <p:cNvSpPr>
            <a:spLocks noGrp="1"/>
          </p:cNvSpPr>
          <p:nvPr/>
        </p:nvSpPr>
        <p:spPr>
          <a:xfrm>
            <a:off x="2667000" y="272415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02-01-num"/>
          <p:cNvSpPr>
            <a:spLocks noGrp="1"/>
          </p:cNvSpPr>
          <p:nvPr/>
        </p:nvSpPr>
        <p:spPr>
          <a:xfrm>
            <a:off x="28575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2-01-title"/>
          <p:cNvSpPr>
            <a:spLocks noGrp="1"/>
          </p:cNvSpPr>
          <p:nvPr/>
        </p:nvSpPr>
        <p:spPr>
          <a:xfrm>
            <a:off x="28575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参观者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2-01-detail"/>
          <p:cNvSpPr>
            <a:spLocks noGrp="1"/>
          </p:cNvSpPr>
          <p:nvPr/>
        </p:nvSpPr>
        <p:spPr>
          <a:xfrm>
            <a:off x="28575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认识安全、设备与生产逻辑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2-02-num"/>
          <p:cNvSpPr>
            <a:spLocks noGrp="1"/>
          </p:cNvSpPr>
          <p:nvPr/>
        </p:nvSpPr>
        <p:spPr>
          <a:xfrm>
            <a:off x="561975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2-02-title"/>
          <p:cNvSpPr>
            <a:spLocks noGrp="1"/>
          </p:cNvSpPr>
          <p:nvPr/>
        </p:nvSpPr>
        <p:spPr>
          <a:xfrm>
            <a:off x="561975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学习者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2-02-detail"/>
          <p:cNvSpPr>
            <a:spLocks noGrp="1"/>
          </p:cNvSpPr>
          <p:nvPr/>
        </p:nvSpPr>
        <p:spPr>
          <a:xfrm>
            <a:off x="561975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打通PLC、通信与机器人知识链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2-03-num"/>
          <p:cNvSpPr>
            <a:spLocks noGrp="1"/>
          </p:cNvSpPr>
          <p:nvPr/>
        </p:nvSpPr>
        <p:spPr>
          <a:xfrm>
            <a:off x="83820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2-03-title"/>
          <p:cNvSpPr>
            <a:spLocks noGrp="1"/>
          </p:cNvSpPr>
          <p:nvPr/>
        </p:nvSpPr>
        <p:spPr>
          <a:xfrm>
            <a:off x="83820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</a:t>
            </a:r>
            <a:r>
              <a:rPr sz="255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者</a:t>
            </a:r>
            <a:endParaRPr sz="255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2-03-detail"/>
          <p:cNvSpPr>
            <a:spLocks noGrp="1"/>
          </p:cNvSpPr>
          <p:nvPr/>
        </p:nvSpPr>
        <p:spPr>
          <a:xfrm>
            <a:off x="83820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完成机械臂双点检测动作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2-result-rule"/>
          <p:cNvSpPr>
            <a:spLocks noGrp="1"/>
          </p:cNvSpPr>
          <p:nvPr/>
        </p:nvSpPr>
        <p:spPr>
          <a:xfrm>
            <a:off x="762000" y="4629150"/>
            <a:ext cx="10668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02-result"/>
          <p:cNvSpPr>
            <a:spLocks noGrp="1"/>
          </p:cNvSpPr>
          <p:nvPr/>
        </p:nvSpPr>
        <p:spPr>
          <a:xfrm>
            <a:off x="762000" y="476250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1条控制链 · 1个落地动作单元</a:t>
            </a:r>
            <a:endParaRPr sz="25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090842" y="1619250"/>
            <a:ext cx="3333750" cy="2381250"/>
          </a:xfrm>
        </p:spPr>
        <p:txBody>
          <a:bodyPr>
            <a:normAutofit fontScale="92500" lnSpcReduction="20000"/>
          </a:bodyPr>
          <a:lstStyle/>
          <a:p>
            <a:r>
              <a:rPr dirty="0" err="1"/>
              <a:t>企业与安全</a:t>
            </a:r>
            <a:endParaRPr lang="en-US" dirty="0"/>
          </a:p>
          <a:p>
            <a:endParaRPr dirty="0"/>
          </a:p>
          <a:p>
            <a:r>
              <a:rPr dirty="0" err="1"/>
              <a:t>产业与技术</a:t>
            </a:r>
            <a:endParaRPr lang="en-US" dirty="0"/>
          </a:p>
          <a:p>
            <a:endParaRPr dirty="0"/>
          </a:p>
          <a:p>
            <a:r>
              <a:rPr dirty="0" err="1"/>
              <a:t>团队与交流</a:t>
            </a:r>
            <a:endParaRPr dirty="0"/>
          </a:p>
          <a:p>
            <a:endParaRPr lang="en-US" dirty="0"/>
          </a:p>
          <a:p>
            <a:r>
              <a:rPr dirty="0" err="1"/>
              <a:t>成果输出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夏令营给了广度，部门实践给了深度</a:t>
            </a:r>
          </a:p>
        </p:txBody>
      </p:sp>
      <p:sp>
        <p:nvSpPr>
          <p:cNvPr id="4" name="s03-image-frame"/>
          <p:cNvSpPr>
            <a:spLocks noGrp="1"/>
          </p:cNvSpPr>
          <p:nvPr/>
        </p:nvSpPr>
        <p:spPr>
          <a:xfrm>
            <a:off x="723900" y="1143000"/>
            <a:ext cx="6762750" cy="4229100"/>
          </a:xfrm>
          <a:prstGeom prst="rect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4716" r="4716"/>
          <a:stretch>
            <a:fillRect/>
          </a:stretch>
        </p:blipFill>
        <p:spPr>
          <a:xfrm>
            <a:off x="762000" y="1181100"/>
            <a:ext cx="6686550" cy="4152900"/>
          </a:xfrm>
          <a:prstGeom prst="rect">
            <a:avLst/>
          </a:prstGeom>
        </p:spPr>
      </p:pic>
      <p:sp>
        <p:nvSpPr>
          <p:cNvPr id="6" name="s03-tag"/>
          <p:cNvSpPr>
            <a:spLocks noGrp="1"/>
          </p:cNvSpPr>
          <p:nvPr/>
        </p:nvSpPr>
        <p:spPr>
          <a:xfrm>
            <a:off x="7810500" y="1123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夏令营｜视野广度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3-dot-1"/>
          <p:cNvSpPr>
            <a:spLocks noGrp="1"/>
          </p:cNvSpPr>
          <p:nvPr/>
        </p:nvSpPr>
        <p:spPr>
          <a:xfrm>
            <a:off x="7739608" y="1628800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3-dot-2"/>
          <p:cNvSpPr>
            <a:spLocks noGrp="1"/>
          </p:cNvSpPr>
          <p:nvPr/>
        </p:nvSpPr>
        <p:spPr>
          <a:xfrm>
            <a:off x="7739608" y="2204864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3-dot-3"/>
          <p:cNvSpPr>
            <a:spLocks noGrp="1"/>
          </p:cNvSpPr>
          <p:nvPr/>
        </p:nvSpPr>
        <p:spPr>
          <a:xfrm>
            <a:off x="7752184" y="2924944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3-dot-4"/>
          <p:cNvSpPr>
            <a:spLocks noGrp="1"/>
          </p:cNvSpPr>
          <p:nvPr/>
        </p:nvSpPr>
        <p:spPr>
          <a:xfrm>
            <a:off x="7752184" y="3573016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3-callout-line"/>
          <p:cNvSpPr>
            <a:spLocks noGrp="1"/>
          </p:cNvSpPr>
          <p:nvPr/>
        </p:nvSpPr>
        <p:spPr>
          <a:xfrm>
            <a:off x="7810500" y="4149080"/>
            <a:ext cx="0" cy="9906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03-callout"/>
          <p:cNvSpPr>
            <a:spLocks noGrp="1"/>
          </p:cNvSpPr>
          <p:nvPr/>
        </p:nvSpPr>
        <p:spPr>
          <a:xfrm>
            <a:off x="8039100" y="4248150"/>
            <a:ext cx="32194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课程让我先理解一家制造企业为什么这样运转，再思考控制工程可以在哪些环节创造价值。</a:t>
            </a:r>
            <a:endParaRPr sz="15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76300" y="4800600"/>
            <a:ext cx="4476750" cy="990600"/>
          </a:xfrm>
        </p:spPr>
        <p:txBody>
          <a:bodyPr/>
          <a:lstStyle/>
          <a:p>
            <a:r>
              <a:t>每一步都为下一步服务：</a:t>
            </a:r>
          </a:p>
          <a:p>
            <a:r>
              <a:t>先理解设备，才能安全、准确地修改动作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五个递进阶段，把学习压缩成一条技术路线</a:t>
            </a:r>
          </a:p>
        </p:txBody>
      </p:sp>
      <p:sp>
        <p:nvSpPr>
          <p:cNvPr id="4" name="s04-stage-line"/>
          <p:cNvSpPr>
            <a:spLocks noGrp="1"/>
          </p:cNvSpPr>
          <p:nvPr/>
        </p:nvSpPr>
        <p:spPr>
          <a:xfrm>
            <a:off x="1114425" y="1524000"/>
            <a:ext cx="9525" cy="2952750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04-stage-1"/>
          <p:cNvSpPr>
            <a:spLocks noGrp="1"/>
          </p:cNvSpPr>
          <p:nvPr/>
        </p:nvSpPr>
        <p:spPr>
          <a:xfrm>
            <a:off x="904875" y="129540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4-title-1"/>
          <p:cNvSpPr>
            <a:spLocks noGrp="1"/>
          </p:cNvSpPr>
          <p:nvPr/>
        </p:nvSpPr>
        <p:spPr>
          <a:xfrm>
            <a:off x="1524000" y="1276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现场认知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4-detail-1"/>
          <p:cNvSpPr>
            <a:spLocks noGrp="1"/>
          </p:cNvSpPr>
          <p:nvPr/>
        </p:nvSpPr>
        <p:spPr>
          <a:xfrm>
            <a:off x="1524000" y="1581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安全意识｜SUS合理化线｜UV贴膜线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4-stage-2"/>
          <p:cNvSpPr>
            <a:spLocks noGrp="1"/>
          </p:cNvSpPr>
          <p:nvPr/>
        </p:nvSpPr>
        <p:spPr>
          <a:xfrm>
            <a:off x="904875" y="19621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4-title-2"/>
          <p:cNvSpPr>
            <a:spLocks noGrp="1"/>
          </p:cNvSpPr>
          <p:nvPr/>
        </p:nvSpPr>
        <p:spPr>
          <a:xfrm>
            <a:off x="1524000" y="19431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PLC与通信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4-detail-2"/>
          <p:cNvSpPr>
            <a:spLocks noGrp="1"/>
          </p:cNvSpPr>
          <p:nvPr/>
        </p:nvSpPr>
        <p:spPr>
          <a:xfrm>
            <a:off x="1524000" y="22479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梯形图｜I/O映射｜ST｜工业以太网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4-stage-3"/>
          <p:cNvSpPr>
            <a:spLocks noGrp="1"/>
          </p:cNvSpPr>
          <p:nvPr/>
        </p:nvSpPr>
        <p:spPr>
          <a:xfrm>
            <a:off x="904875" y="262890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4-title-3"/>
          <p:cNvSpPr>
            <a:spLocks noGrp="1"/>
          </p:cNvSpPr>
          <p:nvPr/>
        </p:nvSpPr>
        <p:spPr>
          <a:xfrm>
            <a:off x="1524000" y="2609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4-detail-3"/>
          <p:cNvSpPr>
            <a:spLocks noGrp="1"/>
          </p:cNvSpPr>
          <p:nvPr/>
        </p:nvSpPr>
        <p:spPr>
          <a:xfrm>
            <a:off x="1524000" y="2927226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示教器｜坐标系｜低速手动操作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4-stage-4"/>
          <p:cNvSpPr>
            <a:spLocks noGrp="1"/>
          </p:cNvSpPr>
          <p:nvPr/>
        </p:nvSpPr>
        <p:spPr>
          <a:xfrm>
            <a:off x="904875" y="32956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4-title-4"/>
          <p:cNvSpPr>
            <a:spLocks noGrp="1"/>
          </p:cNvSpPr>
          <p:nvPr/>
        </p:nvSpPr>
        <p:spPr>
          <a:xfrm>
            <a:off x="1524000" y="32766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4-detail-4"/>
          <p:cNvSpPr>
            <a:spLocks noGrp="1"/>
          </p:cNvSpPr>
          <p:nvPr/>
        </p:nvSpPr>
        <p:spPr>
          <a:xfrm>
            <a:off x="1524000" y="35814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吸取、检测与动作衔接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04-stage-5"/>
          <p:cNvSpPr>
            <a:spLocks noGrp="1"/>
          </p:cNvSpPr>
          <p:nvPr/>
        </p:nvSpPr>
        <p:spPr>
          <a:xfrm>
            <a:off x="904875" y="396240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4-title-5"/>
          <p:cNvSpPr>
            <a:spLocks noGrp="1"/>
          </p:cNvSpPr>
          <p:nvPr/>
        </p:nvSpPr>
        <p:spPr>
          <a:xfrm>
            <a:off x="1524000" y="3943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成果沉淀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4-detail-5"/>
          <p:cNvSpPr>
            <a:spLocks noGrp="1"/>
          </p:cNvSpPr>
          <p:nvPr/>
        </p:nvSpPr>
        <p:spPr>
          <a:xfrm>
            <a:off x="1524000" y="4248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资料整理与结业汇报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4-plan-frame"/>
          <p:cNvSpPr>
            <a:spLocks noGrp="1"/>
          </p:cNvSpPr>
          <p:nvPr/>
        </p:nvSpPr>
        <p:spPr>
          <a:xfrm>
            <a:off x="5810250" y="1123950"/>
            <a:ext cx="5657850" cy="4533900"/>
          </a:xfrm>
          <a:prstGeom prst="rect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rcRect t="27550" b="27550"/>
          <a:stretch>
            <a:fillRect/>
          </a:stretch>
        </p:blipFill>
        <p:spPr>
          <a:xfrm>
            <a:off x="5848350" y="1162050"/>
            <a:ext cx="5581650" cy="4457700"/>
          </a:xfrm>
          <a:prstGeom prst="rect">
            <a:avLst/>
          </a:prstGeom>
        </p:spPr>
      </p:pic>
      <p:sp>
        <p:nvSpPr>
          <p:cNvPr id="22" name="s04-image-tag"/>
          <p:cNvSpPr>
            <a:spLocks noGrp="1"/>
          </p:cNvSpPr>
          <p:nvPr/>
        </p:nvSpPr>
        <p:spPr>
          <a:xfrm>
            <a:off x="6191250" y="1257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部门实习计划｜技术深度</a:t>
            </a:r>
            <a:endParaRPr sz="1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57250" y="5476875"/>
            <a:ext cx="10287000" cy="438150"/>
          </a:xfrm>
        </p:spPr>
        <p:txBody>
          <a:bodyPr/>
          <a:lstStyle/>
          <a:p>
            <a:r>
              <a:rPr dirty="0" err="1"/>
              <a:t>过去知识没有直接给出答案，但让我更快提出正确问题</a:t>
            </a:r>
            <a:r>
              <a:rPr dirty="0"/>
              <a:t>。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三段既有经历，缩短了理解现场的路径</a:t>
            </a:r>
          </a:p>
        </p:txBody>
      </p:sp>
      <p:sp>
        <p:nvSpPr>
          <p:cNvPr id="4" name="s05-leftbar-0"/>
          <p:cNvSpPr>
            <a:spLocks noGrp="1"/>
          </p:cNvSpPr>
          <p:nvPr/>
        </p:nvSpPr>
        <p:spPr>
          <a:xfrm>
            <a:off x="838200" y="1409700"/>
            <a:ext cx="0" cy="867172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05-source-0"/>
          <p:cNvSpPr>
            <a:spLocks noGrp="1"/>
          </p:cNvSpPr>
          <p:nvPr/>
        </p:nvSpPr>
        <p:spPr>
          <a:xfrm>
            <a:off x="1104900" y="14097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本科PLC毕业设计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5-source-detail-0"/>
          <p:cNvSpPr>
            <a:spLocks noGrp="1"/>
          </p:cNvSpPr>
          <p:nvPr/>
        </p:nvSpPr>
        <p:spPr>
          <a:xfrm>
            <a:off x="1104900" y="18669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紫菜处理与清洗生产线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5-arrow-0"/>
          <p:cNvSpPr>
            <a:spLocks noGrp="1"/>
          </p:cNvSpPr>
          <p:nvPr/>
        </p:nvSpPr>
        <p:spPr>
          <a:xfrm>
            <a:off x="4762500" y="15811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5-output-0"/>
          <p:cNvSpPr>
            <a:spLocks noGrp="1"/>
          </p:cNvSpPr>
          <p:nvPr/>
        </p:nvSpPr>
        <p:spPr>
          <a:xfrm>
            <a:off x="6019800" y="144780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快速回顾梯形图与顺序控制</a:t>
            </a:r>
            <a:endParaRPr sz="2175" b="1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5-rowline-0"/>
          <p:cNvSpPr>
            <a:spLocks noGrp="1"/>
          </p:cNvSpPr>
          <p:nvPr/>
        </p:nvSpPr>
        <p:spPr>
          <a:xfrm>
            <a:off x="857250" y="25146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05-leftbar-1"/>
          <p:cNvSpPr>
            <a:spLocks noGrp="1"/>
          </p:cNvSpPr>
          <p:nvPr/>
        </p:nvSpPr>
        <p:spPr>
          <a:xfrm>
            <a:off x="838200" y="2819400"/>
            <a:ext cx="0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05-source-1"/>
          <p:cNvSpPr>
            <a:spLocks noGrp="1"/>
          </p:cNvSpPr>
          <p:nvPr/>
        </p:nvSpPr>
        <p:spPr>
          <a:xfrm>
            <a:off x="1104900" y="28194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</a:t>
            </a:r>
            <a:r>
              <a:rPr lang="zh-CN" altLang="en-US"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期间参与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国家级项目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5-source-detail-1"/>
          <p:cNvSpPr>
            <a:spLocks noGrp="1"/>
          </p:cNvSpPr>
          <p:nvPr/>
        </p:nvSpPr>
        <p:spPr>
          <a:xfrm>
            <a:off x="1104900" y="32766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八电机协同控制空间球体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5-arrow-1"/>
          <p:cNvSpPr>
            <a:spLocks noGrp="1"/>
          </p:cNvSpPr>
          <p:nvPr/>
        </p:nvSpPr>
        <p:spPr>
          <a:xfrm>
            <a:off x="4762500" y="29908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5-output-1"/>
          <p:cNvSpPr>
            <a:spLocks noGrp="1"/>
          </p:cNvSpPr>
          <p:nvPr/>
        </p:nvSpPr>
        <p:spPr>
          <a:xfrm>
            <a:off x="6019800" y="285750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理解多执行器协同与通信</a:t>
            </a:r>
            <a:endParaRPr sz="2175" b="1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5-rowline-1"/>
          <p:cNvSpPr>
            <a:spLocks noGrp="1"/>
          </p:cNvSpPr>
          <p:nvPr/>
        </p:nvSpPr>
        <p:spPr>
          <a:xfrm>
            <a:off x="857250" y="39243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05-leftbar-2"/>
          <p:cNvSpPr>
            <a:spLocks noGrp="1"/>
          </p:cNvSpPr>
          <p:nvPr/>
        </p:nvSpPr>
        <p:spPr>
          <a:xfrm flipH="1">
            <a:off x="838199" y="4229100"/>
            <a:ext cx="1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05-source-2"/>
          <p:cNvSpPr>
            <a:spLocks noGrp="1"/>
          </p:cNvSpPr>
          <p:nvPr/>
        </p:nvSpPr>
        <p:spPr>
          <a:xfrm>
            <a:off x="1104900" y="42291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研究方向：惯性导航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5-source-detail-2"/>
          <p:cNvSpPr>
            <a:spLocks noGrp="1"/>
          </p:cNvSpPr>
          <p:nvPr/>
        </p:nvSpPr>
        <p:spPr>
          <a:xfrm>
            <a:off x="1104900" y="46863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坐标变换与姿态表达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5-arrow-2"/>
          <p:cNvSpPr>
            <a:spLocks noGrp="1"/>
          </p:cNvSpPr>
          <p:nvPr/>
        </p:nvSpPr>
        <p:spPr>
          <a:xfrm>
            <a:off x="4762500" y="44005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5-output-2"/>
          <p:cNvSpPr>
            <a:spLocks noGrp="1"/>
          </p:cNvSpPr>
          <p:nvPr/>
        </p:nvSpPr>
        <p:spPr>
          <a:xfrm>
            <a:off x="6019800" y="426720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 dirty="0" err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快速吸收世界</a:t>
            </a:r>
            <a:r>
              <a:rPr sz="2175" b="1" dirty="0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/TCP/</a:t>
            </a:r>
            <a:r>
              <a:rPr sz="2175" b="1" dirty="0" err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用户坐标系</a:t>
            </a:r>
            <a:endParaRPr sz="2175" b="1" dirty="0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38200" y="1714500"/>
            <a:ext cx="3429000" cy="2476500"/>
          </a:xfrm>
        </p:spPr>
        <p:txBody>
          <a:bodyPr/>
          <a:lstStyle/>
          <a:p>
            <a:r>
              <a:rPr dirty="0" err="1"/>
              <a:t>SUS合理化线</a:t>
            </a:r>
            <a:endParaRPr dirty="0"/>
          </a:p>
          <a:p>
            <a:r>
              <a:rPr dirty="0" err="1"/>
              <a:t>UV贴膜自动化线</a:t>
            </a:r>
            <a:endParaRPr dirty="0"/>
          </a:p>
          <a:p>
            <a:r>
              <a:rPr dirty="0" err="1"/>
              <a:t>常见电气部品</a:t>
            </a:r>
            <a:endParaRPr dirty="0"/>
          </a:p>
          <a:p>
            <a:r>
              <a:rPr dirty="0" err="1"/>
              <a:t>生产线执行元件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从认识部品开始，我看见了“感知</a:t>
            </a:r>
            <a:r>
              <a:rPr dirty="0"/>
              <a:t>—</a:t>
            </a:r>
            <a:r>
              <a:rPr dirty="0" err="1"/>
              <a:t>控制</a:t>
            </a:r>
            <a:r>
              <a:rPr dirty="0"/>
              <a:t>—</a:t>
            </a:r>
            <a:r>
              <a:rPr dirty="0" err="1"/>
              <a:t>执行</a:t>
            </a:r>
            <a:r>
              <a:rPr dirty="0"/>
              <a:t>”</a:t>
            </a:r>
            <a:endParaRPr dirty="0"/>
          </a:p>
        </p:txBody>
      </p:sp>
      <p:sp>
        <p:nvSpPr>
          <p:cNvPr id="4" name="s06-tag"/>
          <p:cNvSpPr>
            <a:spLocks noGrp="1"/>
          </p:cNvSpPr>
          <p:nvPr/>
        </p:nvSpPr>
        <p:spPr>
          <a:xfrm>
            <a:off x="838200" y="12001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现场见学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6-chain-line"/>
          <p:cNvSpPr>
            <a:spLocks noGrp="1"/>
          </p:cNvSpPr>
          <p:nvPr/>
        </p:nvSpPr>
        <p:spPr>
          <a:xfrm>
            <a:off x="876300" y="4686300"/>
            <a:ext cx="32004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06-chain"/>
          <p:cNvSpPr>
            <a:spLocks noGrp="1"/>
          </p:cNvSpPr>
          <p:nvPr/>
        </p:nvSpPr>
        <p:spPr>
          <a:xfrm>
            <a:off x="838200" y="48577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</a:t>
            </a:r>
            <a:r>
              <a:rPr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→  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</a:t>
            </a:r>
            <a:r>
              <a:rPr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→  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6-chain-detail"/>
          <p:cNvSpPr>
            <a:spLocks noGrp="1"/>
          </p:cNvSpPr>
          <p:nvPr/>
        </p:nvSpPr>
        <p:spPr>
          <a:xfrm>
            <a:off x="857250" y="53149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　 PLC/程序　 机构与机器人</a:t>
            </a:r>
            <a:endParaRPr sz="120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8881" r="8881"/>
          <a:stretch>
            <a:fillRect/>
          </a:stretch>
        </p:blipFill>
        <p:spPr>
          <a:xfrm>
            <a:off x="4648200" y="1104900"/>
            <a:ext cx="6819900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38200" y="5467350"/>
            <a:ext cx="10287000" cy="457200"/>
          </a:xfrm>
        </p:spPr>
        <p:txBody>
          <a:bodyPr/>
          <a:lstStyle/>
          <a:p>
            <a:r>
              <a:rPr dirty="0" err="1"/>
              <a:t>当变量能够对应到设备状态，程序才真正成为产线行为的说明书</a:t>
            </a:r>
            <a:r>
              <a:rPr dirty="0"/>
              <a:t>。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PLC学习的重点，从“会写指令”转向“看懂设备状态”</a:t>
            </a:r>
          </a:p>
        </p:txBody>
      </p:sp>
      <p:sp>
        <p:nvSpPr>
          <p:cNvPr id="4" name="s07-day"/>
          <p:cNvSpPr>
            <a:spLocks noGrp="1"/>
          </p:cNvSpPr>
          <p:nvPr/>
        </p:nvSpPr>
        <p:spPr>
          <a:xfrm>
            <a:off x="857250" y="1257300"/>
            <a:ext cx="171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1天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7-day-detail"/>
          <p:cNvSpPr>
            <a:spLocks noGrp="1"/>
          </p:cNvSpPr>
          <p:nvPr/>
        </p:nvSpPr>
        <p:spPr>
          <a:xfrm>
            <a:off x="876300" y="20764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完成梯形图基础回顾</a:t>
            </a:r>
            <a:endParaRPr sz="13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7-flow"/>
          <p:cNvSpPr>
            <a:spLocks noGrp="1"/>
          </p:cNvSpPr>
          <p:nvPr/>
        </p:nvSpPr>
        <p:spPr>
          <a:xfrm>
            <a:off x="2667000" y="285750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07-num-0"/>
          <p:cNvSpPr>
            <a:spLocks noGrp="1"/>
          </p:cNvSpPr>
          <p:nvPr/>
        </p:nvSpPr>
        <p:spPr>
          <a:xfrm>
            <a:off x="2667000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7-title-0"/>
          <p:cNvSpPr>
            <a:spLocks noGrp="1"/>
          </p:cNvSpPr>
          <p:nvPr/>
        </p:nvSpPr>
        <p:spPr>
          <a:xfrm>
            <a:off x="2667000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梯形图回顾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7-detail-0"/>
          <p:cNvSpPr>
            <a:spLocks noGrp="1"/>
          </p:cNvSpPr>
          <p:nvPr/>
        </p:nvSpPr>
        <p:spPr>
          <a:xfrm>
            <a:off x="2667000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快速恢复顺序控制语感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7-num-1"/>
          <p:cNvSpPr>
            <a:spLocks noGrp="1"/>
          </p:cNvSpPr>
          <p:nvPr/>
        </p:nvSpPr>
        <p:spPr>
          <a:xfrm>
            <a:off x="4810125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7-title-1"/>
          <p:cNvSpPr>
            <a:spLocks noGrp="1"/>
          </p:cNvSpPr>
          <p:nvPr/>
        </p:nvSpPr>
        <p:spPr>
          <a:xfrm>
            <a:off x="4810125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I/O映射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7-detail-1"/>
          <p:cNvSpPr>
            <a:spLocks noGrp="1"/>
          </p:cNvSpPr>
          <p:nvPr/>
        </p:nvSpPr>
        <p:spPr>
          <a:xfrm>
            <a:off x="4810125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变量与真实设备一一对应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7-num-2"/>
          <p:cNvSpPr>
            <a:spLocks noGrp="1"/>
          </p:cNvSpPr>
          <p:nvPr/>
        </p:nvSpPr>
        <p:spPr>
          <a:xfrm>
            <a:off x="6953250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7-title-2"/>
          <p:cNvSpPr>
            <a:spLocks noGrp="1"/>
          </p:cNvSpPr>
          <p:nvPr/>
        </p:nvSpPr>
        <p:spPr>
          <a:xfrm>
            <a:off x="6953250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ST编程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7-detail-2"/>
          <p:cNvSpPr>
            <a:spLocks noGrp="1"/>
          </p:cNvSpPr>
          <p:nvPr/>
        </p:nvSpPr>
        <p:spPr>
          <a:xfrm>
            <a:off x="6953250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结构化表达复杂逻辑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7-num-3"/>
          <p:cNvSpPr>
            <a:spLocks noGrp="1"/>
          </p:cNvSpPr>
          <p:nvPr/>
        </p:nvSpPr>
        <p:spPr>
          <a:xfrm>
            <a:off x="9096375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07-title-3"/>
          <p:cNvSpPr>
            <a:spLocks noGrp="1"/>
          </p:cNvSpPr>
          <p:nvPr/>
        </p:nvSpPr>
        <p:spPr>
          <a:xfrm>
            <a:off x="9096375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激光测距读取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7-detail-3"/>
          <p:cNvSpPr>
            <a:spLocks noGrp="1"/>
          </p:cNvSpPr>
          <p:nvPr/>
        </p:nvSpPr>
        <p:spPr>
          <a:xfrm>
            <a:off x="9096375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让传感信息成为动作依据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7-result-line"/>
          <p:cNvSpPr>
            <a:spLocks noGrp="1"/>
          </p:cNvSpPr>
          <p:nvPr/>
        </p:nvSpPr>
        <p:spPr>
          <a:xfrm>
            <a:off x="838200" y="50101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工业通信让我从“单机控制”走向“设备协同”</a:t>
            </a:r>
          </a:p>
        </p:txBody>
      </p:sp>
      <p:sp>
        <p:nvSpPr>
          <p:cNvPr id="4" name="s08-p1"/>
          <p:cNvSpPr>
            <a:spLocks noGrp="1"/>
          </p:cNvSpPr>
          <p:nvPr/>
        </p:nvSpPr>
        <p:spPr>
          <a:xfrm>
            <a:off x="1562100" y="1028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EtherCAT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8-p2"/>
          <p:cNvSpPr>
            <a:spLocks noGrp="1"/>
          </p:cNvSpPr>
          <p:nvPr/>
        </p:nvSpPr>
        <p:spPr>
          <a:xfrm>
            <a:off x="4572000" y="1028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EtherNet/IP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8-p3"/>
          <p:cNvSpPr>
            <a:spLocks noGrp="1"/>
          </p:cNvSpPr>
          <p:nvPr/>
        </p:nvSpPr>
        <p:spPr>
          <a:xfrm>
            <a:off x="7639050" y="1028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Modbus TCP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0" y="1409700"/>
            <a:ext cx="7896225" cy="4444365"/>
          </a:xfrm>
          <a:prstGeom prst="rect">
            <a:avLst/>
          </a:prstGeom>
        </p:spPr>
      </p:pic>
      <p:sp>
        <p:nvSpPr>
          <p:cNvPr id="8" name="s08-result-line"/>
          <p:cNvSpPr>
            <a:spLocks noGrp="1"/>
          </p:cNvSpPr>
          <p:nvPr/>
        </p:nvSpPr>
        <p:spPr>
          <a:xfrm>
            <a:off x="876300" y="5257800"/>
            <a:ext cx="1038225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08-result"/>
          <p:cNvSpPr>
            <a:spLocks noGrp="1"/>
          </p:cNvSpPr>
          <p:nvPr/>
        </p:nvSpPr>
        <p:spPr>
          <a:xfrm>
            <a:off x="876300" y="54102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传感器给状态，PLC做判断，网络传指令，机器人完成动作。</a:t>
            </a:r>
            <a:endParaRPr sz="20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239125" y="1428750"/>
            <a:ext cx="3105150" cy="3333750"/>
          </a:xfrm>
        </p:spPr>
        <p:txBody>
          <a:bodyPr/>
          <a:lstStyle/>
          <a:p>
            <a:r>
              <a:t>世界坐标系</a:t>
            </a:r>
          </a:p>
          <a:p>
            <a:r>
              <a:t>整机运动的统一基准</a:t>
            </a:r>
          </a:p>
          <a:p/>
          <a:p>
            <a:r>
              <a:t>工具坐标系（TCP）</a:t>
            </a:r>
          </a:p>
          <a:p>
            <a:r>
              <a:t>吸嘴末端的位置与姿态</a:t>
            </a:r>
          </a:p>
          <a:p/>
          <a:p>
            <a:r>
              <a:t>用户坐标系</a:t>
            </a:r>
          </a:p>
          <a:p>
            <a:r>
              <a:t>面向PCB工作平面的局部基准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坐标系一旦统一，机器人动作才可被准确描述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5780" r="5780"/>
          <a:stretch>
            <a:fillRect/>
          </a:stretch>
        </p:blipFill>
        <p:spPr>
          <a:xfrm>
            <a:off x="723900" y="1143000"/>
            <a:ext cx="7124700" cy="4533900"/>
          </a:xfrm>
          <a:prstGeom prst="rect">
            <a:avLst/>
          </a:prstGeom>
        </p:spPr>
      </p:pic>
      <p:sp>
        <p:nvSpPr>
          <p:cNvPr id="5" name="s09-callout-line"/>
          <p:cNvSpPr>
            <a:spLocks noGrp="1"/>
          </p:cNvSpPr>
          <p:nvPr/>
        </p:nvSpPr>
        <p:spPr>
          <a:xfrm>
            <a:off x="8239125" y="4884390"/>
            <a:ext cx="0" cy="70485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09-callout"/>
          <p:cNvSpPr>
            <a:spLocks noGrp="1"/>
          </p:cNvSpPr>
          <p:nvPr/>
        </p:nvSpPr>
        <p:spPr>
          <a:xfrm>
            <a:off x="8439150" y="4972050"/>
            <a:ext cx="285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惯性导航研究帮助我快速建立坐标变换与姿态表达思维。</a:t>
            </a:r>
            <a:endParaRPr sz="14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440" y="261154"/>
            <a:ext cx="9900000" cy="5571709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双点检测位于整条贴片与加压流程的关键衔接处</a:t>
            </a:r>
          </a:p>
        </p:txBody>
      </p:sp>
      <p:sp>
        <p:nvSpPr>
          <p:cNvPr id="4" name="s10-label-0"/>
          <p:cNvSpPr>
            <a:spLocks noGrp="1"/>
          </p:cNvSpPr>
          <p:nvPr/>
        </p:nvSpPr>
        <p:spPr>
          <a:xfrm>
            <a:off x="781050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贴片完成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0-label-1"/>
          <p:cNvSpPr>
            <a:spLocks noGrp="1"/>
          </p:cNvSpPr>
          <p:nvPr/>
        </p:nvSpPr>
        <p:spPr>
          <a:xfrm>
            <a:off x="2562225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激光测高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0-label-2"/>
          <p:cNvSpPr>
            <a:spLocks noGrp="1"/>
          </p:cNvSpPr>
          <p:nvPr/>
        </p:nvSpPr>
        <p:spPr>
          <a:xfrm>
            <a:off x="4343400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吸嘴取膜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0-label-3"/>
          <p:cNvSpPr>
            <a:spLocks noGrp="1"/>
          </p:cNvSpPr>
          <p:nvPr/>
        </p:nvSpPr>
        <p:spPr>
          <a:xfrm>
            <a:off x="6124575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取膜检测</a:t>
            </a:r>
            <a:endParaRPr sz="12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0-label-4"/>
          <p:cNvSpPr>
            <a:spLocks noGrp="1"/>
          </p:cNvSpPr>
          <p:nvPr/>
        </p:nvSpPr>
        <p:spPr>
          <a:xfrm>
            <a:off x="7905750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膜材贴合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0-label-5"/>
          <p:cNvSpPr>
            <a:spLocks noGrp="1"/>
          </p:cNvSpPr>
          <p:nvPr/>
        </p:nvSpPr>
        <p:spPr>
          <a:xfrm>
            <a:off x="9686925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进入加压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0-task-line"/>
          <p:cNvSpPr>
            <a:spLocks noGrp="1"/>
          </p:cNvSpPr>
          <p:nvPr/>
        </p:nvSpPr>
        <p:spPr>
          <a:xfrm>
            <a:off x="838200" y="5703912"/>
            <a:ext cx="1216" cy="533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10-task-tag"/>
          <p:cNvSpPr>
            <a:spLocks noGrp="1"/>
          </p:cNvSpPr>
          <p:nvPr/>
        </p:nvSpPr>
        <p:spPr>
          <a:xfrm>
            <a:off x="1066800" y="562543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我的实践任务</a:t>
            </a:r>
            <a:endParaRPr sz="1425" b="1" dirty="0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0-task"/>
          <p:cNvSpPr>
            <a:spLocks noGrp="1"/>
          </p:cNvSpPr>
          <p:nvPr/>
        </p:nvSpPr>
        <p:spPr>
          <a:xfrm>
            <a:off x="1066800" y="5928320"/>
            <a:ext cx="809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将单点检测扩展为双点检测，并保持与原流程的顺序衔接</a:t>
            </a:r>
            <a:r>
              <a:rPr sz="1875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75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原流程只检右上角，新增左上角扩大检测覆盖</a:t>
            </a:r>
          </a:p>
        </p:txBody>
      </p:sp>
      <p:sp>
        <p:nvSpPr>
          <p:cNvPr id="4" name="s11-original-heading"/>
          <p:cNvSpPr>
            <a:spLocks noGrp="1"/>
          </p:cNvSpPr>
          <p:nvPr/>
        </p:nvSpPr>
        <p:spPr>
          <a:xfrm>
            <a:off x="87630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原流程｜一次检测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1-target-heading"/>
          <p:cNvSpPr>
            <a:spLocks noGrp="1"/>
          </p:cNvSpPr>
          <p:nvPr/>
        </p:nvSpPr>
        <p:spPr>
          <a:xfrm>
            <a:off x="626745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目标流程｜两次检测</a:t>
            </a:r>
            <a:endParaRPr sz="18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1-vline"/>
          <p:cNvSpPr>
            <a:spLocks noGrp="1"/>
          </p:cNvSpPr>
          <p:nvPr/>
        </p:nvSpPr>
        <p:spPr>
          <a:xfrm>
            <a:off x="5905500" y="1162050"/>
            <a:ext cx="9525" cy="30480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11-o-arrow-0"/>
          <p:cNvSpPr>
            <a:spLocks noGrp="1"/>
          </p:cNvSpPr>
          <p:nvPr/>
        </p:nvSpPr>
        <p:spPr>
          <a:xfrm>
            <a:off x="19431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1-o-arrow-1"/>
          <p:cNvSpPr>
            <a:spLocks noGrp="1"/>
          </p:cNvSpPr>
          <p:nvPr/>
        </p:nvSpPr>
        <p:spPr>
          <a:xfrm>
            <a:off x="37719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1-o-node-0"/>
          <p:cNvSpPr>
            <a:spLocks noGrp="1"/>
          </p:cNvSpPr>
          <p:nvPr/>
        </p:nvSpPr>
        <p:spPr>
          <a:xfrm>
            <a:off x="10668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原点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1-o-node-1"/>
          <p:cNvSpPr>
            <a:spLocks noGrp="1"/>
          </p:cNvSpPr>
          <p:nvPr/>
        </p:nvSpPr>
        <p:spPr>
          <a:xfrm>
            <a:off x="28956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右上角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1-o-node-2"/>
          <p:cNvSpPr>
            <a:spLocks noGrp="1"/>
          </p:cNvSpPr>
          <p:nvPr/>
        </p:nvSpPr>
        <p:spPr>
          <a:xfrm>
            <a:off x="47244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1-t-arrow-0"/>
          <p:cNvSpPr>
            <a:spLocks noGrp="1"/>
          </p:cNvSpPr>
          <p:nvPr/>
        </p:nvSpPr>
        <p:spPr>
          <a:xfrm>
            <a:off x="69532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1-t-arrow-1"/>
          <p:cNvSpPr>
            <a:spLocks noGrp="1"/>
          </p:cNvSpPr>
          <p:nvPr/>
        </p:nvSpPr>
        <p:spPr>
          <a:xfrm>
            <a:off x="79819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1-t-arrow-2"/>
          <p:cNvSpPr>
            <a:spLocks noGrp="1"/>
          </p:cNvSpPr>
          <p:nvPr/>
        </p:nvSpPr>
        <p:spPr>
          <a:xfrm>
            <a:off x="90106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1-t-arrow-3"/>
          <p:cNvSpPr>
            <a:spLocks noGrp="1"/>
          </p:cNvSpPr>
          <p:nvPr/>
        </p:nvSpPr>
        <p:spPr>
          <a:xfrm>
            <a:off x="100393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1-t-node-0"/>
          <p:cNvSpPr>
            <a:spLocks noGrp="1"/>
          </p:cNvSpPr>
          <p:nvPr/>
        </p:nvSpPr>
        <p:spPr>
          <a:xfrm>
            <a:off x="63055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1-t-node-1"/>
          <p:cNvSpPr>
            <a:spLocks noGrp="1"/>
          </p:cNvSpPr>
          <p:nvPr/>
        </p:nvSpPr>
        <p:spPr>
          <a:xfrm>
            <a:off x="73342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1-t-node-2"/>
          <p:cNvSpPr>
            <a:spLocks noGrp="1"/>
          </p:cNvSpPr>
          <p:nvPr/>
        </p:nvSpPr>
        <p:spPr>
          <a:xfrm>
            <a:off x="83629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1-t-node-3"/>
          <p:cNvSpPr>
            <a:spLocks noGrp="1"/>
          </p:cNvSpPr>
          <p:nvPr/>
        </p:nvSpPr>
        <p:spPr>
          <a:xfrm>
            <a:off x="93916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1-t-node-4"/>
          <p:cNvSpPr>
            <a:spLocks noGrp="1"/>
          </p:cNvSpPr>
          <p:nvPr/>
        </p:nvSpPr>
        <p:spPr>
          <a:xfrm>
            <a:off x="104203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11-target-detail"/>
          <p:cNvSpPr>
            <a:spLocks noGrp="1"/>
          </p:cNvSpPr>
          <p:nvPr/>
        </p:nvSpPr>
        <p:spPr>
          <a:xfrm>
            <a:off x="6324600" y="31432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原点 → 右上角 → 原点 → 左上角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1-bottom-line"/>
          <p:cNvSpPr>
            <a:spLocks noGrp="1"/>
          </p:cNvSpPr>
          <p:nvPr/>
        </p:nvSpPr>
        <p:spPr>
          <a:xfrm>
            <a:off x="876300" y="39433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11-bottom-heading"/>
          <p:cNvSpPr>
            <a:spLocks noGrp="1"/>
          </p:cNvSpPr>
          <p:nvPr/>
        </p:nvSpPr>
        <p:spPr>
          <a:xfrm>
            <a:off x="876300" y="41338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变化只有一个检测点，工程影响涉及三件事</a:t>
            </a:r>
            <a:endParaRPr sz="20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11-impact-title-0"/>
          <p:cNvSpPr>
            <a:spLocks noGrp="1"/>
          </p:cNvSpPr>
          <p:nvPr/>
        </p:nvSpPr>
        <p:spPr>
          <a:xfrm>
            <a:off x="89535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检测覆盖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1-impact-detail-0"/>
          <p:cNvSpPr>
            <a:spLocks noGrp="1"/>
          </p:cNvSpPr>
          <p:nvPr/>
        </p:nvSpPr>
        <p:spPr>
          <a:xfrm>
            <a:off x="89535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两个角点提供更完整的局部信息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11-impact-divider-1"/>
          <p:cNvSpPr>
            <a:spLocks noGrp="1"/>
          </p:cNvSpPr>
          <p:nvPr/>
        </p:nvSpPr>
        <p:spPr>
          <a:xfrm>
            <a:off x="4124326" y="4705350"/>
            <a:ext cx="0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11-impact-title-1"/>
          <p:cNvSpPr>
            <a:spLocks noGrp="1"/>
          </p:cNvSpPr>
          <p:nvPr/>
        </p:nvSpPr>
        <p:spPr>
          <a:xfrm>
            <a:off x="4371975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路径复现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11-impact-detail-1"/>
          <p:cNvSpPr>
            <a:spLocks noGrp="1"/>
          </p:cNvSpPr>
          <p:nvPr/>
        </p:nvSpPr>
        <p:spPr>
          <a:xfrm>
            <a:off x="4371975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以P0作为统一中间位置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11-impact-divider-2"/>
          <p:cNvSpPr>
            <a:spLocks noGrp="1"/>
          </p:cNvSpPr>
          <p:nvPr/>
        </p:nvSpPr>
        <p:spPr>
          <a:xfrm>
            <a:off x="7600950" y="4705350"/>
            <a:ext cx="1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11-impact-title-2"/>
          <p:cNvSpPr>
            <a:spLocks noGrp="1"/>
          </p:cNvSpPr>
          <p:nvPr/>
        </p:nvSpPr>
        <p:spPr>
          <a:xfrm>
            <a:off x="784860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流程衔接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11-impact-detail-2"/>
          <p:cNvSpPr>
            <a:spLocks noGrp="1"/>
          </p:cNvSpPr>
          <p:nvPr/>
        </p:nvSpPr>
        <p:spPr>
          <a:xfrm>
            <a:off x="784860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通过后继续原有贴膜与加压动作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6_双点检测_P0至P1返回再至P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970" y="916305"/>
            <a:ext cx="8143875" cy="4583430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“P0—P1—P0—P2”构成可验证的稳定路径</a:t>
            </a:r>
          </a:p>
        </p:txBody>
      </p:sp>
      <p:sp>
        <p:nvSpPr>
          <p:cNvPr id="8" name="s12-bottom-rule"/>
          <p:cNvSpPr>
            <a:spLocks noGrp="1"/>
          </p:cNvSpPr>
          <p:nvPr/>
        </p:nvSpPr>
        <p:spPr>
          <a:xfrm>
            <a:off x="876300" y="55816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12-bottom"/>
          <p:cNvSpPr>
            <a:spLocks noGrp="1"/>
          </p:cNvSpPr>
          <p:nvPr/>
        </p:nvSpPr>
        <p:spPr>
          <a:xfrm>
            <a:off x="876300" y="56959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P0既是取膜后的起始位置，也是两次检测之间的统一中间位置。</a:t>
            </a:r>
            <a:endParaRPr sz="16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现场调试先确认安全、位置与顺序，再谈速度</a:t>
            </a:r>
          </a:p>
        </p:txBody>
      </p:sp>
      <p:sp>
        <p:nvSpPr>
          <p:cNvPr id="4" name="s13-timeline"/>
          <p:cNvSpPr>
            <a:spLocks noGrp="1"/>
          </p:cNvSpPr>
          <p:nvPr/>
        </p:nvSpPr>
        <p:spPr>
          <a:xfrm>
            <a:off x="1257300" y="1371600"/>
            <a:ext cx="9525" cy="3752850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13-step-0"/>
          <p:cNvSpPr>
            <a:spLocks noGrp="1"/>
          </p:cNvSpPr>
          <p:nvPr/>
        </p:nvSpPr>
        <p:spPr>
          <a:xfrm>
            <a:off x="1047750" y="12001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3-title-0"/>
          <p:cNvSpPr>
            <a:spLocks noGrp="1"/>
          </p:cNvSpPr>
          <p:nvPr/>
        </p:nvSpPr>
        <p:spPr>
          <a:xfrm>
            <a:off x="1714500" y="11811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明确P0 / P1 / P2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3-detail-0"/>
          <p:cNvSpPr>
            <a:spLocks noGrp="1"/>
          </p:cNvSpPr>
          <p:nvPr/>
        </p:nvSpPr>
        <p:spPr>
          <a:xfrm>
            <a:off x="1714500" y="15240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先定义统一原点与两个检测位置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3-step-1"/>
          <p:cNvSpPr>
            <a:spLocks noGrp="1"/>
          </p:cNvSpPr>
          <p:nvPr/>
        </p:nvSpPr>
        <p:spPr>
          <a:xfrm>
            <a:off x="1047750" y="20383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3-title-1"/>
          <p:cNvSpPr>
            <a:spLocks noGrp="1"/>
          </p:cNvSpPr>
          <p:nvPr/>
        </p:nvSpPr>
        <p:spPr>
          <a:xfrm>
            <a:off x="1714500" y="20193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低速确认XYZ与姿态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3-detail-1"/>
          <p:cNvSpPr>
            <a:spLocks noGrp="1"/>
          </p:cNvSpPr>
          <p:nvPr/>
        </p:nvSpPr>
        <p:spPr>
          <a:xfrm>
            <a:off x="1714500" y="23622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使用示教器检查移动方向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3-step-2"/>
          <p:cNvSpPr>
            <a:spLocks noGrp="1"/>
          </p:cNvSpPr>
          <p:nvPr/>
        </p:nvSpPr>
        <p:spPr>
          <a:xfrm>
            <a:off x="1047750" y="28765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3-title-2"/>
          <p:cNvSpPr>
            <a:spLocks noGrp="1"/>
          </p:cNvSpPr>
          <p:nvPr/>
        </p:nvSpPr>
        <p:spPr>
          <a:xfrm>
            <a:off x="1714500" y="28575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逐段验证三段路径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3-detail-2"/>
          <p:cNvSpPr>
            <a:spLocks noGrp="1"/>
          </p:cNvSpPr>
          <p:nvPr/>
        </p:nvSpPr>
        <p:spPr>
          <a:xfrm>
            <a:off x="1714500" y="32004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P0→P1、P1→P0、P0→P2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3-step-3"/>
          <p:cNvSpPr>
            <a:spLocks noGrp="1"/>
          </p:cNvSpPr>
          <p:nvPr/>
        </p:nvSpPr>
        <p:spPr>
          <a:xfrm>
            <a:off x="1047750" y="37147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3-title-3"/>
          <p:cNvSpPr>
            <a:spLocks noGrp="1"/>
          </p:cNvSpPr>
          <p:nvPr/>
        </p:nvSpPr>
        <p:spPr>
          <a:xfrm>
            <a:off x="1714500" y="3695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确认流程衔接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3-detail-3"/>
          <p:cNvSpPr>
            <a:spLocks noGrp="1"/>
          </p:cNvSpPr>
          <p:nvPr/>
        </p:nvSpPr>
        <p:spPr>
          <a:xfrm>
            <a:off x="1714500" y="40386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检测通过后进入原有后续动作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3-step-4"/>
          <p:cNvSpPr>
            <a:spLocks noGrp="1"/>
          </p:cNvSpPr>
          <p:nvPr/>
        </p:nvSpPr>
        <p:spPr>
          <a:xfrm>
            <a:off x="1047750" y="45529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3-title-4"/>
          <p:cNvSpPr>
            <a:spLocks noGrp="1"/>
          </p:cNvSpPr>
          <p:nvPr/>
        </p:nvSpPr>
        <p:spPr>
          <a:xfrm>
            <a:off x="1714500" y="45339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连续观察重复性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3-detail-4"/>
          <p:cNvSpPr>
            <a:spLocks noGrp="1"/>
          </p:cNvSpPr>
          <p:nvPr/>
        </p:nvSpPr>
        <p:spPr>
          <a:xfrm>
            <a:off x="1714500" y="48768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从“能动”走向“稳定可复现”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3-divider"/>
          <p:cNvSpPr>
            <a:spLocks noGrp="1"/>
          </p:cNvSpPr>
          <p:nvPr/>
        </p:nvSpPr>
        <p:spPr>
          <a:xfrm>
            <a:off x="5905500" y="1181100"/>
            <a:ext cx="9525" cy="44577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13-done-tag"/>
          <p:cNvSpPr>
            <a:spLocks noGrp="1"/>
          </p:cNvSpPr>
          <p:nvPr/>
        </p:nvSpPr>
        <p:spPr>
          <a:xfrm>
            <a:off x="6381750" y="12573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3-done"/>
          <p:cNvSpPr>
            <a:spLocks noGrp="1"/>
          </p:cNvSpPr>
          <p:nvPr/>
        </p:nvSpPr>
        <p:spPr>
          <a:xfrm>
            <a:off x="6381750" y="1733550"/>
            <a:ext cx="4476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双点检测动作序列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关键点位定位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与原有后续动作衔接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13-right-mid"/>
          <p:cNvSpPr>
            <a:spLocks noGrp="1"/>
          </p:cNvSpPr>
          <p:nvPr/>
        </p:nvSpPr>
        <p:spPr>
          <a:xfrm>
            <a:off x="6381750" y="3314700"/>
            <a:ext cx="447675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13-next-tag"/>
          <p:cNvSpPr>
            <a:spLocks noGrp="1"/>
          </p:cNvSpPr>
          <p:nvPr/>
        </p:nvSpPr>
        <p:spPr>
          <a:xfrm>
            <a:off x="6381750" y="35433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下一步量化验证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3-next"/>
          <p:cNvSpPr>
            <a:spLocks noGrp="1"/>
          </p:cNvSpPr>
          <p:nvPr/>
        </p:nvSpPr>
        <p:spPr>
          <a:xfrm>
            <a:off x="6381750" y="4038600"/>
            <a:ext cx="47625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连续试运行次数与成功率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新增动作对节拍的影响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单张/多张样本验证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异常、报警与流程中断记录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13-boundary"/>
          <p:cNvSpPr>
            <a:spLocks noGrp="1"/>
          </p:cNvSpPr>
          <p:nvPr/>
        </p:nvSpPr>
        <p:spPr>
          <a:xfrm>
            <a:off x="9525000" y="1257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当前验证边界</a:t>
            </a:r>
            <a:endParaRPr sz="12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参观者</a:t>
            </a:r>
            <a:r>
              <a:rPr dirty="0"/>
              <a:t> → </a:t>
            </a:r>
            <a:r>
              <a:rPr dirty="0" err="1"/>
              <a:t>学习者</a:t>
            </a:r>
            <a:r>
              <a:rPr dirty="0"/>
              <a:t> → </a:t>
            </a:r>
            <a:r>
              <a:rPr lang="zh-CN" altLang="en-US" dirty="0"/>
              <a:t>参与</a:t>
            </a:r>
            <a:r>
              <a:rPr dirty="0"/>
              <a:t>者</a:t>
            </a:r>
            <a:endParaRPr dirty="0"/>
          </a:p>
          <a:p>
            <a:r>
              <a:rPr dirty="0" err="1"/>
              <a:t>系统思维｜安全优先｜持续验证</a:t>
            </a:r>
            <a:endParaRPr dirty="0"/>
          </a:p>
          <a:p>
            <a:r>
              <a:rPr dirty="0" err="1"/>
              <a:t>感谢各位指导老师与团队</a:t>
            </a:r>
            <a:endParaRPr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结业，是新的起点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rictly 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imited Disclosure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1546</Words>
  <Application>WPS 演示</Application>
  <PresentationFormat>宽屏</PresentationFormat>
  <Paragraphs>317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Confidential</vt:lpstr>
      <vt:lpstr>Standard</vt:lpstr>
      <vt:lpstr>Strictly Confidential</vt:lpstr>
      <vt:lpstr>Limited Disclosure</vt:lpstr>
      <vt:lpstr>把知识装进产线</vt:lpstr>
      <vt:lpstr>一个月里，我从“参观者”走到了“参与者”</vt:lpstr>
      <vt:lpstr>夏令营给了广度，部门实践给了深度</vt:lpstr>
      <vt:lpstr>五个递进阶段，把学习压缩成一条技术路线</vt:lpstr>
      <vt:lpstr>三段既有经历，缩短了理解现场的路径</vt:lpstr>
      <vt:lpstr>从认识部品开始，我看见了“感知—控制—执行”</vt:lpstr>
      <vt:lpstr>PLC学习的重点，从“会写指令”转向“看懂设备状态”</vt:lpstr>
      <vt:lpstr>工业通信让我从“单机控制”走向“设备协同”</vt:lpstr>
      <vt:lpstr>坐标系一旦统一，机器人动作才可被准确描述</vt:lpstr>
      <vt:lpstr>双点检测位于整条贴片与加压流程的关键衔接处</vt:lpstr>
      <vt:lpstr>原流程只检右上角，新增左上角扩大检测覆盖</vt:lpstr>
      <vt:lpstr>“P0—P1—P0—P2”构成可验证的稳定路径</vt:lpstr>
      <vt:lpstr>现场调试先确认安全、位置与顺序，再谈速度</vt:lpstr>
      <vt:lpstr>结业，是新的起点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赵29</cp:lastModifiedBy>
  <cp:revision>12</cp:revision>
  <dcterms:created xsi:type="dcterms:W3CDTF">2026-07-29T12:12:00Z</dcterms:created>
  <dcterms:modified xsi:type="dcterms:W3CDTF">2026-07-30T10:01:32Z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7228C903E29F43C7ACEB3902F8984090_12</vt:lpwstr>
  </property>
  <property fmtid="{D5CDD505-2E9C-101B-9397-08002B2CF9AE}" pid="3" name="KSOProductBuildVer">
    <vt:lpwstr>2052-12.1.0.23542</vt:lpwstr>
  </property>
</Properties>
</file>