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 id="2147483657" r:id="rId4"/>
  </p:sldMasterIdLst>
  <p:notesMasterIdLst>
    <p:notesMasterId r:id="rId6"/>
  </p:notesMasterIdLst>
  <p:sldIdLst>
    <p:sldId id="283" r:id="rId5"/>
    <p:sldId id="275" r:id="rId7"/>
    <p:sldId id="284" r:id="rId8"/>
    <p:sldId id="268" r:id="rId9"/>
    <p:sldId id="281" r:id="rId10"/>
    <p:sldId id="321" r:id="rId11"/>
    <p:sldId id="322" r:id="rId12"/>
    <p:sldId id="325" r:id="rId13"/>
    <p:sldId id="324" r:id="rId14"/>
    <p:sldId id="326" r:id="rId15"/>
    <p:sldId id="323" r:id="rId16"/>
    <p:sldId id="327" r:id="rId17"/>
    <p:sldId id="328" r:id="rId18"/>
    <p:sldId id="329" r:id="rId19"/>
    <p:sldId id="330" r:id="rId20"/>
    <p:sldId id="331" r:id="rId21"/>
    <p:sldId id="332" r:id="rId22"/>
    <p:sldId id="333" r:id="rId23"/>
    <p:sldId id="334" r:id="rId24"/>
    <p:sldId id="336" r:id="rId25"/>
    <p:sldId id="337" r:id="rId26"/>
    <p:sldId id="317"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58E4A015-F864-4015-A66F-CE436E336F9F}">
          <p14:sldIdLst>
            <p14:sldId id="283"/>
          </p14:sldIdLst>
        </p14:section>
        <p14:section name="目录" id="{0A60DCAB-D06A-4950-A3A8-48F7AED88862}">
          <p14:sldIdLst>
            <p14:sldId id="275"/>
          </p14:sldIdLst>
        </p14:section>
        <p14:section name="转场" id="{3B86A492-65B8-4354-B052-10ECF2D316E0}">
          <p14:sldIdLst>
            <p14:sldId id="284"/>
          </p14:sldIdLst>
        </p14:section>
        <p14:section name="纯文字类" id="{FD3AFA0C-0B73-49F3-A2CE-33A8A4EA67BD}">
          <p14:sldIdLst>
            <p14:sldId id="268"/>
            <p14:sldId id="281"/>
            <p14:sldId id="321"/>
            <p14:sldId id="322"/>
            <p14:sldId id="325"/>
            <p14:sldId id="324"/>
            <p14:sldId id="326"/>
            <p14:sldId id="323"/>
            <p14:sldId id="327"/>
            <p14:sldId id="328"/>
            <p14:sldId id="329"/>
            <p14:sldId id="330"/>
            <p14:sldId id="331"/>
            <p14:sldId id="332"/>
            <p14:sldId id="333"/>
            <p14:sldId id="334"/>
            <p14:sldId id="336"/>
            <p14:sldId id="337"/>
          </p14:sldIdLst>
        </p14:section>
        <p14:section name="结尾" id="{57ED84CC-8FB8-46AF-BC71-F91D80AF725C}">
          <p14:sldIdLst>
            <p14:sldId id="317"/>
          </p14:sldIdLst>
        </p14:section>
      </p14:sectionLst>
    </p:ext>
    <p:ext uri="{EFAFB233-063F-42B5-8137-9DF3F51BA10A}">
      <p15:sldGuideLst xmlns:p15="http://schemas.microsoft.com/office/powerpoint/2012/main">
        <p15:guide id="1" pos="306" userDrawn="1">
          <p15:clr>
            <a:srgbClr val="A4A3A4"/>
          </p15:clr>
        </p15:guide>
        <p15:guide id="2" pos="7368" userDrawn="1">
          <p15:clr>
            <a:srgbClr val="A4A3A4"/>
          </p15:clr>
        </p15:guide>
        <p15:guide id="3" orient="horz" pos="654" userDrawn="1">
          <p15:clr>
            <a:srgbClr val="A4A3A4"/>
          </p15:clr>
        </p15:guide>
        <p15:guide id="4" orient="horz" pos="654" userDrawn="1">
          <p15:clr>
            <a:srgbClr val="A4A3A4"/>
          </p15:clr>
        </p15:guide>
        <p15:guide id="5" orient="horz" pos="3992" userDrawn="1">
          <p15:clr>
            <a:srgbClr val="A4A3A4"/>
          </p15:clr>
        </p15:guide>
        <p15:guide id="8" orient="horz" pos="3407" userDrawn="1">
          <p15:clr>
            <a:srgbClr val="A4A3A4"/>
          </p15:clr>
        </p15:guide>
        <p15:guide id="9" orient="horz" pos="9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1D86"/>
    <a:srgbClr val="D99ED8"/>
    <a:srgbClr val="FBE7D9"/>
    <a:srgbClr val="8F1E8C"/>
    <a:srgbClr val="B871B6"/>
    <a:srgbClr val="A4A3A4"/>
    <a:srgbClr val="986ABA"/>
    <a:srgbClr val="C0A4D5"/>
    <a:srgbClr val="A9ACCB"/>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1" d="100"/>
          <a:sy n="81" d="100"/>
        </p:scale>
        <p:origin x="115" y="67"/>
      </p:cViewPr>
      <p:guideLst>
        <p:guide pos="306"/>
        <p:guide pos="7368"/>
        <p:guide orient="horz" pos="654"/>
        <p:guide orient="horz" pos="654"/>
        <p:guide orient="horz" pos="3992"/>
        <p:guide orient="horz" pos="3407"/>
        <p:guide orient="horz" pos="981"/>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2760"/>
    </p:cViewPr>
  </p:sorterViewPr>
  <p:notesViewPr>
    <p:cSldViewPr snapToGrid="0" showGuides="1">
      <p:cViewPr varScale="1">
        <p:scale>
          <a:sx n="56" d="100"/>
          <a:sy n="56" d="100"/>
        </p:scale>
        <p:origin x="2856" y="78"/>
      </p:cViewPr>
      <p:guideLst>
        <p:guide orient="horz" pos="2882"/>
        <p:guide pos="218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1" Type="http://schemas.openxmlformats.org/officeDocument/2006/relationships/tags" Target="tags/tag49.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41393-E2B1-4490-8F56-836F0E6FCF0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732-1106-48F0-B4AE-FAB426F7906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2AD1C-DCAB-4D2E-9343-4B9973E32E2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2AD1C-DCAB-4D2E-9343-4B9973E32E2A}" type="slidenum">
              <a:rPr lang="zh-CN" altLang="en-US" smtClean="0"/>
            </a:fld>
            <a:endParaRPr lang="zh-CN" altLang="en-US"/>
          </a:p>
        </p:txBody>
      </p:sp>
      <p:sp>
        <p:nvSpPr>
          <p:cNvPr id="6" name="椭圆 5"/>
          <p:cNvSpPr/>
          <p:nvPr userDrawn="1"/>
        </p:nvSpPr>
        <p:spPr>
          <a:xfrm>
            <a:off x="8726090" y="0"/>
            <a:ext cx="6931819" cy="6931819"/>
          </a:xfrm>
          <a:prstGeom prst="ellipse">
            <a:avLst/>
          </a:prstGeom>
          <a:blipFill dpi="0" rotWithShape="1">
            <a:blip r:embed="rId2">
              <a:alphaModFix amt="34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12AD1C-DCAB-4D2E-9343-4B9973E32E2A}" type="slidenum">
              <a:rPr lang="zh-CN" altLang="en-US" smtClean="0"/>
            </a:fld>
            <a:endParaRPr lang="zh-CN" altLang="en-US"/>
          </a:p>
        </p:txBody>
      </p:sp>
      <p:cxnSp>
        <p:nvCxnSpPr>
          <p:cNvPr id="65" name="直接连接符 64"/>
          <p:cNvCxnSpPr/>
          <p:nvPr userDrawn="1"/>
        </p:nvCxnSpPr>
        <p:spPr>
          <a:xfrm>
            <a:off x="485775" y="961331"/>
            <a:ext cx="11220450" cy="0"/>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71" name="椭圆 70"/>
          <p:cNvSpPr/>
          <p:nvPr userDrawn="1"/>
        </p:nvSpPr>
        <p:spPr>
          <a:xfrm>
            <a:off x="3472677" y="1418654"/>
            <a:ext cx="5246645" cy="5246645"/>
          </a:xfrm>
          <a:prstGeom prst="ellipse">
            <a:avLst/>
          </a:prstGeom>
          <a:blipFill dpi="0" rotWithShape="1">
            <a:blip r:embed="rId2">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userDrawn="1"/>
        </p:nvGrpSpPr>
        <p:grpSpPr>
          <a:xfrm>
            <a:off x="8762206" y="251214"/>
            <a:ext cx="2934494" cy="675437"/>
            <a:chOff x="-2189163" y="-1093788"/>
            <a:chExt cx="5924551" cy="1363663"/>
          </a:xfrm>
          <a:solidFill>
            <a:srgbClr val="891D86"/>
          </a:solidFill>
        </p:grpSpPr>
        <p:sp>
          <p:nvSpPr>
            <p:cNvPr id="6" name="Freeform 5"/>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lstStyle/>
            <a:p>
              <a:endParaRPr lang="zh-CN" altLang="en-US"/>
            </a:p>
          </p:txBody>
        </p:sp>
        <p:sp>
          <p:nvSpPr>
            <p:cNvPr id="7" name="Freeform 6"/>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lstStyle/>
            <a:p>
              <a:endParaRPr lang="zh-CN" altLang="en-US"/>
            </a:p>
          </p:txBody>
        </p:sp>
        <p:sp>
          <p:nvSpPr>
            <p:cNvPr id="8"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lstStyle/>
            <a:p>
              <a:endParaRPr lang="zh-CN" altLang="en-US"/>
            </a:p>
          </p:txBody>
        </p:sp>
        <p:sp>
          <p:nvSpPr>
            <p:cNvPr id="9" name="Freeform 8"/>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lstStyle/>
            <a:p>
              <a:endParaRPr lang="zh-CN" altLang="en-US"/>
            </a:p>
          </p:txBody>
        </p:sp>
        <p:sp>
          <p:nvSpPr>
            <p:cNvPr id="10" name="Freeform 9"/>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lstStyle/>
            <a:p>
              <a:endParaRPr lang="zh-CN" altLang="en-US"/>
            </a:p>
          </p:txBody>
        </p:sp>
        <p:sp>
          <p:nvSpPr>
            <p:cNvPr id="11" name="Freeform 10"/>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lstStyle/>
            <a:p>
              <a:endParaRPr lang="zh-CN" altLang="en-US"/>
            </a:p>
          </p:txBody>
        </p:sp>
        <p:sp>
          <p:nvSpPr>
            <p:cNvPr id="12"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lstStyle/>
            <a:p>
              <a:endParaRPr lang="zh-CN" altLang="en-US"/>
            </a:p>
          </p:txBody>
        </p:sp>
        <p:sp>
          <p:nvSpPr>
            <p:cNvPr id="13" name="Freeform 12"/>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lstStyle/>
            <a:p>
              <a:endParaRPr lang="zh-CN" altLang="en-US"/>
            </a:p>
          </p:txBody>
        </p:sp>
        <p:sp>
          <p:nvSpPr>
            <p:cNvPr id="14" name="Freeform 13"/>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4"/>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lstStyle/>
            <a:p>
              <a:endParaRPr lang="zh-CN" altLang="en-US"/>
            </a:p>
          </p:txBody>
        </p:sp>
        <p:sp>
          <p:nvSpPr>
            <p:cNvPr id="16" name="Freeform 15"/>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lstStyle/>
            <a:p>
              <a:endParaRPr lang="zh-CN" altLang="en-US"/>
            </a:p>
          </p:txBody>
        </p:sp>
        <p:sp>
          <p:nvSpPr>
            <p:cNvPr id="17" name="Freeform 16"/>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18"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lstStyle/>
            <a:p>
              <a:endParaRPr lang="zh-CN" altLang="en-US"/>
            </a:p>
          </p:txBody>
        </p:sp>
        <p:sp>
          <p:nvSpPr>
            <p:cNvPr id="19" name="Freeform 18"/>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0" name="Freeform 19"/>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lstStyle/>
            <a:p>
              <a:endParaRPr lang="zh-CN" altLang="en-US"/>
            </a:p>
          </p:txBody>
        </p:sp>
        <p:sp>
          <p:nvSpPr>
            <p:cNvPr id="21"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22" name="Freeform 21"/>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3" name="Freeform 22"/>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23"/>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lstStyle/>
            <a:p>
              <a:endParaRPr lang="zh-CN" altLang="en-US"/>
            </a:p>
          </p:txBody>
        </p:sp>
        <p:sp>
          <p:nvSpPr>
            <p:cNvPr id="25" name="Freeform 24"/>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6"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27" name="Freeform 26"/>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lstStyle/>
            <a:p>
              <a:endParaRPr lang="zh-CN" altLang="en-US"/>
            </a:p>
          </p:txBody>
        </p:sp>
        <p:sp>
          <p:nvSpPr>
            <p:cNvPr id="28" name="Freeform 27"/>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9"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lstStyle/>
            <a:p>
              <a:endParaRPr lang="zh-CN" altLang="en-US"/>
            </a:p>
          </p:txBody>
        </p:sp>
        <p:sp>
          <p:nvSpPr>
            <p:cNvPr id="30" name="Freeform 29"/>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32" name="Freeform 31"/>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32"/>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lstStyle/>
            <a:p>
              <a:endParaRPr lang="zh-CN" altLang="en-US"/>
            </a:p>
          </p:txBody>
        </p:sp>
        <p:sp>
          <p:nvSpPr>
            <p:cNvPr id="34"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endParaRPr lang="zh-CN" altLang="en-US"/>
            </a:p>
          </p:txBody>
        </p:sp>
        <p:sp>
          <p:nvSpPr>
            <p:cNvPr id="35" name="Freeform 34"/>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36" name="Freeform 35"/>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endParaRPr lang="zh-CN" altLang="en-US"/>
            </a:p>
          </p:txBody>
        </p:sp>
        <p:sp>
          <p:nvSpPr>
            <p:cNvPr id="37" name="Freeform 36"/>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38"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39" name="Freeform 38"/>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0" name="Freeform 39"/>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1" name="Freeform 40"/>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42" name="Freeform 41"/>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3"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lstStyle/>
            <a:p>
              <a:endParaRPr lang="zh-CN" altLang="en-US"/>
            </a:p>
          </p:txBody>
        </p:sp>
        <p:sp>
          <p:nvSpPr>
            <p:cNvPr id="44" name="Freeform 43"/>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lstStyle/>
            <a:p>
              <a:endParaRPr lang="zh-CN" altLang="en-US"/>
            </a:p>
          </p:txBody>
        </p:sp>
        <p:sp>
          <p:nvSpPr>
            <p:cNvPr id="45" name="Freeform 44"/>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6" name="Freeform 45"/>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47" name="Freeform 46"/>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47"/>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49"/>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51"/>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lstStyle/>
            <a:p>
              <a:endParaRPr lang="zh-CN" altLang="en-US"/>
            </a:p>
          </p:txBody>
        </p:sp>
        <p:sp>
          <p:nvSpPr>
            <p:cNvPr id="53" name="Freeform 52"/>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lstStyle/>
            <a:p>
              <a:endParaRPr lang="zh-CN" altLang="en-US"/>
            </a:p>
          </p:txBody>
        </p:sp>
        <p:sp>
          <p:nvSpPr>
            <p:cNvPr id="55"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lstStyle/>
            <a:p>
              <a:endParaRPr lang="zh-CN" altLang="en-US"/>
            </a:p>
          </p:txBody>
        </p:sp>
        <p:sp>
          <p:nvSpPr>
            <p:cNvPr id="56"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lstStyle/>
            <a:p>
              <a:endParaRPr lang="zh-CN" altLang="en-US"/>
            </a:p>
          </p:txBody>
        </p:sp>
        <p:sp>
          <p:nvSpPr>
            <p:cNvPr id="57" name="Freeform 56"/>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lstStyle/>
            <a:p>
              <a:endParaRPr lang="zh-CN" altLang="en-US"/>
            </a:p>
          </p:txBody>
        </p:sp>
        <p:sp>
          <p:nvSpPr>
            <p:cNvPr id="58"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Freeform 59"/>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lstStyle/>
            <a:p>
              <a:endParaRPr lang="zh-CN" altLang="en-US"/>
            </a:p>
          </p:txBody>
        </p:sp>
        <p:sp>
          <p:nvSpPr>
            <p:cNvPr id="62"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lstStyle/>
            <a:p>
              <a:endParaRPr lang="zh-CN" altLang="en-US"/>
            </a:p>
          </p:txBody>
        </p:sp>
        <p:sp>
          <p:nvSpPr>
            <p:cNvPr id="63" name="Freeform 62"/>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lstStyle/>
            <a:p>
              <a:endParaRPr lang="zh-CN" altLang="en-US"/>
            </a:p>
          </p:txBody>
        </p:sp>
        <p:sp>
          <p:nvSpPr>
            <p:cNvPr id="64" name="Freeform 63"/>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lstStyle/>
            <a:p>
              <a:endParaRPr lang="zh-CN" altLang="en-US"/>
            </a:p>
          </p:txBody>
        </p:sp>
      </p:grpSp>
      <p:sp>
        <p:nvSpPr>
          <p:cNvPr id="68" name="标题 1"/>
          <p:cNvSpPr>
            <a:spLocks noGrp="1"/>
          </p:cNvSpPr>
          <p:nvPr>
            <p:ph type="title"/>
          </p:nvPr>
        </p:nvSpPr>
        <p:spPr>
          <a:xfrm>
            <a:off x="485775" y="366907"/>
            <a:ext cx="4783090" cy="672105"/>
          </a:xfrm>
        </p:spPr>
        <p:txBody>
          <a:bodyPr>
            <a:noAutofit/>
          </a:bodyPr>
          <a:lstStyle>
            <a:lvl1pPr>
              <a:defRPr sz="2800">
                <a:solidFill>
                  <a:srgbClr val="8F1E8C"/>
                </a:solidFill>
                <a:latin typeface="思源黑体 CN Regular" panose="020B0500000000000000" pitchFamily="34" charset="-122"/>
                <a:ea typeface="思源黑体 CN Regular" panose="020B0500000000000000"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12AD1C-DCAB-4D2E-9343-4B9973E32E2A}" type="slidenum">
              <a:rPr lang="zh-CN" altLang="en-US" smtClean="0"/>
            </a:fld>
            <a:endParaRPr lang="zh-CN" altLang="en-US"/>
          </a:p>
        </p:txBody>
      </p:sp>
      <p:cxnSp>
        <p:nvCxnSpPr>
          <p:cNvPr id="65" name="直接连接符 64"/>
          <p:cNvCxnSpPr/>
          <p:nvPr userDrawn="1"/>
        </p:nvCxnSpPr>
        <p:spPr>
          <a:xfrm>
            <a:off x="485775" y="961331"/>
            <a:ext cx="11220450" cy="0"/>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userDrawn="1"/>
        </p:nvGrpSpPr>
        <p:grpSpPr>
          <a:xfrm>
            <a:off x="8762206" y="251214"/>
            <a:ext cx="2934494" cy="675437"/>
            <a:chOff x="-2189163" y="-1093788"/>
            <a:chExt cx="5924551" cy="1363663"/>
          </a:xfrm>
          <a:solidFill>
            <a:srgbClr val="891D86"/>
          </a:solidFill>
        </p:grpSpPr>
        <p:sp>
          <p:nvSpPr>
            <p:cNvPr id="6" name="Freeform 5"/>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lstStyle/>
            <a:p>
              <a:endParaRPr lang="zh-CN" altLang="en-US"/>
            </a:p>
          </p:txBody>
        </p:sp>
        <p:sp>
          <p:nvSpPr>
            <p:cNvPr id="7" name="Freeform 6"/>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lstStyle/>
            <a:p>
              <a:endParaRPr lang="zh-CN" altLang="en-US"/>
            </a:p>
          </p:txBody>
        </p:sp>
        <p:sp>
          <p:nvSpPr>
            <p:cNvPr id="8"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lstStyle/>
            <a:p>
              <a:endParaRPr lang="zh-CN" altLang="en-US"/>
            </a:p>
          </p:txBody>
        </p:sp>
        <p:sp>
          <p:nvSpPr>
            <p:cNvPr id="9" name="Freeform 8"/>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lstStyle/>
            <a:p>
              <a:endParaRPr lang="zh-CN" altLang="en-US"/>
            </a:p>
          </p:txBody>
        </p:sp>
        <p:sp>
          <p:nvSpPr>
            <p:cNvPr id="10" name="Freeform 9"/>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lstStyle/>
            <a:p>
              <a:endParaRPr lang="zh-CN" altLang="en-US"/>
            </a:p>
          </p:txBody>
        </p:sp>
        <p:sp>
          <p:nvSpPr>
            <p:cNvPr id="11" name="Freeform 10"/>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lstStyle/>
            <a:p>
              <a:endParaRPr lang="zh-CN" altLang="en-US"/>
            </a:p>
          </p:txBody>
        </p:sp>
        <p:sp>
          <p:nvSpPr>
            <p:cNvPr id="12"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lstStyle/>
            <a:p>
              <a:endParaRPr lang="zh-CN" altLang="en-US"/>
            </a:p>
          </p:txBody>
        </p:sp>
        <p:sp>
          <p:nvSpPr>
            <p:cNvPr id="13" name="Freeform 12"/>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lstStyle/>
            <a:p>
              <a:endParaRPr lang="zh-CN" altLang="en-US"/>
            </a:p>
          </p:txBody>
        </p:sp>
        <p:sp>
          <p:nvSpPr>
            <p:cNvPr id="14" name="Freeform 13"/>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4"/>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lstStyle/>
            <a:p>
              <a:endParaRPr lang="zh-CN" altLang="en-US"/>
            </a:p>
          </p:txBody>
        </p:sp>
        <p:sp>
          <p:nvSpPr>
            <p:cNvPr id="16" name="Freeform 15"/>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lstStyle/>
            <a:p>
              <a:endParaRPr lang="zh-CN" altLang="en-US"/>
            </a:p>
          </p:txBody>
        </p:sp>
        <p:sp>
          <p:nvSpPr>
            <p:cNvPr id="17" name="Freeform 16"/>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18"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lstStyle/>
            <a:p>
              <a:endParaRPr lang="zh-CN" altLang="en-US"/>
            </a:p>
          </p:txBody>
        </p:sp>
        <p:sp>
          <p:nvSpPr>
            <p:cNvPr id="19" name="Freeform 18"/>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0" name="Freeform 19"/>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lstStyle/>
            <a:p>
              <a:endParaRPr lang="zh-CN" altLang="en-US"/>
            </a:p>
          </p:txBody>
        </p:sp>
        <p:sp>
          <p:nvSpPr>
            <p:cNvPr id="21"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22" name="Freeform 21"/>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3" name="Freeform 22"/>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23"/>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lstStyle/>
            <a:p>
              <a:endParaRPr lang="zh-CN" altLang="en-US"/>
            </a:p>
          </p:txBody>
        </p:sp>
        <p:sp>
          <p:nvSpPr>
            <p:cNvPr id="25" name="Freeform 24"/>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6"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27" name="Freeform 26"/>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lstStyle/>
            <a:p>
              <a:endParaRPr lang="zh-CN" altLang="en-US"/>
            </a:p>
          </p:txBody>
        </p:sp>
        <p:sp>
          <p:nvSpPr>
            <p:cNvPr id="28" name="Freeform 27"/>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29"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lstStyle/>
            <a:p>
              <a:endParaRPr lang="zh-CN" altLang="en-US"/>
            </a:p>
          </p:txBody>
        </p:sp>
        <p:sp>
          <p:nvSpPr>
            <p:cNvPr id="30" name="Freeform 29"/>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32" name="Freeform 31"/>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32"/>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lstStyle/>
            <a:p>
              <a:endParaRPr lang="zh-CN" altLang="en-US"/>
            </a:p>
          </p:txBody>
        </p:sp>
        <p:sp>
          <p:nvSpPr>
            <p:cNvPr id="34"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endParaRPr lang="zh-CN" altLang="en-US"/>
            </a:p>
          </p:txBody>
        </p:sp>
        <p:sp>
          <p:nvSpPr>
            <p:cNvPr id="35" name="Freeform 34"/>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36" name="Freeform 35"/>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endParaRPr lang="zh-CN" altLang="en-US"/>
            </a:p>
          </p:txBody>
        </p:sp>
        <p:sp>
          <p:nvSpPr>
            <p:cNvPr id="37" name="Freeform 36"/>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38"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lstStyle/>
            <a:p>
              <a:endParaRPr lang="zh-CN" altLang="en-US"/>
            </a:p>
          </p:txBody>
        </p:sp>
        <p:sp>
          <p:nvSpPr>
            <p:cNvPr id="39" name="Freeform 38"/>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0" name="Freeform 39"/>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1" name="Freeform 40"/>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42" name="Freeform 41"/>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3"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lstStyle/>
            <a:p>
              <a:endParaRPr lang="zh-CN" altLang="en-US"/>
            </a:p>
          </p:txBody>
        </p:sp>
        <p:sp>
          <p:nvSpPr>
            <p:cNvPr id="44" name="Freeform 43"/>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lstStyle/>
            <a:p>
              <a:endParaRPr lang="zh-CN" altLang="en-US"/>
            </a:p>
          </p:txBody>
        </p:sp>
        <p:sp>
          <p:nvSpPr>
            <p:cNvPr id="45" name="Freeform 44"/>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6" name="Freeform 45"/>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endParaRPr lang="zh-CN" altLang="en-US"/>
            </a:p>
          </p:txBody>
        </p:sp>
        <p:sp>
          <p:nvSpPr>
            <p:cNvPr id="47" name="Freeform 46"/>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47"/>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49"/>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51"/>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lstStyle/>
            <a:p>
              <a:endParaRPr lang="zh-CN" altLang="en-US"/>
            </a:p>
          </p:txBody>
        </p:sp>
        <p:sp>
          <p:nvSpPr>
            <p:cNvPr id="53" name="Freeform 52"/>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lstStyle/>
            <a:p>
              <a:endParaRPr lang="zh-CN" altLang="en-US"/>
            </a:p>
          </p:txBody>
        </p:sp>
        <p:sp>
          <p:nvSpPr>
            <p:cNvPr id="55"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lstStyle/>
            <a:p>
              <a:endParaRPr lang="zh-CN" altLang="en-US"/>
            </a:p>
          </p:txBody>
        </p:sp>
        <p:sp>
          <p:nvSpPr>
            <p:cNvPr id="56"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lstStyle/>
            <a:p>
              <a:endParaRPr lang="zh-CN" altLang="en-US"/>
            </a:p>
          </p:txBody>
        </p:sp>
        <p:sp>
          <p:nvSpPr>
            <p:cNvPr id="57" name="Freeform 56"/>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lstStyle/>
            <a:p>
              <a:endParaRPr lang="zh-CN" altLang="en-US"/>
            </a:p>
          </p:txBody>
        </p:sp>
        <p:sp>
          <p:nvSpPr>
            <p:cNvPr id="58"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Freeform 59"/>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lstStyle/>
            <a:p>
              <a:endParaRPr lang="zh-CN" altLang="en-US"/>
            </a:p>
          </p:txBody>
        </p:sp>
        <p:sp>
          <p:nvSpPr>
            <p:cNvPr id="62"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lstStyle/>
            <a:p>
              <a:endParaRPr lang="zh-CN" altLang="en-US"/>
            </a:p>
          </p:txBody>
        </p:sp>
        <p:sp>
          <p:nvSpPr>
            <p:cNvPr id="63" name="Freeform 62"/>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lstStyle/>
            <a:p>
              <a:endParaRPr lang="zh-CN" altLang="en-US"/>
            </a:p>
          </p:txBody>
        </p:sp>
        <p:sp>
          <p:nvSpPr>
            <p:cNvPr id="64" name="Freeform 63"/>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lstStyle/>
            <a:p>
              <a:endParaRPr lang="zh-CN" altLang="en-US"/>
            </a:p>
          </p:txBody>
        </p:sp>
      </p:grpSp>
      <p:sp>
        <p:nvSpPr>
          <p:cNvPr id="68" name="标题 1"/>
          <p:cNvSpPr>
            <a:spLocks noGrp="1"/>
          </p:cNvSpPr>
          <p:nvPr>
            <p:ph type="title"/>
          </p:nvPr>
        </p:nvSpPr>
        <p:spPr>
          <a:xfrm>
            <a:off x="485775" y="366907"/>
            <a:ext cx="4783090" cy="672105"/>
          </a:xfrm>
        </p:spPr>
        <p:txBody>
          <a:bodyPr>
            <a:noAutofit/>
          </a:bodyPr>
          <a:lstStyle>
            <a:lvl1pPr>
              <a:defRPr sz="2800">
                <a:solidFill>
                  <a:srgbClr val="8F1E8C"/>
                </a:solidFill>
                <a:latin typeface="思源黑体 CN Regular" panose="020B0500000000000000" pitchFamily="34" charset="-122"/>
                <a:ea typeface="思源黑体 CN Regular" panose="020B0500000000000000"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7EA1BC-73E1-4B32-AD3F-BC46ED9A3A3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CBB23C-EF9A-4E62-970A-65B821B173F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2AD1C-DCAB-4D2E-9343-4B9973E32E2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1A8FF3F-82D0-46F3-A3A1-0B82FBD73DB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2AD1C-DCAB-4D2E-9343-4B9973E32E2A}" type="slidenum">
              <a:rPr lang="zh-CN" altLang="en-US" smtClean="0"/>
            </a:fld>
            <a:endParaRPr lang="zh-CN" altLang="en-US"/>
          </a:p>
        </p:txBody>
      </p:sp>
      <p:sp>
        <p:nvSpPr>
          <p:cNvPr id="6" name="矩形 5"/>
          <p:cNvSpPr/>
          <p:nvPr userDrawn="1"/>
        </p:nvSpPr>
        <p:spPr>
          <a:xfrm>
            <a:off x="8726091" y="0"/>
            <a:ext cx="3465910" cy="6931819"/>
          </a:xfrm>
          <a:prstGeom prst="rect">
            <a:avLst/>
          </a:prstGeom>
          <a:blipFill dpi="0" rotWithShape="1">
            <a:blip r:embed="rId2">
              <a:alphaModFix amt="34000"/>
            </a:blip>
            <a:srcRect/>
            <a:stretch>
              <a:fillRect r="-100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EA1BC-73E1-4B32-AD3F-BC46ED9A3A3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BB23C-EF9A-4E62-970A-65B821B173F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EA1BC-73E1-4B32-AD3F-BC46ED9A3A3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BB23C-EF9A-4E62-970A-65B821B173F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5.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2" Type="http://schemas.openxmlformats.org/officeDocument/2006/relationships/notesSlide" Target="../notesSlides/notesSlide2.xml"/><Relationship Id="rId31" Type="http://schemas.openxmlformats.org/officeDocument/2006/relationships/slideLayout" Target="../slideLayouts/slideLayout7.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3.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3.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3.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alphaModFix amt="81000"/>
          </a:blip>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114" y="60734"/>
            <a:ext cx="12190943" cy="6858000"/>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1430848" y="2008792"/>
            <a:ext cx="9199051" cy="1753235"/>
          </a:xfrm>
          <a:prstGeom prst="rect">
            <a:avLst/>
          </a:prstGeom>
          <a:noFill/>
          <a:ln w="25400">
            <a:noFill/>
          </a:ln>
        </p:spPr>
        <p:txBody>
          <a:bodyPr wrap="square" rtlCol="0">
            <a:spAutoFit/>
            <a:scene3d>
              <a:camera prst="orthographicFront"/>
              <a:lightRig rig="threePt" dir="t"/>
            </a:scene3d>
            <a:sp3d prstMaterial="matte">
              <a:extrusionClr>
                <a:srgbClr val="891D86"/>
              </a:extrusionClr>
              <a:contourClr>
                <a:schemeClr val="bg1"/>
              </a:contourClr>
            </a:sp3d>
          </a:bodyPr>
          <a:lstStyle/>
          <a:p>
            <a:pPr algn="ctr"/>
            <a:r>
              <a:rPr lang="zh-CN" altLang="en-US" sz="5400" b="1" spc="300" dirty="0">
                <a:ln w="12700" cap="rnd">
                  <a:noFill/>
                  <a:bevel/>
                </a:ln>
                <a:solidFill>
                  <a:srgbClr val="891D86"/>
                </a:solidFill>
                <a:effectLst/>
                <a:latin typeface="思源黑体 CN Heavy" panose="020B0A00000000000000" pitchFamily="34" charset="-122"/>
                <a:ea typeface="思源黑体 CN Heavy" panose="020B0A00000000000000" pitchFamily="34" charset="-122"/>
              </a:rPr>
              <a:t>基于自适应抗差滤波算法的</a:t>
            </a:r>
            <a:r>
              <a:rPr lang="en-US" altLang="zh-CN" sz="5400" b="1" spc="300" dirty="0">
                <a:ln w="12700" cap="rnd">
                  <a:noFill/>
                  <a:bevel/>
                </a:ln>
                <a:solidFill>
                  <a:srgbClr val="891D86"/>
                </a:solidFill>
                <a:effectLst/>
                <a:latin typeface="思源黑体 CN Heavy" panose="020B0A00000000000000" pitchFamily="34" charset="-122"/>
                <a:ea typeface="思源黑体 CN Heavy" panose="020B0A00000000000000" pitchFamily="34" charset="-122"/>
              </a:rPr>
              <a:t>GNSS/INS</a:t>
            </a:r>
            <a:r>
              <a:rPr lang="zh-CN" altLang="en-US" sz="5400" b="1" spc="300" dirty="0">
                <a:ln w="12700" cap="rnd">
                  <a:noFill/>
                  <a:bevel/>
                </a:ln>
                <a:solidFill>
                  <a:srgbClr val="891D86"/>
                </a:solidFill>
                <a:effectLst/>
                <a:latin typeface="思源黑体 CN Heavy" panose="020B0A00000000000000" pitchFamily="34" charset="-122"/>
                <a:ea typeface="思源黑体 CN Heavy" panose="020B0A00000000000000" pitchFamily="34" charset="-122"/>
              </a:rPr>
              <a:t>组合导航算法研究</a:t>
            </a:r>
            <a:endParaRPr lang="zh-CN" altLang="en-US" sz="5400" b="1" spc="300" dirty="0">
              <a:ln w="12700" cap="rnd">
                <a:noFill/>
                <a:bevel/>
              </a:ln>
              <a:solidFill>
                <a:srgbClr val="891D86"/>
              </a:solidFill>
              <a:effectLst/>
              <a:latin typeface="思源黑体 CN Heavy" panose="020B0A00000000000000" pitchFamily="34" charset="-122"/>
              <a:ea typeface="思源黑体 CN Heavy" panose="020B0A00000000000000" pitchFamily="34" charset="-122"/>
            </a:endParaRPr>
          </a:p>
        </p:txBody>
      </p:sp>
      <p:sp>
        <p:nvSpPr>
          <p:cNvPr id="24" name="矩形: 剪去对角 7"/>
          <p:cNvSpPr/>
          <p:nvPr/>
        </p:nvSpPr>
        <p:spPr>
          <a:xfrm>
            <a:off x="666308" y="1178574"/>
            <a:ext cx="2398913" cy="369332"/>
          </a:xfrm>
          <a:prstGeom prst="snip2DiagRect">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pc="600" dirty="0">
                <a:latin typeface="思源黑体 CN Regular" panose="020B0500000000000000" pitchFamily="34" charset="-122"/>
                <a:ea typeface="思源黑体 CN Regular" panose="020B0500000000000000" pitchFamily="34" charset="-122"/>
              </a:rPr>
              <a:t>南京理工大学</a:t>
            </a:r>
            <a:endParaRPr lang="zh-CN" altLang="en-US" spc="600" dirty="0">
              <a:latin typeface="思源黑体 CN Regular" panose="020B0500000000000000" pitchFamily="34" charset="-122"/>
              <a:ea typeface="思源黑体 CN Regular" panose="020B0500000000000000" pitchFamily="34" charset="-122"/>
            </a:endParaRPr>
          </a:p>
        </p:txBody>
      </p:sp>
      <p:cxnSp>
        <p:nvCxnSpPr>
          <p:cNvPr id="25" name="直接连接符 24"/>
          <p:cNvCxnSpPr/>
          <p:nvPr/>
        </p:nvCxnSpPr>
        <p:spPr>
          <a:xfrm>
            <a:off x="2885908" y="1178574"/>
            <a:ext cx="0" cy="369332"/>
          </a:xfrm>
          <a:prstGeom prst="line">
            <a:avLst/>
          </a:prstGeom>
          <a:solidFill>
            <a:schemeClr val="accent1">
              <a:lumMod val="50000"/>
            </a:schemeClr>
          </a:solidFill>
          <a:ln w="9525">
            <a:solidFill>
              <a:srgbClr val="FBFBFB"/>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6489117"/>
            <a:ext cx="12193057" cy="368883"/>
          </a:xfrm>
          <a:prstGeom prst="rect">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6" name="矩形 25"/>
          <p:cNvSpPr/>
          <p:nvPr/>
        </p:nvSpPr>
        <p:spPr>
          <a:xfrm>
            <a:off x="0" y="-8707"/>
            <a:ext cx="12193057" cy="368883"/>
          </a:xfrm>
          <a:prstGeom prst="rect">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椭圆 18"/>
          <p:cNvSpPr/>
          <p:nvPr/>
        </p:nvSpPr>
        <p:spPr>
          <a:xfrm>
            <a:off x="9246259" y="3900813"/>
            <a:ext cx="2381250" cy="2381250"/>
          </a:xfrm>
          <a:prstGeom prst="ellipse">
            <a:avLst/>
          </a:prstGeom>
          <a:blipFill dpi="0" rotWithShape="1">
            <a:blip r:embed="rId2">
              <a:alphaModFix amt="4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845181" y="3295657"/>
            <a:ext cx="5964043" cy="2553335"/>
            <a:chOff x="1845181" y="3295657"/>
            <a:chExt cx="5964043" cy="2553335"/>
          </a:xfrm>
        </p:grpSpPr>
        <p:sp>
          <p:nvSpPr>
            <p:cNvPr id="28" name="student-with-graduation-cap_57073"/>
            <p:cNvSpPr>
              <a:spLocks noChangeAspect="1"/>
            </p:cNvSpPr>
            <p:nvPr/>
          </p:nvSpPr>
          <p:spPr bwMode="auto">
            <a:xfrm>
              <a:off x="1845181" y="5072031"/>
              <a:ext cx="665209" cy="665175"/>
            </a:xfrm>
            <a:custGeom>
              <a:avLst/>
              <a:gdLst>
                <a:gd name="connsiteX0" fmla="*/ 52908 w 606775"/>
                <a:gd name="connsiteY0" fmla="*/ 341560 h 606745"/>
                <a:gd name="connsiteX1" fmla="*/ 115358 w 606775"/>
                <a:gd name="connsiteY1" fmla="*/ 370976 h 606745"/>
                <a:gd name="connsiteX2" fmla="*/ 105394 w 606775"/>
                <a:gd name="connsiteY2" fmla="*/ 370976 h 606745"/>
                <a:gd name="connsiteX3" fmla="*/ 105394 w 606775"/>
                <a:gd name="connsiteY3" fmla="*/ 580529 h 606745"/>
                <a:gd name="connsiteX4" fmla="*/ 79151 w 606775"/>
                <a:gd name="connsiteY4" fmla="*/ 606745 h 606745"/>
                <a:gd name="connsiteX5" fmla="*/ 52908 w 606775"/>
                <a:gd name="connsiteY5" fmla="*/ 580529 h 606745"/>
                <a:gd name="connsiteX6" fmla="*/ 168755 w 606775"/>
                <a:gd name="connsiteY6" fmla="*/ 314181 h 606745"/>
                <a:gd name="connsiteX7" fmla="*/ 169200 w 606775"/>
                <a:gd name="connsiteY7" fmla="*/ 580528 h 606745"/>
                <a:gd name="connsiteX8" fmla="*/ 142950 w 606775"/>
                <a:gd name="connsiteY8" fmla="*/ 606745 h 606745"/>
                <a:gd name="connsiteX9" fmla="*/ 116699 w 606775"/>
                <a:gd name="connsiteY9" fmla="*/ 580528 h 606745"/>
                <a:gd name="connsiteX10" fmla="*/ 116699 w 606775"/>
                <a:gd name="connsiteY10" fmla="*/ 371414 h 606745"/>
                <a:gd name="connsiteX11" fmla="*/ 149445 w 606775"/>
                <a:gd name="connsiteY11" fmla="*/ 356039 h 606745"/>
                <a:gd name="connsiteX12" fmla="*/ 112784 w 606775"/>
                <a:gd name="connsiteY12" fmla="*/ 235448 h 606745"/>
                <a:gd name="connsiteX13" fmla="*/ 163488 w 606775"/>
                <a:gd name="connsiteY13" fmla="*/ 258727 h 606745"/>
                <a:gd name="connsiteX14" fmla="*/ 168825 w 606775"/>
                <a:gd name="connsiteY14" fmla="*/ 273033 h 606745"/>
                <a:gd name="connsiteX15" fmla="*/ 133955 w 606775"/>
                <a:gd name="connsiteY15" fmla="*/ 348913 h 606745"/>
                <a:gd name="connsiteX16" fmla="*/ 119544 w 606775"/>
                <a:gd name="connsiteY16" fmla="*/ 354244 h 606745"/>
                <a:gd name="connsiteX17" fmla="*/ 114118 w 606775"/>
                <a:gd name="connsiteY17" fmla="*/ 351756 h 606745"/>
                <a:gd name="connsiteX18" fmla="*/ 127284 w 606775"/>
                <a:gd name="connsiteY18" fmla="*/ 337717 h 606745"/>
                <a:gd name="connsiteX19" fmla="*/ 111983 w 606775"/>
                <a:gd name="connsiteY19" fmla="*/ 284139 h 606745"/>
                <a:gd name="connsiteX20" fmla="*/ 85297 w 606775"/>
                <a:gd name="connsiteY20" fmla="*/ 269301 h 606745"/>
                <a:gd name="connsiteX21" fmla="*/ 98373 w 606775"/>
                <a:gd name="connsiteY21" fmla="*/ 240779 h 606745"/>
                <a:gd name="connsiteX22" fmla="*/ 112784 w 606775"/>
                <a:gd name="connsiteY22" fmla="*/ 235448 h 606745"/>
                <a:gd name="connsiteX23" fmla="*/ 100409 w 606775"/>
                <a:gd name="connsiteY23" fmla="*/ 161971 h 606745"/>
                <a:gd name="connsiteX24" fmla="*/ 122122 w 606775"/>
                <a:gd name="connsiteY24" fmla="*/ 161971 h 606745"/>
                <a:gd name="connsiteX25" fmla="*/ 124881 w 606775"/>
                <a:gd name="connsiteY25" fmla="*/ 166680 h 606745"/>
                <a:gd name="connsiteX26" fmla="*/ 117050 w 606775"/>
                <a:gd name="connsiteY26" fmla="*/ 180983 h 606745"/>
                <a:gd name="connsiteX27" fmla="*/ 125860 w 606775"/>
                <a:gd name="connsiteY27" fmla="*/ 197152 h 606745"/>
                <a:gd name="connsiteX28" fmla="*/ 126839 w 606775"/>
                <a:gd name="connsiteY28" fmla="*/ 203460 h 606745"/>
                <a:gd name="connsiteX29" fmla="*/ 123012 w 606775"/>
                <a:gd name="connsiteY29" fmla="*/ 221317 h 606745"/>
                <a:gd name="connsiteX30" fmla="*/ 98718 w 606775"/>
                <a:gd name="connsiteY30" fmla="*/ 219096 h 606745"/>
                <a:gd name="connsiteX31" fmla="*/ 95603 w 606775"/>
                <a:gd name="connsiteY31" fmla="*/ 203371 h 606745"/>
                <a:gd name="connsiteX32" fmla="*/ 96582 w 606775"/>
                <a:gd name="connsiteY32" fmla="*/ 197241 h 606745"/>
                <a:gd name="connsiteX33" fmla="*/ 105481 w 606775"/>
                <a:gd name="connsiteY33" fmla="*/ 181072 h 606745"/>
                <a:gd name="connsiteX34" fmla="*/ 97561 w 606775"/>
                <a:gd name="connsiteY34" fmla="*/ 166680 h 606745"/>
                <a:gd name="connsiteX35" fmla="*/ 100409 w 606775"/>
                <a:gd name="connsiteY35" fmla="*/ 161971 h 606745"/>
                <a:gd name="connsiteX36" fmla="*/ 148367 w 606775"/>
                <a:gd name="connsiteY36" fmla="*/ 161618 h 606745"/>
                <a:gd name="connsiteX37" fmla="*/ 169821 w 606775"/>
                <a:gd name="connsiteY37" fmla="*/ 161618 h 606745"/>
                <a:gd name="connsiteX38" fmla="*/ 221631 w 606775"/>
                <a:gd name="connsiteY38" fmla="*/ 213079 h 606745"/>
                <a:gd name="connsiteX39" fmla="*/ 221809 w 606775"/>
                <a:gd name="connsiteY39" fmla="*/ 253964 h 606745"/>
                <a:gd name="connsiteX40" fmla="*/ 266141 w 606775"/>
                <a:gd name="connsiteY40" fmla="*/ 226500 h 606745"/>
                <a:gd name="connsiteX41" fmla="*/ 296319 w 606775"/>
                <a:gd name="connsiteY41" fmla="*/ 233522 h 606745"/>
                <a:gd name="connsiteX42" fmla="*/ 289286 w 606775"/>
                <a:gd name="connsiteY42" fmla="*/ 263563 h 606745"/>
                <a:gd name="connsiteX43" fmla="*/ 211750 w 606775"/>
                <a:gd name="connsiteY43" fmla="*/ 311647 h 606745"/>
                <a:gd name="connsiteX44" fmla="*/ 178367 w 606775"/>
                <a:gd name="connsiteY44" fmla="*/ 294937 h 606745"/>
                <a:gd name="connsiteX45" fmla="*/ 177922 w 606775"/>
                <a:gd name="connsiteY45" fmla="*/ 213346 h 606745"/>
                <a:gd name="connsiteX46" fmla="*/ 177922 w 606775"/>
                <a:gd name="connsiteY46" fmla="*/ 213257 h 606745"/>
                <a:gd name="connsiteX47" fmla="*/ 173293 w 606775"/>
                <a:gd name="connsiteY47" fmla="*/ 208724 h 606745"/>
                <a:gd name="connsiteX48" fmla="*/ 168753 w 606775"/>
                <a:gd name="connsiteY48" fmla="*/ 213257 h 606745"/>
                <a:gd name="connsiteX49" fmla="*/ 168753 w 606775"/>
                <a:gd name="connsiteY49" fmla="*/ 242321 h 606745"/>
                <a:gd name="connsiteX50" fmla="*/ 124955 w 606775"/>
                <a:gd name="connsiteY50" fmla="*/ 222234 h 606745"/>
                <a:gd name="connsiteX51" fmla="*/ 148367 w 606775"/>
                <a:gd name="connsiteY51" fmla="*/ 161618 h 606745"/>
                <a:gd name="connsiteX52" fmla="*/ 52160 w 606775"/>
                <a:gd name="connsiteY52" fmla="*/ 161618 h 606745"/>
                <a:gd name="connsiteX53" fmla="*/ 74144 w 606775"/>
                <a:gd name="connsiteY53" fmla="*/ 161618 h 606745"/>
                <a:gd name="connsiteX54" fmla="*/ 96663 w 606775"/>
                <a:gd name="connsiteY54" fmla="*/ 219911 h 606745"/>
                <a:gd name="connsiteX55" fmla="*/ 82778 w 606775"/>
                <a:gd name="connsiteY55" fmla="*/ 233685 h 606745"/>
                <a:gd name="connsiteX56" fmla="*/ 70228 w 606775"/>
                <a:gd name="connsiteY56" fmla="*/ 260965 h 606745"/>
                <a:gd name="connsiteX57" fmla="*/ 52872 w 606775"/>
                <a:gd name="connsiteY57" fmla="*/ 251368 h 606745"/>
                <a:gd name="connsiteX58" fmla="*/ 52872 w 606775"/>
                <a:gd name="connsiteY58" fmla="*/ 213335 h 606745"/>
                <a:gd name="connsiteX59" fmla="*/ 48510 w 606775"/>
                <a:gd name="connsiteY59" fmla="*/ 208981 h 606745"/>
                <a:gd name="connsiteX60" fmla="*/ 44149 w 606775"/>
                <a:gd name="connsiteY60" fmla="*/ 213335 h 606745"/>
                <a:gd name="connsiteX61" fmla="*/ 43793 w 606775"/>
                <a:gd name="connsiteY61" fmla="*/ 266474 h 606745"/>
                <a:gd name="connsiteX62" fmla="*/ 103427 w 606775"/>
                <a:gd name="connsiteY62" fmla="*/ 299531 h 606745"/>
                <a:gd name="connsiteX63" fmla="*/ 111883 w 606775"/>
                <a:gd name="connsiteY63" fmla="*/ 329210 h 606745"/>
                <a:gd name="connsiteX64" fmla="*/ 82155 w 606775"/>
                <a:gd name="connsiteY64" fmla="*/ 337741 h 606745"/>
                <a:gd name="connsiteX65" fmla="*/ 11217 w 606775"/>
                <a:gd name="connsiteY65" fmla="*/ 298376 h 606745"/>
                <a:gd name="connsiteX66" fmla="*/ 2 w 606775"/>
                <a:gd name="connsiteY66" fmla="*/ 279182 h 606745"/>
                <a:gd name="connsiteX67" fmla="*/ 447 w 606775"/>
                <a:gd name="connsiteY67" fmla="*/ 213069 h 606745"/>
                <a:gd name="connsiteX68" fmla="*/ 52160 w 606775"/>
                <a:gd name="connsiteY68" fmla="*/ 161618 h 606745"/>
                <a:gd name="connsiteX69" fmla="*/ 111018 w 606775"/>
                <a:gd name="connsiteY69" fmla="*/ 56617 h 606745"/>
                <a:gd name="connsiteX70" fmla="*/ 156356 w 606775"/>
                <a:gd name="connsiteY70" fmla="*/ 101920 h 606745"/>
                <a:gd name="connsiteX71" fmla="*/ 111018 w 606775"/>
                <a:gd name="connsiteY71" fmla="*/ 147223 h 606745"/>
                <a:gd name="connsiteX72" fmla="*/ 65680 w 606775"/>
                <a:gd name="connsiteY72" fmla="*/ 101920 h 606745"/>
                <a:gd name="connsiteX73" fmla="*/ 111018 w 606775"/>
                <a:gd name="connsiteY73" fmla="*/ 56617 h 606745"/>
                <a:gd name="connsiteX74" fmla="*/ 422167 w 606775"/>
                <a:gd name="connsiteY74" fmla="*/ 39638 h 606745"/>
                <a:gd name="connsiteX75" fmla="*/ 373122 w 606775"/>
                <a:gd name="connsiteY75" fmla="*/ 88696 h 606745"/>
                <a:gd name="connsiteX76" fmla="*/ 471212 w 606775"/>
                <a:gd name="connsiteY76" fmla="*/ 88696 h 606745"/>
                <a:gd name="connsiteX77" fmla="*/ 422200 w 606775"/>
                <a:gd name="connsiteY77" fmla="*/ 0 h 606745"/>
                <a:gd name="connsiteX78" fmla="*/ 433827 w 606775"/>
                <a:gd name="connsiteY78" fmla="*/ 4799 h 606745"/>
                <a:gd name="connsiteX79" fmla="*/ 517764 w 606775"/>
                <a:gd name="connsiteY79" fmla="*/ 88696 h 606745"/>
                <a:gd name="connsiteX80" fmla="*/ 591465 w 606775"/>
                <a:gd name="connsiteY80" fmla="*/ 88696 h 606745"/>
                <a:gd name="connsiteX81" fmla="*/ 606775 w 606775"/>
                <a:gd name="connsiteY81" fmla="*/ 103894 h 606745"/>
                <a:gd name="connsiteX82" fmla="*/ 606775 w 606775"/>
                <a:gd name="connsiteY82" fmla="*/ 354430 h 606745"/>
                <a:gd name="connsiteX83" fmla="*/ 591465 w 606775"/>
                <a:gd name="connsiteY83" fmla="*/ 369716 h 606745"/>
                <a:gd name="connsiteX84" fmla="*/ 252869 w 606775"/>
                <a:gd name="connsiteY84" fmla="*/ 369716 h 606745"/>
                <a:gd name="connsiteX85" fmla="*/ 237648 w 606775"/>
                <a:gd name="connsiteY85" fmla="*/ 354430 h 606745"/>
                <a:gd name="connsiteX86" fmla="*/ 237648 w 606775"/>
                <a:gd name="connsiteY86" fmla="*/ 321280 h 606745"/>
                <a:gd name="connsiteX87" fmla="*/ 268179 w 606775"/>
                <a:gd name="connsiteY87" fmla="*/ 302261 h 606745"/>
                <a:gd name="connsiteX88" fmla="*/ 300757 w 606775"/>
                <a:gd name="connsiteY88" fmla="*/ 282086 h 606745"/>
                <a:gd name="connsiteX89" fmla="*/ 320161 w 606775"/>
                <a:gd name="connsiteY89" fmla="*/ 234361 h 606745"/>
                <a:gd name="connsiteX90" fmla="*/ 375703 w 606775"/>
                <a:gd name="connsiteY90" fmla="*/ 190724 h 606745"/>
                <a:gd name="connsiteX91" fmla="*/ 378908 w 606775"/>
                <a:gd name="connsiteY91" fmla="*/ 162995 h 606745"/>
                <a:gd name="connsiteX92" fmla="*/ 351226 w 606775"/>
                <a:gd name="connsiteY92" fmla="*/ 159706 h 606745"/>
                <a:gd name="connsiteX93" fmla="*/ 294259 w 606775"/>
                <a:gd name="connsiteY93" fmla="*/ 204499 h 606745"/>
                <a:gd name="connsiteX94" fmla="*/ 254649 w 606775"/>
                <a:gd name="connsiteY94" fmla="*/ 207876 h 606745"/>
                <a:gd name="connsiteX95" fmla="*/ 237648 w 606775"/>
                <a:gd name="connsiteY95" fmla="*/ 218363 h 606745"/>
                <a:gd name="connsiteX96" fmla="*/ 237648 w 606775"/>
                <a:gd name="connsiteY96" fmla="*/ 103894 h 606745"/>
                <a:gd name="connsiteX97" fmla="*/ 252869 w 606775"/>
                <a:gd name="connsiteY97" fmla="*/ 88696 h 606745"/>
                <a:gd name="connsiteX98" fmla="*/ 326570 w 606775"/>
                <a:gd name="connsiteY98" fmla="*/ 88696 h 606745"/>
                <a:gd name="connsiteX99" fmla="*/ 410507 w 606775"/>
                <a:gd name="connsiteY99" fmla="*/ 4799 h 606745"/>
                <a:gd name="connsiteX100" fmla="*/ 422200 w 606775"/>
                <a:gd name="connsiteY100" fmla="*/ 0 h 60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606775" h="606745">
                  <a:moveTo>
                    <a:pt x="52908" y="341560"/>
                  </a:moveTo>
                  <a:cubicBezTo>
                    <a:pt x="52908" y="341560"/>
                    <a:pt x="113223" y="370265"/>
                    <a:pt x="115358" y="370976"/>
                  </a:cubicBezTo>
                  <a:lnTo>
                    <a:pt x="105394" y="370976"/>
                  </a:lnTo>
                  <a:lnTo>
                    <a:pt x="105394" y="580529"/>
                  </a:lnTo>
                  <a:cubicBezTo>
                    <a:pt x="105394" y="595014"/>
                    <a:pt x="93652" y="606745"/>
                    <a:pt x="79151" y="606745"/>
                  </a:cubicBezTo>
                  <a:cubicBezTo>
                    <a:pt x="64651" y="606745"/>
                    <a:pt x="52908" y="595014"/>
                    <a:pt x="52908" y="580529"/>
                  </a:cubicBezTo>
                  <a:close/>
                  <a:moveTo>
                    <a:pt x="168755" y="314181"/>
                  </a:moveTo>
                  <a:cubicBezTo>
                    <a:pt x="168755" y="328756"/>
                    <a:pt x="169200" y="567286"/>
                    <a:pt x="169200" y="580528"/>
                  </a:cubicBezTo>
                  <a:cubicBezTo>
                    <a:pt x="169200" y="595014"/>
                    <a:pt x="157454" y="606745"/>
                    <a:pt x="142950" y="606745"/>
                  </a:cubicBezTo>
                  <a:cubicBezTo>
                    <a:pt x="128445" y="606745"/>
                    <a:pt x="116699" y="595014"/>
                    <a:pt x="116699" y="580528"/>
                  </a:cubicBezTo>
                  <a:lnTo>
                    <a:pt x="116699" y="371414"/>
                  </a:lnTo>
                  <a:cubicBezTo>
                    <a:pt x="129869" y="374969"/>
                    <a:pt x="143839" y="368392"/>
                    <a:pt x="149445" y="356039"/>
                  </a:cubicBezTo>
                  <a:close/>
                  <a:moveTo>
                    <a:pt x="112784" y="235448"/>
                  </a:moveTo>
                  <a:lnTo>
                    <a:pt x="163488" y="258727"/>
                  </a:lnTo>
                  <a:cubicBezTo>
                    <a:pt x="168914" y="261215"/>
                    <a:pt x="171316" y="267613"/>
                    <a:pt x="168825" y="273033"/>
                  </a:cubicBezTo>
                  <a:lnTo>
                    <a:pt x="133955" y="348913"/>
                  </a:lnTo>
                  <a:cubicBezTo>
                    <a:pt x="131464" y="354333"/>
                    <a:pt x="124971" y="356732"/>
                    <a:pt x="119544" y="354244"/>
                  </a:cubicBezTo>
                  <a:lnTo>
                    <a:pt x="114118" y="351756"/>
                  </a:lnTo>
                  <a:cubicBezTo>
                    <a:pt x="119456" y="348380"/>
                    <a:pt x="123992" y="343671"/>
                    <a:pt x="127284" y="337717"/>
                  </a:cubicBezTo>
                  <a:cubicBezTo>
                    <a:pt x="137869" y="318703"/>
                    <a:pt x="131020" y="294713"/>
                    <a:pt x="111983" y="284139"/>
                  </a:cubicBezTo>
                  <a:lnTo>
                    <a:pt x="85297" y="269301"/>
                  </a:lnTo>
                  <a:lnTo>
                    <a:pt x="98373" y="240779"/>
                  </a:lnTo>
                  <a:cubicBezTo>
                    <a:pt x="100864" y="235359"/>
                    <a:pt x="107358" y="232960"/>
                    <a:pt x="112784" y="235448"/>
                  </a:cubicBezTo>
                  <a:close/>
                  <a:moveTo>
                    <a:pt x="100409" y="161971"/>
                  </a:moveTo>
                  <a:lnTo>
                    <a:pt x="122122" y="161971"/>
                  </a:lnTo>
                  <a:cubicBezTo>
                    <a:pt x="124525" y="161971"/>
                    <a:pt x="126038" y="164547"/>
                    <a:pt x="124881" y="166680"/>
                  </a:cubicBezTo>
                  <a:lnTo>
                    <a:pt x="117050" y="180983"/>
                  </a:lnTo>
                  <a:lnTo>
                    <a:pt x="125860" y="197152"/>
                  </a:lnTo>
                  <a:cubicBezTo>
                    <a:pt x="126928" y="199107"/>
                    <a:pt x="127284" y="201328"/>
                    <a:pt x="126839" y="203460"/>
                  </a:cubicBezTo>
                  <a:lnTo>
                    <a:pt x="123012" y="221317"/>
                  </a:lnTo>
                  <a:cubicBezTo>
                    <a:pt x="115092" y="217763"/>
                    <a:pt x="108062" y="215720"/>
                    <a:pt x="98718" y="219096"/>
                  </a:cubicBezTo>
                  <a:lnTo>
                    <a:pt x="95603" y="203371"/>
                  </a:lnTo>
                  <a:cubicBezTo>
                    <a:pt x="95247" y="201328"/>
                    <a:pt x="95514" y="199107"/>
                    <a:pt x="96582" y="197241"/>
                  </a:cubicBezTo>
                  <a:lnTo>
                    <a:pt x="105481" y="181072"/>
                  </a:lnTo>
                  <a:lnTo>
                    <a:pt x="97561" y="166680"/>
                  </a:lnTo>
                  <a:cubicBezTo>
                    <a:pt x="96404" y="164547"/>
                    <a:pt x="98006" y="161971"/>
                    <a:pt x="100409" y="161971"/>
                  </a:cubicBezTo>
                  <a:close/>
                  <a:moveTo>
                    <a:pt x="148367" y="161618"/>
                  </a:moveTo>
                  <a:lnTo>
                    <a:pt x="169821" y="161618"/>
                  </a:lnTo>
                  <a:cubicBezTo>
                    <a:pt x="198308" y="161618"/>
                    <a:pt x="221542" y="184727"/>
                    <a:pt x="221631" y="213079"/>
                  </a:cubicBezTo>
                  <a:cubicBezTo>
                    <a:pt x="221720" y="236721"/>
                    <a:pt x="221631" y="217257"/>
                    <a:pt x="221809" y="253964"/>
                  </a:cubicBezTo>
                  <a:lnTo>
                    <a:pt x="266141" y="226500"/>
                  </a:lnTo>
                  <a:cubicBezTo>
                    <a:pt x="276467" y="220101"/>
                    <a:pt x="289909" y="223211"/>
                    <a:pt x="296319" y="233522"/>
                  </a:cubicBezTo>
                  <a:cubicBezTo>
                    <a:pt x="302639" y="243743"/>
                    <a:pt x="299523" y="257252"/>
                    <a:pt x="289286" y="263563"/>
                  </a:cubicBezTo>
                  <a:lnTo>
                    <a:pt x="211750" y="311647"/>
                  </a:lnTo>
                  <a:cubicBezTo>
                    <a:pt x="197951" y="320179"/>
                    <a:pt x="179702" y="311291"/>
                    <a:pt x="178367" y="294937"/>
                  </a:cubicBezTo>
                  <a:lnTo>
                    <a:pt x="177922" y="213346"/>
                  </a:lnTo>
                  <a:lnTo>
                    <a:pt x="177922" y="213257"/>
                  </a:lnTo>
                  <a:cubicBezTo>
                    <a:pt x="177922" y="210768"/>
                    <a:pt x="175874" y="208724"/>
                    <a:pt x="173293" y="208724"/>
                  </a:cubicBezTo>
                  <a:cubicBezTo>
                    <a:pt x="170800" y="208724"/>
                    <a:pt x="168753" y="210768"/>
                    <a:pt x="168753" y="213257"/>
                  </a:cubicBezTo>
                  <a:lnTo>
                    <a:pt x="168753" y="242321"/>
                  </a:lnTo>
                  <a:lnTo>
                    <a:pt x="124955" y="222234"/>
                  </a:lnTo>
                  <a:cubicBezTo>
                    <a:pt x="129050" y="211568"/>
                    <a:pt x="142848" y="175839"/>
                    <a:pt x="148367" y="161618"/>
                  </a:cubicBezTo>
                  <a:close/>
                  <a:moveTo>
                    <a:pt x="52160" y="161618"/>
                  </a:moveTo>
                  <a:lnTo>
                    <a:pt x="74144" y="161618"/>
                  </a:lnTo>
                  <a:cubicBezTo>
                    <a:pt x="76636" y="168016"/>
                    <a:pt x="94170" y="213602"/>
                    <a:pt x="96663" y="219911"/>
                  </a:cubicBezTo>
                  <a:cubicBezTo>
                    <a:pt x="90610" y="222666"/>
                    <a:pt x="85626" y="227464"/>
                    <a:pt x="82778" y="233685"/>
                  </a:cubicBezTo>
                  <a:lnTo>
                    <a:pt x="70228" y="260965"/>
                  </a:lnTo>
                  <a:lnTo>
                    <a:pt x="52872" y="251368"/>
                  </a:lnTo>
                  <a:lnTo>
                    <a:pt x="52872" y="213335"/>
                  </a:lnTo>
                  <a:cubicBezTo>
                    <a:pt x="52872" y="210936"/>
                    <a:pt x="50913" y="208981"/>
                    <a:pt x="48510" y="208981"/>
                  </a:cubicBezTo>
                  <a:cubicBezTo>
                    <a:pt x="46107" y="208981"/>
                    <a:pt x="44149" y="210936"/>
                    <a:pt x="44149" y="213335"/>
                  </a:cubicBezTo>
                  <a:cubicBezTo>
                    <a:pt x="44060" y="231996"/>
                    <a:pt x="43971" y="246569"/>
                    <a:pt x="43793" y="266474"/>
                  </a:cubicBezTo>
                  <a:lnTo>
                    <a:pt x="103427" y="299531"/>
                  </a:lnTo>
                  <a:cubicBezTo>
                    <a:pt x="113930" y="305396"/>
                    <a:pt x="117757" y="318636"/>
                    <a:pt x="111883" y="329210"/>
                  </a:cubicBezTo>
                  <a:cubicBezTo>
                    <a:pt x="106008" y="339785"/>
                    <a:pt x="92746" y="343606"/>
                    <a:pt x="82155" y="337741"/>
                  </a:cubicBezTo>
                  <a:lnTo>
                    <a:pt x="11217" y="298376"/>
                  </a:lnTo>
                  <a:cubicBezTo>
                    <a:pt x="4274" y="294466"/>
                    <a:pt x="-87" y="287090"/>
                    <a:pt x="2" y="279182"/>
                  </a:cubicBezTo>
                  <a:cubicBezTo>
                    <a:pt x="91" y="269585"/>
                    <a:pt x="358" y="222577"/>
                    <a:pt x="447" y="213069"/>
                  </a:cubicBezTo>
                  <a:cubicBezTo>
                    <a:pt x="536" y="184722"/>
                    <a:pt x="23767" y="161618"/>
                    <a:pt x="52160" y="161618"/>
                  </a:cubicBezTo>
                  <a:close/>
                  <a:moveTo>
                    <a:pt x="111018" y="56617"/>
                  </a:moveTo>
                  <a:cubicBezTo>
                    <a:pt x="136057" y="56617"/>
                    <a:pt x="156356" y="76900"/>
                    <a:pt x="156356" y="101920"/>
                  </a:cubicBezTo>
                  <a:cubicBezTo>
                    <a:pt x="156356" y="126940"/>
                    <a:pt x="136057" y="147223"/>
                    <a:pt x="111018" y="147223"/>
                  </a:cubicBezTo>
                  <a:cubicBezTo>
                    <a:pt x="85979" y="147223"/>
                    <a:pt x="65680" y="126940"/>
                    <a:pt x="65680" y="101920"/>
                  </a:cubicBezTo>
                  <a:cubicBezTo>
                    <a:pt x="65680" y="76900"/>
                    <a:pt x="85979" y="56617"/>
                    <a:pt x="111018" y="56617"/>
                  </a:cubicBezTo>
                  <a:close/>
                  <a:moveTo>
                    <a:pt x="422167" y="39638"/>
                  </a:moveTo>
                  <a:lnTo>
                    <a:pt x="373122" y="88696"/>
                  </a:lnTo>
                  <a:lnTo>
                    <a:pt x="471212" y="88696"/>
                  </a:lnTo>
                  <a:close/>
                  <a:moveTo>
                    <a:pt x="422200" y="0"/>
                  </a:moveTo>
                  <a:cubicBezTo>
                    <a:pt x="426417" y="0"/>
                    <a:pt x="430623" y="1600"/>
                    <a:pt x="433827" y="4799"/>
                  </a:cubicBezTo>
                  <a:lnTo>
                    <a:pt x="517764" y="88696"/>
                  </a:lnTo>
                  <a:lnTo>
                    <a:pt x="591465" y="88696"/>
                  </a:lnTo>
                  <a:cubicBezTo>
                    <a:pt x="599921" y="88696"/>
                    <a:pt x="606775" y="95451"/>
                    <a:pt x="606775" y="103894"/>
                  </a:cubicBezTo>
                  <a:lnTo>
                    <a:pt x="606775" y="354430"/>
                  </a:lnTo>
                  <a:cubicBezTo>
                    <a:pt x="606775" y="362873"/>
                    <a:pt x="599921" y="369716"/>
                    <a:pt x="591465" y="369716"/>
                  </a:cubicBezTo>
                  <a:lnTo>
                    <a:pt x="252869" y="369716"/>
                  </a:lnTo>
                  <a:cubicBezTo>
                    <a:pt x="244502" y="369716"/>
                    <a:pt x="237648" y="362873"/>
                    <a:pt x="237648" y="354430"/>
                  </a:cubicBezTo>
                  <a:lnTo>
                    <a:pt x="237648" y="321280"/>
                  </a:lnTo>
                  <a:lnTo>
                    <a:pt x="268179" y="302261"/>
                  </a:lnTo>
                  <a:lnTo>
                    <a:pt x="300757" y="282086"/>
                  </a:lnTo>
                  <a:cubicBezTo>
                    <a:pt x="317312" y="271866"/>
                    <a:pt x="324611" y="252313"/>
                    <a:pt x="320161" y="234361"/>
                  </a:cubicBezTo>
                  <a:lnTo>
                    <a:pt x="375703" y="190724"/>
                  </a:lnTo>
                  <a:cubicBezTo>
                    <a:pt x="384248" y="183969"/>
                    <a:pt x="385673" y="171527"/>
                    <a:pt x="378908" y="162995"/>
                  </a:cubicBezTo>
                  <a:cubicBezTo>
                    <a:pt x="372232" y="154463"/>
                    <a:pt x="359771" y="152952"/>
                    <a:pt x="351226" y="159706"/>
                  </a:cubicBezTo>
                  <a:lnTo>
                    <a:pt x="294259" y="204499"/>
                  </a:lnTo>
                  <a:cubicBezTo>
                    <a:pt x="281530" y="199344"/>
                    <a:pt x="266754" y="200322"/>
                    <a:pt x="254649" y="207876"/>
                  </a:cubicBezTo>
                  <a:lnTo>
                    <a:pt x="237648" y="218363"/>
                  </a:lnTo>
                  <a:lnTo>
                    <a:pt x="237648" y="103894"/>
                  </a:lnTo>
                  <a:cubicBezTo>
                    <a:pt x="237648" y="95451"/>
                    <a:pt x="244413" y="88696"/>
                    <a:pt x="252869" y="88696"/>
                  </a:cubicBezTo>
                  <a:lnTo>
                    <a:pt x="326570" y="88696"/>
                  </a:lnTo>
                  <a:lnTo>
                    <a:pt x="410507" y="4799"/>
                  </a:lnTo>
                  <a:cubicBezTo>
                    <a:pt x="413755" y="1600"/>
                    <a:pt x="417984" y="0"/>
                    <a:pt x="422200" y="0"/>
                  </a:cubicBezTo>
                  <a:close/>
                </a:path>
              </a:pathLst>
            </a:custGeom>
            <a:solidFill>
              <a:srgbClr val="8F1E8C"/>
            </a:solidFill>
            <a:ln>
              <a:noFill/>
            </a:ln>
          </p:spPr>
          <p:txBody>
            <a:bodyPr/>
            <a:lstStyle/>
            <a:p>
              <a:endParaRPr lang="zh-CN" altLang="en-US"/>
            </a:p>
          </p:txBody>
        </p:sp>
        <p:sp>
          <p:nvSpPr>
            <p:cNvPr id="27" name="文本框 26"/>
            <p:cNvSpPr txBox="1"/>
            <p:nvPr/>
          </p:nvSpPr>
          <p:spPr>
            <a:xfrm>
              <a:off x="2885908" y="3295657"/>
              <a:ext cx="4923316" cy="2553335"/>
            </a:xfrm>
            <a:prstGeom prst="rect">
              <a:avLst/>
            </a:prstGeom>
            <a:noFill/>
          </p:spPr>
          <p:txBody>
            <a:bodyPr wrap="square" rtlCol="0">
              <a:spAutoFit/>
            </a:bodyPr>
            <a:lstStyle/>
            <a:p>
              <a:pPr>
                <a:lnSpc>
                  <a:spcPct val="250000"/>
                </a:lnSpc>
              </a:pPr>
              <a:r>
                <a:rPr lang="zh-CN" altLang="en-US" sz="3200" dirty="0">
                  <a:solidFill>
                    <a:srgbClr val="8F1E8C"/>
                  </a:solidFill>
                  <a:latin typeface="思源黑体 CN Regular" panose="020B0500000000000000" pitchFamily="34" charset="-122"/>
                  <a:ea typeface="思源黑体 CN Regular" panose="020B0500000000000000" pitchFamily="34" charset="-122"/>
                </a:rPr>
                <a:t>答  辩  人：王奕人</a:t>
              </a:r>
              <a:r>
                <a:rPr lang="en-US" altLang="zh-CN" sz="3200" dirty="0">
                  <a:solidFill>
                    <a:srgbClr val="8F1E8C"/>
                  </a:solidFill>
                  <a:latin typeface="思源黑体 CN Regular" panose="020B0500000000000000" pitchFamily="34" charset="-122"/>
                  <a:ea typeface="思源黑体 CN Regular" panose="020B0500000000000000" pitchFamily="34" charset="-122"/>
                </a:rPr>
                <a:t>      </a:t>
              </a:r>
              <a:endParaRPr lang="en-US" altLang="zh-CN" sz="3200" dirty="0">
                <a:solidFill>
                  <a:srgbClr val="8F1E8C"/>
                </a:solidFill>
                <a:latin typeface="思源黑体 CN Regular" panose="020B0500000000000000" pitchFamily="34" charset="-122"/>
                <a:ea typeface="思源黑体 CN Regular" panose="020B0500000000000000" pitchFamily="34" charset="-122"/>
              </a:endParaRPr>
            </a:p>
            <a:p>
              <a:pPr>
                <a:lnSpc>
                  <a:spcPct val="250000"/>
                </a:lnSpc>
              </a:pPr>
              <a:r>
                <a:rPr lang="zh-CN" altLang="en-US" sz="3200" dirty="0">
                  <a:solidFill>
                    <a:srgbClr val="8F1E8C"/>
                  </a:solidFill>
                  <a:latin typeface="思源黑体 CN Regular" panose="020B0500000000000000" pitchFamily="34" charset="-122"/>
                  <a:ea typeface="思源黑体 CN Regular" panose="020B0500000000000000" pitchFamily="34" charset="-122"/>
                </a:rPr>
                <a:t>指导老师：徐祥</a:t>
              </a:r>
              <a:endParaRPr lang="zh-CN" altLang="en-US" sz="3200" dirty="0">
                <a:solidFill>
                  <a:srgbClr val="8F1E8C"/>
                </a:solidFill>
                <a:latin typeface="思源黑体 CN Regular" panose="020B0500000000000000" pitchFamily="34" charset="-122"/>
                <a:ea typeface="思源黑体 CN Regular" panose="020B0500000000000000" pitchFamily="34" charset="-122"/>
              </a:endParaRPr>
            </a:p>
          </p:txBody>
        </p:sp>
        <p:sp>
          <p:nvSpPr>
            <p:cNvPr id="30" name="diploma-and-hat-of-graduate_57918"/>
            <p:cNvSpPr>
              <a:spLocks noChangeAspect="1"/>
            </p:cNvSpPr>
            <p:nvPr/>
          </p:nvSpPr>
          <p:spPr bwMode="auto">
            <a:xfrm>
              <a:off x="1845181" y="3901635"/>
              <a:ext cx="609685" cy="541142"/>
            </a:xfrm>
            <a:custGeom>
              <a:avLst/>
              <a:gdLst>
                <a:gd name="connsiteX0" fmla="*/ 368624 w 604071"/>
                <a:gd name="connsiteY0" fmla="*/ 395015 h 536160"/>
                <a:gd name="connsiteX1" fmla="*/ 347306 w 604071"/>
                <a:gd name="connsiteY1" fmla="*/ 402787 h 536160"/>
                <a:gd name="connsiteX2" fmla="*/ 339796 w 604071"/>
                <a:gd name="connsiteY2" fmla="*/ 447070 h 536160"/>
                <a:gd name="connsiteX3" fmla="*/ 372650 w 604071"/>
                <a:gd name="connsiteY3" fmla="*/ 456676 h 536160"/>
                <a:gd name="connsiteX4" fmla="*/ 381098 w 604071"/>
                <a:gd name="connsiteY4" fmla="*/ 463236 h 536160"/>
                <a:gd name="connsiteX5" fmla="*/ 320788 w 604071"/>
                <a:gd name="connsiteY5" fmla="*/ 443790 h 536160"/>
                <a:gd name="connsiteX6" fmla="*/ 323604 w 604071"/>
                <a:gd name="connsiteY6" fmla="*/ 409348 h 536160"/>
                <a:gd name="connsiteX7" fmla="*/ 303188 w 604071"/>
                <a:gd name="connsiteY7" fmla="*/ 437698 h 536160"/>
                <a:gd name="connsiteX8" fmla="*/ 342378 w 604071"/>
                <a:gd name="connsiteY8" fmla="*/ 519234 h 536160"/>
                <a:gd name="connsiteX9" fmla="*/ 408554 w 604071"/>
                <a:gd name="connsiteY9" fmla="*/ 451521 h 536160"/>
                <a:gd name="connsiteX10" fmla="*/ 368624 w 604071"/>
                <a:gd name="connsiteY10" fmla="*/ 395015 h 536160"/>
                <a:gd name="connsiteX11" fmla="*/ 213545 w 604071"/>
                <a:gd name="connsiteY11" fmla="*/ 366940 h 536160"/>
                <a:gd name="connsiteX12" fmla="*/ 195241 w 604071"/>
                <a:gd name="connsiteY12" fmla="*/ 398804 h 536160"/>
                <a:gd name="connsiteX13" fmla="*/ 191721 w 604071"/>
                <a:gd name="connsiteY13" fmla="*/ 410754 h 536160"/>
                <a:gd name="connsiteX14" fmla="*/ 239593 w 604071"/>
                <a:gd name="connsiteY14" fmla="*/ 447070 h 536160"/>
                <a:gd name="connsiteX15" fmla="*/ 278548 w 604071"/>
                <a:gd name="connsiteY15" fmla="*/ 479637 h 536160"/>
                <a:gd name="connsiteX16" fmla="*/ 281833 w 604071"/>
                <a:gd name="connsiteY16" fmla="*/ 447538 h 536160"/>
                <a:gd name="connsiteX17" fmla="*/ 319145 w 604071"/>
                <a:gd name="connsiteY17" fmla="*/ 391307 h 536160"/>
                <a:gd name="connsiteX18" fmla="*/ 310697 w 604071"/>
                <a:gd name="connsiteY18" fmla="*/ 390838 h 536160"/>
                <a:gd name="connsiteX19" fmla="*/ 275263 w 604071"/>
                <a:gd name="connsiteY19" fmla="*/ 385215 h 536160"/>
                <a:gd name="connsiteX20" fmla="*/ 213545 w 604071"/>
                <a:gd name="connsiteY20" fmla="*/ 366940 h 536160"/>
                <a:gd name="connsiteX21" fmla="*/ 174825 w 604071"/>
                <a:gd name="connsiteY21" fmla="*/ 348196 h 536160"/>
                <a:gd name="connsiteX22" fmla="*/ 153705 w 604071"/>
                <a:gd name="connsiteY22" fmla="*/ 366471 h 536160"/>
                <a:gd name="connsiteX23" fmla="*/ 146665 w 604071"/>
                <a:gd name="connsiteY23" fmla="*/ 382169 h 536160"/>
                <a:gd name="connsiteX24" fmla="*/ 146196 w 604071"/>
                <a:gd name="connsiteY24" fmla="*/ 385449 h 536160"/>
                <a:gd name="connsiteX25" fmla="*/ 177406 w 604071"/>
                <a:gd name="connsiteY25" fmla="*/ 401850 h 536160"/>
                <a:gd name="connsiteX26" fmla="*/ 201577 w 604071"/>
                <a:gd name="connsiteY26" fmla="*/ 362020 h 536160"/>
                <a:gd name="connsiteX27" fmla="*/ 195241 w 604071"/>
                <a:gd name="connsiteY27" fmla="*/ 358974 h 536160"/>
                <a:gd name="connsiteX28" fmla="*/ 174825 w 604071"/>
                <a:gd name="connsiteY28" fmla="*/ 348196 h 536160"/>
                <a:gd name="connsiteX29" fmla="*/ 73683 w 604071"/>
                <a:gd name="connsiteY29" fmla="*/ 278844 h 536160"/>
                <a:gd name="connsiteX30" fmla="*/ 48809 w 604071"/>
                <a:gd name="connsiteY30" fmla="*/ 284467 h 536160"/>
                <a:gd name="connsiteX31" fmla="*/ 24638 w 604071"/>
                <a:gd name="connsiteY31" fmla="*/ 313286 h 536160"/>
                <a:gd name="connsiteX32" fmla="*/ 16425 w 604071"/>
                <a:gd name="connsiteY32" fmla="*/ 346322 h 536160"/>
                <a:gd name="connsiteX33" fmla="*/ 25107 w 604071"/>
                <a:gd name="connsiteY33" fmla="*/ 359677 h 536160"/>
                <a:gd name="connsiteX34" fmla="*/ 131412 w 604071"/>
                <a:gd name="connsiteY34" fmla="*/ 378889 h 536160"/>
                <a:gd name="connsiteX35" fmla="*/ 141972 w 604071"/>
                <a:gd name="connsiteY35" fmla="*/ 357568 h 536160"/>
                <a:gd name="connsiteX36" fmla="*/ 162153 w 604071"/>
                <a:gd name="connsiteY36" fmla="*/ 340698 h 536160"/>
                <a:gd name="connsiteX37" fmla="*/ 117331 w 604071"/>
                <a:gd name="connsiteY37" fmla="*/ 310708 h 536160"/>
                <a:gd name="connsiteX38" fmla="*/ 73683 w 604071"/>
                <a:gd name="connsiteY38" fmla="*/ 278844 h 536160"/>
                <a:gd name="connsiteX39" fmla="*/ 62478 w 604071"/>
                <a:gd name="connsiteY39" fmla="*/ 261857 h 536160"/>
                <a:gd name="connsiteX40" fmla="*/ 80723 w 604071"/>
                <a:gd name="connsiteY40" fmla="*/ 267129 h 536160"/>
                <a:gd name="connsiteX41" fmla="*/ 82366 w 604071"/>
                <a:gd name="connsiteY41" fmla="*/ 271112 h 536160"/>
                <a:gd name="connsiteX42" fmla="*/ 125310 w 604071"/>
                <a:gd name="connsiteY42" fmla="*/ 296885 h 536160"/>
                <a:gd name="connsiteX43" fmla="*/ 196180 w 604071"/>
                <a:gd name="connsiteY43" fmla="*/ 341167 h 536160"/>
                <a:gd name="connsiteX44" fmla="*/ 288639 w 604071"/>
                <a:gd name="connsiteY44" fmla="*/ 371157 h 536160"/>
                <a:gd name="connsiteX45" fmla="*/ 354815 w 604071"/>
                <a:gd name="connsiteY45" fmla="*/ 376546 h 536160"/>
                <a:gd name="connsiteX46" fmla="*/ 355754 w 604071"/>
                <a:gd name="connsiteY46" fmla="*/ 376780 h 536160"/>
                <a:gd name="connsiteX47" fmla="*/ 426154 w 604071"/>
                <a:gd name="connsiteY47" fmla="*/ 435589 h 536160"/>
                <a:gd name="connsiteX48" fmla="*/ 424042 w 604071"/>
                <a:gd name="connsiteY48" fmla="*/ 442852 h 536160"/>
                <a:gd name="connsiteX49" fmla="*/ 377108 w 604071"/>
                <a:gd name="connsiteY49" fmla="*/ 530480 h 536160"/>
                <a:gd name="connsiteX50" fmla="*/ 289577 w 604071"/>
                <a:gd name="connsiteY50" fmla="*/ 507753 h 536160"/>
                <a:gd name="connsiteX51" fmla="*/ 286527 w 604071"/>
                <a:gd name="connsiteY51" fmla="*/ 506816 h 536160"/>
                <a:gd name="connsiteX52" fmla="*/ 239828 w 604071"/>
                <a:gd name="connsiteY52" fmla="*/ 469094 h 536160"/>
                <a:gd name="connsiteX53" fmla="*/ 178110 w 604071"/>
                <a:gd name="connsiteY53" fmla="*/ 421063 h 536160"/>
                <a:gd name="connsiteX54" fmla="*/ 21353 w 604071"/>
                <a:gd name="connsiteY54" fmla="*/ 370454 h 536160"/>
                <a:gd name="connsiteX55" fmla="*/ 19241 w 604071"/>
                <a:gd name="connsiteY55" fmla="*/ 369751 h 536160"/>
                <a:gd name="connsiteX56" fmla="*/ 1406 w 604071"/>
                <a:gd name="connsiteY56" fmla="*/ 353116 h 536160"/>
                <a:gd name="connsiteX57" fmla="*/ 8680 w 604071"/>
                <a:gd name="connsiteY57" fmla="*/ 308131 h 536160"/>
                <a:gd name="connsiteX58" fmla="*/ 43177 w 604071"/>
                <a:gd name="connsiteY58" fmla="*/ 268535 h 536160"/>
                <a:gd name="connsiteX59" fmla="*/ 62478 w 604071"/>
                <a:gd name="connsiteY59" fmla="*/ 261857 h 536160"/>
                <a:gd name="connsiteX60" fmla="*/ 470750 w 604071"/>
                <a:gd name="connsiteY60" fmla="*/ 155099 h 536160"/>
                <a:gd name="connsiteX61" fmla="*/ 450802 w 604071"/>
                <a:gd name="connsiteY61" fmla="*/ 164238 h 536160"/>
                <a:gd name="connsiteX62" fmla="*/ 459486 w 604071"/>
                <a:gd name="connsiteY62" fmla="*/ 161191 h 536160"/>
                <a:gd name="connsiteX63" fmla="*/ 461128 w 604071"/>
                <a:gd name="connsiteY63" fmla="*/ 160723 h 536160"/>
                <a:gd name="connsiteX64" fmla="*/ 470750 w 604071"/>
                <a:gd name="connsiteY64" fmla="*/ 155099 h 536160"/>
                <a:gd name="connsiteX65" fmla="*/ 494453 w 604071"/>
                <a:gd name="connsiteY65" fmla="*/ 127917 h 536160"/>
                <a:gd name="connsiteX66" fmla="*/ 504545 w 604071"/>
                <a:gd name="connsiteY66" fmla="*/ 137056 h 536160"/>
                <a:gd name="connsiteX67" fmla="*/ 506187 w 604071"/>
                <a:gd name="connsiteY67" fmla="*/ 195169 h 536160"/>
                <a:gd name="connsiteX68" fmla="*/ 501494 w 604071"/>
                <a:gd name="connsiteY68" fmla="*/ 275074 h 536160"/>
                <a:gd name="connsiteX69" fmla="*/ 502198 w 604071"/>
                <a:gd name="connsiteY69" fmla="*/ 278823 h 536160"/>
                <a:gd name="connsiteX70" fmla="*/ 414662 w 604071"/>
                <a:gd name="connsiteY70" fmla="*/ 342092 h 536160"/>
                <a:gd name="connsiteX71" fmla="*/ 272445 w 604071"/>
                <a:gd name="connsiteY71" fmla="*/ 346310 h 536160"/>
                <a:gd name="connsiteX72" fmla="*/ 170593 w 604071"/>
                <a:gd name="connsiteY72" fmla="*/ 292883 h 536160"/>
                <a:gd name="connsiteX73" fmla="*/ 159093 w 604071"/>
                <a:gd name="connsiteY73" fmla="*/ 238754 h 536160"/>
                <a:gd name="connsiteX74" fmla="*/ 155104 w 604071"/>
                <a:gd name="connsiteY74" fmla="*/ 141039 h 536160"/>
                <a:gd name="connsiteX75" fmla="*/ 165195 w 604071"/>
                <a:gd name="connsiteY75" fmla="*/ 136821 h 536160"/>
                <a:gd name="connsiteX76" fmla="*/ 219641 w 604071"/>
                <a:gd name="connsiteY76" fmla="*/ 152521 h 536160"/>
                <a:gd name="connsiteX77" fmla="*/ 327829 w 604071"/>
                <a:gd name="connsiteY77" fmla="*/ 189779 h 536160"/>
                <a:gd name="connsiteX78" fmla="*/ 494453 w 604071"/>
                <a:gd name="connsiteY78" fmla="*/ 127917 h 536160"/>
                <a:gd name="connsiteX79" fmla="*/ 331354 w 604071"/>
                <a:gd name="connsiteY79" fmla="*/ 468 h 536160"/>
                <a:gd name="connsiteX80" fmla="*/ 438835 w 604071"/>
                <a:gd name="connsiteY80" fmla="*/ 30460 h 536160"/>
                <a:gd name="connsiteX81" fmla="*/ 544908 w 604071"/>
                <a:gd name="connsiteY81" fmla="*/ 59047 h 536160"/>
                <a:gd name="connsiteX82" fmla="*/ 549836 w 604071"/>
                <a:gd name="connsiteY82" fmla="*/ 65139 h 536160"/>
                <a:gd name="connsiteX83" fmla="*/ 555703 w 604071"/>
                <a:gd name="connsiteY83" fmla="*/ 66311 h 536160"/>
                <a:gd name="connsiteX84" fmla="*/ 586211 w 604071"/>
                <a:gd name="connsiteY84" fmla="*/ 160974 h 536160"/>
                <a:gd name="connsiteX85" fmla="*/ 587384 w 604071"/>
                <a:gd name="connsiteY85" fmla="*/ 249780 h 536160"/>
                <a:gd name="connsiteX86" fmla="*/ 592547 w 604071"/>
                <a:gd name="connsiteY86" fmla="*/ 254467 h 536160"/>
                <a:gd name="connsiteX87" fmla="*/ 602872 w 604071"/>
                <a:gd name="connsiteY87" fmla="*/ 309062 h 536160"/>
                <a:gd name="connsiteX88" fmla="*/ 567437 w 604071"/>
                <a:gd name="connsiteY88" fmla="*/ 332963 h 536160"/>
                <a:gd name="connsiteX89" fmla="*/ 559927 w 604071"/>
                <a:gd name="connsiteY89" fmla="*/ 328276 h 536160"/>
                <a:gd name="connsiteX90" fmla="*/ 553591 w 604071"/>
                <a:gd name="connsiteY90" fmla="*/ 324762 h 536160"/>
                <a:gd name="connsiteX91" fmla="*/ 549836 w 604071"/>
                <a:gd name="connsiteY91" fmla="*/ 297815 h 536160"/>
                <a:gd name="connsiteX92" fmla="*/ 550775 w 604071"/>
                <a:gd name="connsiteY92" fmla="*/ 266183 h 536160"/>
                <a:gd name="connsiteX93" fmla="*/ 568845 w 604071"/>
                <a:gd name="connsiteY93" fmla="*/ 248609 h 536160"/>
                <a:gd name="connsiteX94" fmla="*/ 550540 w 604071"/>
                <a:gd name="connsiteY94" fmla="*/ 82010 h 536160"/>
                <a:gd name="connsiteX95" fmla="*/ 546785 w 604071"/>
                <a:gd name="connsiteY95" fmla="*/ 84353 h 536160"/>
                <a:gd name="connsiteX96" fmla="*/ 431325 w 604071"/>
                <a:gd name="connsiteY96" fmla="*/ 127467 h 536160"/>
                <a:gd name="connsiteX97" fmla="*/ 338394 w 604071"/>
                <a:gd name="connsiteY97" fmla="*/ 152305 h 536160"/>
                <a:gd name="connsiteX98" fmla="*/ 331824 w 604071"/>
                <a:gd name="connsiteY98" fmla="*/ 153008 h 536160"/>
                <a:gd name="connsiteX99" fmla="*/ 72743 w 604071"/>
                <a:gd name="connsiteY99" fmla="*/ 72872 h 536160"/>
                <a:gd name="connsiteX100" fmla="*/ 73447 w 604071"/>
                <a:gd name="connsiteY100" fmla="*/ 61156 h 536160"/>
                <a:gd name="connsiteX101" fmla="*/ 76732 w 604071"/>
                <a:gd name="connsiteY101" fmla="*/ 57172 h 536160"/>
                <a:gd name="connsiteX102" fmla="*/ 210027 w 604071"/>
                <a:gd name="connsiteY102" fmla="*/ 23196 h 536160"/>
                <a:gd name="connsiteX103" fmla="*/ 331354 w 604071"/>
                <a:gd name="connsiteY103" fmla="*/ 468 h 53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4071" h="536160">
                  <a:moveTo>
                    <a:pt x="368624" y="395015"/>
                  </a:moveTo>
                  <a:cubicBezTo>
                    <a:pt x="361723" y="393547"/>
                    <a:pt x="354463" y="395524"/>
                    <a:pt x="347306" y="402787"/>
                  </a:cubicBezTo>
                  <a:cubicBezTo>
                    <a:pt x="335338" y="415205"/>
                    <a:pt x="330879" y="431138"/>
                    <a:pt x="339796" y="447070"/>
                  </a:cubicBezTo>
                  <a:cubicBezTo>
                    <a:pt x="347540" y="460659"/>
                    <a:pt x="358100" y="468860"/>
                    <a:pt x="372650" y="456676"/>
                  </a:cubicBezTo>
                  <a:cubicBezTo>
                    <a:pt x="377108" y="453162"/>
                    <a:pt x="384852" y="457848"/>
                    <a:pt x="381098" y="463236"/>
                  </a:cubicBezTo>
                  <a:cubicBezTo>
                    <a:pt x="360682" y="492289"/>
                    <a:pt x="328297" y="474483"/>
                    <a:pt x="320788" y="443790"/>
                  </a:cubicBezTo>
                  <a:cubicBezTo>
                    <a:pt x="318207" y="433246"/>
                    <a:pt x="319380" y="420594"/>
                    <a:pt x="323604" y="409348"/>
                  </a:cubicBezTo>
                  <a:cubicBezTo>
                    <a:pt x="314921" y="417314"/>
                    <a:pt x="307881" y="427154"/>
                    <a:pt x="303188" y="437698"/>
                  </a:cubicBezTo>
                  <a:cubicBezTo>
                    <a:pt x="288169" y="473077"/>
                    <a:pt x="296383" y="518062"/>
                    <a:pt x="342378" y="519234"/>
                  </a:cubicBezTo>
                  <a:cubicBezTo>
                    <a:pt x="379924" y="519937"/>
                    <a:pt x="412778" y="491118"/>
                    <a:pt x="408554" y="451521"/>
                  </a:cubicBezTo>
                  <a:cubicBezTo>
                    <a:pt x="406794" y="434828"/>
                    <a:pt x="389326" y="399419"/>
                    <a:pt x="368624" y="395015"/>
                  </a:cubicBezTo>
                  <a:close/>
                  <a:moveTo>
                    <a:pt x="213545" y="366940"/>
                  </a:moveTo>
                  <a:cubicBezTo>
                    <a:pt x="204862" y="376077"/>
                    <a:pt x="198996" y="386387"/>
                    <a:pt x="195241" y="398804"/>
                  </a:cubicBezTo>
                  <a:cubicBezTo>
                    <a:pt x="194302" y="401382"/>
                    <a:pt x="193364" y="406302"/>
                    <a:pt x="191721" y="410754"/>
                  </a:cubicBezTo>
                  <a:cubicBezTo>
                    <a:pt x="208617" y="421531"/>
                    <a:pt x="224340" y="433949"/>
                    <a:pt x="239593" y="447070"/>
                  </a:cubicBezTo>
                  <a:cubicBezTo>
                    <a:pt x="252031" y="457848"/>
                    <a:pt x="266111" y="468391"/>
                    <a:pt x="278548" y="479637"/>
                  </a:cubicBezTo>
                  <a:cubicBezTo>
                    <a:pt x="277375" y="469797"/>
                    <a:pt x="278313" y="459019"/>
                    <a:pt x="281833" y="447538"/>
                  </a:cubicBezTo>
                  <a:cubicBezTo>
                    <a:pt x="288404" y="426452"/>
                    <a:pt x="301076" y="405130"/>
                    <a:pt x="319145" y="391307"/>
                  </a:cubicBezTo>
                  <a:cubicBezTo>
                    <a:pt x="316329" y="391073"/>
                    <a:pt x="313513" y="391073"/>
                    <a:pt x="310697" y="390838"/>
                  </a:cubicBezTo>
                  <a:cubicBezTo>
                    <a:pt x="298495" y="389901"/>
                    <a:pt x="286996" y="388027"/>
                    <a:pt x="275263" y="385215"/>
                  </a:cubicBezTo>
                  <a:cubicBezTo>
                    <a:pt x="254377" y="380295"/>
                    <a:pt x="233492" y="374906"/>
                    <a:pt x="213545" y="366940"/>
                  </a:cubicBezTo>
                  <a:close/>
                  <a:moveTo>
                    <a:pt x="174825" y="348196"/>
                  </a:moveTo>
                  <a:cubicBezTo>
                    <a:pt x="166612" y="352648"/>
                    <a:pt x="158633" y="358271"/>
                    <a:pt x="153705" y="366471"/>
                  </a:cubicBezTo>
                  <a:cubicBezTo>
                    <a:pt x="150420" y="371391"/>
                    <a:pt x="147838" y="376546"/>
                    <a:pt x="146665" y="382169"/>
                  </a:cubicBezTo>
                  <a:cubicBezTo>
                    <a:pt x="146430" y="383341"/>
                    <a:pt x="146430" y="384278"/>
                    <a:pt x="146196" y="385449"/>
                  </a:cubicBezTo>
                  <a:cubicBezTo>
                    <a:pt x="156990" y="390370"/>
                    <a:pt x="167550" y="395993"/>
                    <a:pt x="177406" y="401850"/>
                  </a:cubicBezTo>
                  <a:cubicBezTo>
                    <a:pt x="180692" y="386855"/>
                    <a:pt x="189374" y="371626"/>
                    <a:pt x="201577" y="362020"/>
                  </a:cubicBezTo>
                  <a:cubicBezTo>
                    <a:pt x="199465" y="361082"/>
                    <a:pt x="197353" y="360145"/>
                    <a:pt x="195241" y="358974"/>
                  </a:cubicBezTo>
                  <a:cubicBezTo>
                    <a:pt x="188201" y="355693"/>
                    <a:pt x="181630" y="351945"/>
                    <a:pt x="174825" y="348196"/>
                  </a:cubicBezTo>
                  <a:close/>
                  <a:moveTo>
                    <a:pt x="73683" y="278844"/>
                  </a:moveTo>
                  <a:cubicBezTo>
                    <a:pt x="65235" y="280484"/>
                    <a:pt x="57491" y="278375"/>
                    <a:pt x="48809" y="284467"/>
                  </a:cubicBezTo>
                  <a:cubicBezTo>
                    <a:pt x="38483" y="291730"/>
                    <a:pt x="30270" y="302039"/>
                    <a:pt x="24638" y="313286"/>
                  </a:cubicBezTo>
                  <a:cubicBezTo>
                    <a:pt x="19945" y="322657"/>
                    <a:pt x="13843" y="335778"/>
                    <a:pt x="16425" y="346322"/>
                  </a:cubicBezTo>
                  <a:cubicBezTo>
                    <a:pt x="17833" y="352413"/>
                    <a:pt x="21587" y="355693"/>
                    <a:pt x="25107" y="359677"/>
                  </a:cubicBezTo>
                  <a:cubicBezTo>
                    <a:pt x="61011" y="357334"/>
                    <a:pt x="97385" y="365300"/>
                    <a:pt x="131412" y="378889"/>
                  </a:cubicBezTo>
                  <a:cubicBezTo>
                    <a:pt x="133054" y="370923"/>
                    <a:pt x="137748" y="362722"/>
                    <a:pt x="141972" y="357568"/>
                  </a:cubicBezTo>
                  <a:cubicBezTo>
                    <a:pt x="147369" y="350539"/>
                    <a:pt x="154409" y="344681"/>
                    <a:pt x="162153" y="340698"/>
                  </a:cubicBezTo>
                  <a:cubicBezTo>
                    <a:pt x="146900" y="331326"/>
                    <a:pt x="132116" y="321017"/>
                    <a:pt x="117331" y="310708"/>
                  </a:cubicBezTo>
                  <a:cubicBezTo>
                    <a:pt x="104190" y="301336"/>
                    <a:pt x="84713" y="291964"/>
                    <a:pt x="73683" y="278844"/>
                  </a:cubicBezTo>
                  <a:close/>
                  <a:moveTo>
                    <a:pt x="62478" y="261857"/>
                  </a:moveTo>
                  <a:cubicBezTo>
                    <a:pt x="69577" y="260803"/>
                    <a:pt x="76499" y="261740"/>
                    <a:pt x="80723" y="267129"/>
                  </a:cubicBezTo>
                  <a:cubicBezTo>
                    <a:pt x="81662" y="268535"/>
                    <a:pt x="82131" y="269706"/>
                    <a:pt x="82366" y="271112"/>
                  </a:cubicBezTo>
                  <a:cubicBezTo>
                    <a:pt x="97854" y="275563"/>
                    <a:pt x="113342" y="288918"/>
                    <a:pt x="125310" y="296885"/>
                  </a:cubicBezTo>
                  <a:cubicBezTo>
                    <a:pt x="148308" y="312583"/>
                    <a:pt x="171305" y="328983"/>
                    <a:pt x="196180" y="341167"/>
                  </a:cubicBezTo>
                  <a:cubicBezTo>
                    <a:pt x="225513" y="355459"/>
                    <a:pt x="256724" y="364597"/>
                    <a:pt x="288639" y="371157"/>
                  </a:cubicBezTo>
                  <a:cubicBezTo>
                    <a:pt x="310463" y="375843"/>
                    <a:pt x="333460" y="372329"/>
                    <a:pt x="354815" y="376546"/>
                  </a:cubicBezTo>
                  <a:cubicBezTo>
                    <a:pt x="355050" y="376546"/>
                    <a:pt x="355284" y="376780"/>
                    <a:pt x="355754" y="376780"/>
                  </a:cubicBezTo>
                  <a:cubicBezTo>
                    <a:pt x="393770" y="373500"/>
                    <a:pt x="417471" y="400913"/>
                    <a:pt x="426154" y="435589"/>
                  </a:cubicBezTo>
                  <a:cubicBezTo>
                    <a:pt x="426858" y="438635"/>
                    <a:pt x="425919" y="441212"/>
                    <a:pt x="424042" y="442852"/>
                  </a:cubicBezTo>
                  <a:cubicBezTo>
                    <a:pt x="428735" y="477763"/>
                    <a:pt x="412778" y="516656"/>
                    <a:pt x="377108" y="530480"/>
                  </a:cubicBezTo>
                  <a:cubicBezTo>
                    <a:pt x="342612" y="543835"/>
                    <a:pt x="307177" y="532589"/>
                    <a:pt x="289577" y="507753"/>
                  </a:cubicBezTo>
                  <a:cubicBezTo>
                    <a:pt x="288639" y="507753"/>
                    <a:pt x="287465" y="507519"/>
                    <a:pt x="286527" y="506816"/>
                  </a:cubicBezTo>
                  <a:cubicBezTo>
                    <a:pt x="268927" y="498381"/>
                    <a:pt x="254377" y="481980"/>
                    <a:pt x="239828" y="469094"/>
                  </a:cubicBezTo>
                  <a:cubicBezTo>
                    <a:pt x="220350" y="451990"/>
                    <a:pt x="200638" y="434418"/>
                    <a:pt x="178110" y="421063"/>
                  </a:cubicBezTo>
                  <a:cubicBezTo>
                    <a:pt x="129769" y="392010"/>
                    <a:pt x="77907" y="373734"/>
                    <a:pt x="21353" y="370454"/>
                  </a:cubicBezTo>
                  <a:cubicBezTo>
                    <a:pt x="20649" y="370454"/>
                    <a:pt x="19710" y="370220"/>
                    <a:pt x="19241" y="369751"/>
                  </a:cubicBezTo>
                  <a:cubicBezTo>
                    <a:pt x="10792" y="369283"/>
                    <a:pt x="3518" y="361317"/>
                    <a:pt x="1406" y="353116"/>
                  </a:cubicBezTo>
                  <a:cubicBezTo>
                    <a:pt x="-2349" y="338121"/>
                    <a:pt x="1875" y="321955"/>
                    <a:pt x="8680" y="308131"/>
                  </a:cubicBezTo>
                  <a:cubicBezTo>
                    <a:pt x="16425" y="292902"/>
                    <a:pt x="27923" y="276969"/>
                    <a:pt x="43177" y="268535"/>
                  </a:cubicBezTo>
                  <a:cubicBezTo>
                    <a:pt x="48105" y="265957"/>
                    <a:pt x="55379" y="262911"/>
                    <a:pt x="62478" y="261857"/>
                  </a:cubicBezTo>
                  <a:close/>
                  <a:moveTo>
                    <a:pt x="470750" y="155099"/>
                  </a:moveTo>
                  <a:cubicBezTo>
                    <a:pt x="464179" y="157911"/>
                    <a:pt x="457374" y="161191"/>
                    <a:pt x="450802" y="164238"/>
                  </a:cubicBezTo>
                  <a:cubicBezTo>
                    <a:pt x="453853" y="163066"/>
                    <a:pt x="456670" y="162129"/>
                    <a:pt x="459486" y="161191"/>
                  </a:cubicBezTo>
                  <a:cubicBezTo>
                    <a:pt x="460190" y="160957"/>
                    <a:pt x="460659" y="160723"/>
                    <a:pt x="461128" y="160723"/>
                  </a:cubicBezTo>
                  <a:cubicBezTo>
                    <a:pt x="464414" y="159082"/>
                    <a:pt x="467700" y="156973"/>
                    <a:pt x="470750" y="155099"/>
                  </a:cubicBezTo>
                  <a:close/>
                  <a:moveTo>
                    <a:pt x="494453" y="127917"/>
                  </a:moveTo>
                  <a:cubicBezTo>
                    <a:pt x="501259" y="126511"/>
                    <a:pt x="505249" y="132135"/>
                    <a:pt x="504545" y="137056"/>
                  </a:cubicBezTo>
                  <a:cubicBezTo>
                    <a:pt x="514401" y="149241"/>
                    <a:pt x="506891" y="182046"/>
                    <a:pt x="506187" y="195169"/>
                  </a:cubicBezTo>
                  <a:cubicBezTo>
                    <a:pt x="504779" y="221648"/>
                    <a:pt x="508065" y="249298"/>
                    <a:pt x="501494" y="275074"/>
                  </a:cubicBezTo>
                  <a:cubicBezTo>
                    <a:pt x="501963" y="276012"/>
                    <a:pt x="502198" y="277183"/>
                    <a:pt x="502198" y="278823"/>
                  </a:cubicBezTo>
                  <a:cubicBezTo>
                    <a:pt x="498677" y="311395"/>
                    <a:pt x="441181" y="334828"/>
                    <a:pt x="414662" y="342092"/>
                  </a:cubicBezTo>
                  <a:cubicBezTo>
                    <a:pt x="368429" y="354980"/>
                    <a:pt x="319381" y="355214"/>
                    <a:pt x="272445" y="346310"/>
                  </a:cubicBezTo>
                  <a:cubicBezTo>
                    <a:pt x="236773" y="339514"/>
                    <a:pt x="188429" y="328969"/>
                    <a:pt x="170593" y="292883"/>
                  </a:cubicBezTo>
                  <a:cubicBezTo>
                    <a:pt x="161910" y="275309"/>
                    <a:pt x="160267" y="257968"/>
                    <a:pt x="159093" y="238754"/>
                  </a:cubicBezTo>
                  <a:cubicBezTo>
                    <a:pt x="157216" y="206182"/>
                    <a:pt x="154165" y="173845"/>
                    <a:pt x="155104" y="141039"/>
                  </a:cubicBezTo>
                  <a:cubicBezTo>
                    <a:pt x="155339" y="136118"/>
                    <a:pt x="162144" y="133775"/>
                    <a:pt x="165195" y="136821"/>
                  </a:cubicBezTo>
                  <a:cubicBezTo>
                    <a:pt x="182327" y="136587"/>
                    <a:pt x="205091" y="146429"/>
                    <a:pt x="219641" y="152521"/>
                  </a:cubicBezTo>
                  <a:cubicBezTo>
                    <a:pt x="252731" y="166347"/>
                    <a:pt x="290984" y="191185"/>
                    <a:pt x="327829" y="189779"/>
                  </a:cubicBezTo>
                  <a:cubicBezTo>
                    <a:pt x="388847" y="187670"/>
                    <a:pt x="436487" y="141039"/>
                    <a:pt x="494453" y="127917"/>
                  </a:cubicBezTo>
                  <a:close/>
                  <a:moveTo>
                    <a:pt x="331354" y="468"/>
                  </a:moveTo>
                  <a:cubicBezTo>
                    <a:pt x="367963" y="3748"/>
                    <a:pt x="402930" y="22962"/>
                    <a:pt x="438835" y="30460"/>
                  </a:cubicBezTo>
                  <a:cubicBezTo>
                    <a:pt x="474740" y="38193"/>
                    <a:pt x="510880" y="44988"/>
                    <a:pt x="544908" y="59047"/>
                  </a:cubicBezTo>
                  <a:cubicBezTo>
                    <a:pt x="547489" y="60218"/>
                    <a:pt x="549132" y="62562"/>
                    <a:pt x="549836" y="65139"/>
                  </a:cubicBezTo>
                  <a:cubicBezTo>
                    <a:pt x="551713" y="64436"/>
                    <a:pt x="553825" y="64670"/>
                    <a:pt x="555703" y="66311"/>
                  </a:cubicBezTo>
                  <a:cubicBezTo>
                    <a:pt x="580109" y="89508"/>
                    <a:pt x="584098" y="129107"/>
                    <a:pt x="586211" y="160974"/>
                  </a:cubicBezTo>
                  <a:cubicBezTo>
                    <a:pt x="588088" y="190030"/>
                    <a:pt x="589027" y="220256"/>
                    <a:pt x="587384" y="249780"/>
                  </a:cubicBezTo>
                  <a:cubicBezTo>
                    <a:pt x="589261" y="250952"/>
                    <a:pt x="590904" y="252592"/>
                    <a:pt x="592547" y="254467"/>
                  </a:cubicBezTo>
                  <a:cubicBezTo>
                    <a:pt x="605219" y="269463"/>
                    <a:pt x="605219" y="290551"/>
                    <a:pt x="602872" y="309062"/>
                  </a:cubicBezTo>
                  <a:cubicBezTo>
                    <a:pt x="600526" y="329917"/>
                    <a:pt x="585506" y="331557"/>
                    <a:pt x="567437" y="332963"/>
                  </a:cubicBezTo>
                  <a:cubicBezTo>
                    <a:pt x="564151" y="333197"/>
                    <a:pt x="561335" y="331088"/>
                    <a:pt x="559927" y="328276"/>
                  </a:cubicBezTo>
                  <a:cubicBezTo>
                    <a:pt x="557580" y="328276"/>
                    <a:pt x="554999" y="327105"/>
                    <a:pt x="553591" y="324762"/>
                  </a:cubicBezTo>
                  <a:cubicBezTo>
                    <a:pt x="549132" y="317264"/>
                    <a:pt x="550775" y="306251"/>
                    <a:pt x="549836" y="297815"/>
                  </a:cubicBezTo>
                  <a:cubicBezTo>
                    <a:pt x="548897" y="287740"/>
                    <a:pt x="547255" y="276024"/>
                    <a:pt x="550775" y="266183"/>
                  </a:cubicBezTo>
                  <a:cubicBezTo>
                    <a:pt x="553825" y="258450"/>
                    <a:pt x="560866" y="251421"/>
                    <a:pt x="568845" y="248609"/>
                  </a:cubicBezTo>
                  <a:cubicBezTo>
                    <a:pt x="566498" y="191904"/>
                    <a:pt x="575415" y="135200"/>
                    <a:pt x="550540" y="82010"/>
                  </a:cubicBezTo>
                  <a:cubicBezTo>
                    <a:pt x="549601" y="82947"/>
                    <a:pt x="548428" y="83884"/>
                    <a:pt x="546785" y="84353"/>
                  </a:cubicBezTo>
                  <a:cubicBezTo>
                    <a:pt x="507595" y="96537"/>
                    <a:pt x="469108" y="111768"/>
                    <a:pt x="431325" y="127467"/>
                  </a:cubicBezTo>
                  <a:cubicBezTo>
                    <a:pt x="403165" y="139183"/>
                    <a:pt x="370075" y="159100"/>
                    <a:pt x="338394" y="152305"/>
                  </a:cubicBezTo>
                  <a:cubicBezTo>
                    <a:pt x="336752" y="153476"/>
                    <a:pt x="334405" y="153945"/>
                    <a:pt x="331824" y="153008"/>
                  </a:cubicBezTo>
                  <a:cubicBezTo>
                    <a:pt x="246402" y="121375"/>
                    <a:pt x="160042" y="98412"/>
                    <a:pt x="72743" y="72872"/>
                  </a:cubicBezTo>
                  <a:cubicBezTo>
                    <a:pt x="66876" y="70997"/>
                    <a:pt x="67345" y="61390"/>
                    <a:pt x="73447" y="61156"/>
                  </a:cubicBezTo>
                  <a:cubicBezTo>
                    <a:pt x="73916" y="59515"/>
                    <a:pt x="74855" y="57875"/>
                    <a:pt x="76732" y="57172"/>
                  </a:cubicBezTo>
                  <a:cubicBezTo>
                    <a:pt x="120382" y="43113"/>
                    <a:pt x="165439" y="33975"/>
                    <a:pt x="210027" y="23196"/>
                  </a:cubicBezTo>
                  <a:cubicBezTo>
                    <a:pt x="248749" y="14058"/>
                    <a:pt x="291225" y="-3047"/>
                    <a:pt x="331354" y="468"/>
                  </a:cubicBezTo>
                  <a:close/>
                </a:path>
              </a:pathLst>
            </a:custGeom>
            <a:solidFill>
              <a:srgbClr val="891D86"/>
            </a:solidFill>
            <a:ln>
              <a:noFill/>
            </a:ln>
          </p:spPr>
        </p:sp>
      </p:gr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任意多边形 53"/>
          <p:cNvSpPr/>
          <p:nvPr/>
        </p:nvSpPr>
        <p:spPr>
          <a:xfrm>
            <a:off x="-30480" y="0"/>
            <a:ext cx="5029200" cy="6858000"/>
          </a:xfrm>
          <a:custGeom>
            <a:avLst/>
            <a:gdLst>
              <a:gd name="connsiteX0" fmla="*/ 30480 w 5029200"/>
              <a:gd name="connsiteY0" fmla="*/ 0 h 6858000"/>
              <a:gd name="connsiteX1" fmla="*/ 1600200 w 5029200"/>
              <a:gd name="connsiteY1" fmla="*/ 0 h 6858000"/>
              <a:gd name="connsiteX2" fmla="*/ 5029200 w 5029200"/>
              <a:gd name="connsiteY2" fmla="*/ 3429000 h 6858000"/>
              <a:gd name="connsiteX3" fmla="*/ 1600200 w 5029200"/>
              <a:gd name="connsiteY3" fmla="*/ 6858000 h 6858000"/>
              <a:gd name="connsiteX4" fmla="*/ 30480 w 5029200"/>
              <a:gd name="connsiteY4" fmla="*/ 6858000 h 6858000"/>
              <a:gd name="connsiteX5" fmla="*/ 0 w 5029200"/>
              <a:gd name="connsiteY5" fmla="*/ 6857230 h 6858000"/>
              <a:gd name="connsiteX6" fmla="*/ 0 w 5029200"/>
              <a:gd name="connsiteY6" fmla="*/ 7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29200" h="6858000">
                <a:moveTo>
                  <a:pt x="30480" y="0"/>
                </a:moveTo>
                <a:lnTo>
                  <a:pt x="1600200" y="0"/>
                </a:lnTo>
                <a:cubicBezTo>
                  <a:pt x="3493984" y="0"/>
                  <a:pt x="5029200" y="1535216"/>
                  <a:pt x="5029200" y="3429000"/>
                </a:cubicBezTo>
                <a:cubicBezTo>
                  <a:pt x="5029200" y="5322784"/>
                  <a:pt x="3493984" y="6858000"/>
                  <a:pt x="1600200" y="6858000"/>
                </a:cubicBezTo>
                <a:lnTo>
                  <a:pt x="30480" y="6858000"/>
                </a:lnTo>
                <a:lnTo>
                  <a:pt x="0" y="6857230"/>
                </a:lnTo>
                <a:lnTo>
                  <a:pt x="0" y="771"/>
                </a:lnTo>
                <a:close/>
              </a:path>
            </a:pathLst>
          </a:cu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p:cNvSpPr txBox="1"/>
          <p:nvPr/>
        </p:nvSpPr>
        <p:spPr>
          <a:xfrm>
            <a:off x="-3554729" y="3324451"/>
            <a:ext cx="8343899" cy="923330"/>
          </a:xfrm>
          <a:prstGeom prst="rect">
            <a:avLst/>
          </a:prstGeom>
          <a:noFill/>
          <a:ln>
            <a:noFill/>
          </a:ln>
        </p:spPr>
        <p:txBody>
          <a:bodyPr wrap="square" rtlCol="0">
            <a:spAutoFit/>
          </a:bodyPr>
          <a:lstStyle/>
          <a:p>
            <a:pPr algn="r"/>
            <a:r>
              <a:rPr lang="en-US" altLang="zh-CN" sz="5400" dirty="0">
                <a:gradFill>
                  <a:gsLst>
                    <a:gs pos="58000">
                      <a:schemeClr val="bg1">
                        <a:lumMod val="85000"/>
                      </a:schemeClr>
                    </a:gs>
                    <a:gs pos="0">
                      <a:schemeClr val="bg1"/>
                    </a:gs>
                    <a:gs pos="99000">
                      <a:schemeClr val="bg1">
                        <a:alpha val="0"/>
                      </a:schemeClr>
                    </a:gs>
                  </a:gsLst>
                  <a:lin ang="5400000" scaled="1"/>
                </a:gradFill>
                <a:latin typeface="Arial Black" panose="020B0A04020102020204" pitchFamily="34" charset="0"/>
                <a:ea typeface="思源黑体 CN Heavy" panose="020B0A00000000000000" pitchFamily="34" charset="-122"/>
                <a:cs typeface="Times New Roman" panose="02020603050405020304" pitchFamily="18" charset="0"/>
              </a:rPr>
              <a:t>CONTENTS</a:t>
            </a:r>
            <a:endParaRPr lang="zh-CN" altLang="en-US" sz="5400" dirty="0">
              <a:gradFill>
                <a:gsLst>
                  <a:gs pos="58000">
                    <a:schemeClr val="bg1">
                      <a:lumMod val="85000"/>
                    </a:schemeClr>
                  </a:gs>
                  <a:gs pos="0">
                    <a:schemeClr val="bg1"/>
                  </a:gs>
                  <a:gs pos="99000">
                    <a:schemeClr val="bg1">
                      <a:alpha val="0"/>
                    </a:schemeClr>
                  </a:gs>
                </a:gsLst>
                <a:lin ang="5400000" scaled="1"/>
              </a:gradFill>
              <a:latin typeface="Arial Black" panose="020B0A04020102020204" pitchFamily="34" charset="0"/>
              <a:ea typeface="思源黑体 CN Heavy" panose="020B0A00000000000000" pitchFamily="34" charset="-122"/>
              <a:cs typeface="Times New Roman" panose="02020603050405020304" pitchFamily="18" charset="0"/>
            </a:endParaRPr>
          </a:p>
        </p:txBody>
      </p:sp>
      <p:cxnSp>
        <p:nvCxnSpPr>
          <p:cNvPr id="4" name="直接连接符 3"/>
          <p:cNvCxnSpPr/>
          <p:nvPr/>
        </p:nvCxnSpPr>
        <p:spPr>
          <a:xfrm>
            <a:off x="1598295" y="3324451"/>
            <a:ext cx="177165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379220" y="2379082"/>
            <a:ext cx="2209800" cy="923330"/>
          </a:xfrm>
          <a:prstGeom prst="rect">
            <a:avLst/>
          </a:prstGeom>
          <a:noFill/>
        </p:spPr>
        <p:txBody>
          <a:bodyPr wrap="square" rtlCol="0">
            <a:spAutoFit/>
          </a:bodyPr>
          <a:lstStyle/>
          <a:p>
            <a:pPr algn="dist"/>
            <a:r>
              <a:rPr lang="zh-CN" altLang="en-US" sz="5400" dirty="0">
                <a:gradFill>
                  <a:gsLst>
                    <a:gs pos="58000">
                      <a:schemeClr val="bg1">
                        <a:lumMod val="85000"/>
                      </a:schemeClr>
                    </a:gs>
                    <a:gs pos="0">
                      <a:schemeClr val="bg1"/>
                    </a:gs>
                    <a:gs pos="99000">
                      <a:schemeClr val="bg1">
                        <a:alpha val="0"/>
                      </a:schemeClr>
                    </a:gs>
                  </a:gsLst>
                  <a:lin ang="5400000" scaled="1"/>
                </a:gradFill>
                <a:latin typeface="Times New Roman" panose="02020603050405020304" pitchFamily="18" charset="0"/>
                <a:ea typeface="思源黑体 CN Heavy" panose="020B0A00000000000000" pitchFamily="34" charset="-122"/>
                <a:cs typeface="Times New Roman" panose="02020603050405020304" pitchFamily="18" charset="0"/>
              </a:rPr>
              <a:t>目录</a:t>
            </a:r>
            <a:endParaRPr lang="zh-CN" altLang="en-US" sz="5400" dirty="0">
              <a:gradFill>
                <a:gsLst>
                  <a:gs pos="58000">
                    <a:schemeClr val="bg1">
                      <a:lumMod val="85000"/>
                    </a:schemeClr>
                  </a:gs>
                  <a:gs pos="0">
                    <a:schemeClr val="bg1"/>
                  </a:gs>
                  <a:gs pos="99000">
                    <a:schemeClr val="bg1">
                      <a:alpha val="0"/>
                    </a:schemeClr>
                  </a:gs>
                </a:gsLst>
                <a:lin ang="5400000" scaled="1"/>
              </a:gradFill>
              <a:latin typeface="Times New Roman" panose="02020603050405020304" pitchFamily="18" charset="0"/>
              <a:ea typeface="思源黑体 CN Heavy" panose="020B0A00000000000000" pitchFamily="34" charset="-122"/>
              <a:cs typeface="Times New Roman" panose="02020603050405020304" pitchFamily="18" charset="0"/>
            </a:endParaRPr>
          </a:p>
        </p:txBody>
      </p:sp>
      <p:grpSp>
        <p:nvGrpSpPr>
          <p:cNvPr id="12" name="组合 11"/>
          <p:cNvGrpSpPr/>
          <p:nvPr>
            <p:custDataLst>
              <p:tags r:id="rId1"/>
            </p:custDataLst>
          </p:nvPr>
        </p:nvGrpSpPr>
        <p:grpSpPr>
          <a:xfrm>
            <a:off x="4712046" y="551344"/>
            <a:ext cx="5400616" cy="785516"/>
            <a:chOff x="4158326" y="321474"/>
            <a:chExt cx="5400616" cy="785516"/>
          </a:xfrm>
        </p:grpSpPr>
        <p:grpSp>
          <p:nvGrpSpPr>
            <p:cNvPr id="42" name="组合 41"/>
            <p:cNvGrpSpPr/>
            <p:nvPr/>
          </p:nvGrpSpPr>
          <p:grpSpPr>
            <a:xfrm>
              <a:off x="4158326" y="321474"/>
              <a:ext cx="785518" cy="785516"/>
              <a:chOff x="4605961" y="724959"/>
              <a:chExt cx="785518" cy="785516"/>
            </a:xfrm>
          </p:grpSpPr>
          <p:sp>
            <p:nvSpPr>
              <p:cNvPr id="43" name="îṣļiḍé"/>
              <p:cNvSpPr/>
              <p:nvPr>
                <p:custDataLst>
                  <p:tags r:id="rId2"/>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44" name="îṥľíde"/>
              <p:cNvSpPr/>
              <p:nvPr>
                <p:custDataLst>
                  <p:tags r:id="rId3"/>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45" name="íṥlíḍê"/>
              <p:cNvSpPr/>
              <p:nvPr>
                <p:custDataLst>
                  <p:tags r:id="rId4"/>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48" name="îṩḻïdé"/>
            <p:cNvSpPr txBox="1"/>
            <p:nvPr>
              <p:custDataLst>
                <p:tags r:id="rId5"/>
              </p:custDataLst>
            </p:nvPr>
          </p:nvSpPr>
          <p:spPr bwMode="auto">
            <a:xfrm>
              <a:off x="5183137" y="454626"/>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01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研究背景与意义</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grpSp>
        <p:nvGrpSpPr>
          <p:cNvPr id="11" name="组合 10"/>
          <p:cNvGrpSpPr/>
          <p:nvPr>
            <p:custDataLst>
              <p:tags r:id="rId6"/>
            </p:custDataLst>
          </p:nvPr>
        </p:nvGrpSpPr>
        <p:grpSpPr>
          <a:xfrm>
            <a:off x="5238726" y="1617631"/>
            <a:ext cx="5333398" cy="785516"/>
            <a:chOff x="4952341" y="1464008"/>
            <a:chExt cx="5333398" cy="785516"/>
          </a:xfrm>
        </p:grpSpPr>
        <p:grpSp>
          <p:nvGrpSpPr>
            <p:cNvPr id="25" name="组合 24"/>
            <p:cNvGrpSpPr/>
            <p:nvPr/>
          </p:nvGrpSpPr>
          <p:grpSpPr>
            <a:xfrm>
              <a:off x="4952341" y="1464008"/>
              <a:ext cx="785518" cy="785516"/>
              <a:chOff x="4605961" y="724959"/>
              <a:chExt cx="785518" cy="785516"/>
            </a:xfrm>
          </p:grpSpPr>
          <p:sp>
            <p:nvSpPr>
              <p:cNvPr id="10" name="îṣļiḍé"/>
              <p:cNvSpPr/>
              <p:nvPr>
                <p:custDataLst>
                  <p:tags r:id="rId7"/>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14" name="îṥľíde"/>
              <p:cNvSpPr/>
              <p:nvPr>
                <p:custDataLst>
                  <p:tags r:id="rId8"/>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18" name="íṥlíḍê"/>
              <p:cNvSpPr/>
              <p:nvPr>
                <p:custDataLst>
                  <p:tags r:id="rId9"/>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49" name="îṩḻïdé"/>
            <p:cNvSpPr txBox="1"/>
            <p:nvPr>
              <p:custDataLst>
                <p:tags r:id="rId10"/>
              </p:custDataLst>
            </p:nvPr>
          </p:nvSpPr>
          <p:spPr bwMode="auto">
            <a:xfrm>
              <a:off x="5909934" y="1597158"/>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02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研究现状分析</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grpSp>
        <p:nvGrpSpPr>
          <p:cNvPr id="9" name="组合 8"/>
          <p:cNvGrpSpPr/>
          <p:nvPr>
            <p:custDataLst>
              <p:tags r:id="rId11"/>
            </p:custDataLst>
          </p:nvPr>
        </p:nvGrpSpPr>
        <p:grpSpPr>
          <a:xfrm>
            <a:off x="5469550" y="2753768"/>
            <a:ext cx="5336961" cy="785516"/>
            <a:chOff x="5517175" y="2606542"/>
            <a:chExt cx="5336961" cy="785516"/>
          </a:xfrm>
        </p:grpSpPr>
        <p:grpSp>
          <p:nvGrpSpPr>
            <p:cNvPr id="26" name="组合 25"/>
            <p:cNvGrpSpPr/>
            <p:nvPr/>
          </p:nvGrpSpPr>
          <p:grpSpPr>
            <a:xfrm>
              <a:off x="5517175" y="2606542"/>
              <a:ext cx="785518" cy="785516"/>
              <a:chOff x="4605961" y="724959"/>
              <a:chExt cx="785518" cy="785516"/>
            </a:xfrm>
          </p:grpSpPr>
          <p:sp>
            <p:nvSpPr>
              <p:cNvPr id="27" name="îṣļiḍé"/>
              <p:cNvSpPr/>
              <p:nvPr>
                <p:custDataLst>
                  <p:tags r:id="rId12"/>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28" name="îṥľíde"/>
              <p:cNvSpPr/>
              <p:nvPr>
                <p:custDataLst>
                  <p:tags r:id="rId13"/>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29" name="íṥlíḍê"/>
              <p:cNvSpPr/>
              <p:nvPr>
                <p:custDataLst>
                  <p:tags r:id="rId14"/>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50" name="îṩḻïdé"/>
            <p:cNvSpPr txBox="1"/>
            <p:nvPr>
              <p:custDataLst>
                <p:tags r:id="rId15"/>
              </p:custDataLst>
            </p:nvPr>
          </p:nvSpPr>
          <p:spPr bwMode="auto">
            <a:xfrm>
              <a:off x="6478331" y="2744172"/>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03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研究内容与方法</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grpSp>
        <p:nvGrpSpPr>
          <p:cNvPr id="7" name="组合 6"/>
          <p:cNvGrpSpPr/>
          <p:nvPr>
            <p:custDataLst>
              <p:tags r:id="rId16"/>
            </p:custDataLst>
          </p:nvPr>
        </p:nvGrpSpPr>
        <p:grpSpPr>
          <a:xfrm>
            <a:off x="5428504" y="3881283"/>
            <a:ext cx="5336961" cy="785516"/>
            <a:chOff x="5445894" y="3749076"/>
            <a:chExt cx="5336961" cy="785516"/>
          </a:xfrm>
        </p:grpSpPr>
        <p:grpSp>
          <p:nvGrpSpPr>
            <p:cNvPr id="30" name="组合 29"/>
            <p:cNvGrpSpPr/>
            <p:nvPr/>
          </p:nvGrpSpPr>
          <p:grpSpPr>
            <a:xfrm>
              <a:off x="5445894" y="3749076"/>
              <a:ext cx="785518" cy="785516"/>
              <a:chOff x="4605961" y="724959"/>
              <a:chExt cx="785518" cy="785516"/>
            </a:xfrm>
          </p:grpSpPr>
          <p:sp>
            <p:nvSpPr>
              <p:cNvPr id="31" name="îṣļiḍé"/>
              <p:cNvSpPr/>
              <p:nvPr>
                <p:custDataLst>
                  <p:tags r:id="rId17"/>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32" name="îṥľíde"/>
              <p:cNvSpPr/>
              <p:nvPr>
                <p:custDataLst>
                  <p:tags r:id="rId18"/>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33" name="íṥlíḍê"/>
              <p:cNvSpPr/>
              <p:nvPr>
                <p:custDataLst>
                  <p:tags r:id="rId19"/>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51" name="îṩḻïdé"/>
            <p:cNvSpPr txBox="1"/>
            <p:nvPr>
              <p:custDataLst>
                <p:tags r:id="rId20"/>
              </p:custDataLst>
            </p:nvPr>
          </p:nvSpPr>
          <p:spPr bwMode="auto">
            <a:xfrm>
              <a:off x="6407050" y="3917187"/>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04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预期解决的主要问题及思路</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grpSp>
        <p:nvGrpSpPr>
          <p:cNvPr id="6" name="组合 5"/>
          <p:cNvGrpSpPr/>
          <p:nvPr>
            <p:custDataLst>
              <p:tags r:id="rId21"/>
            </p:custDataLst>
          </p:nvPr>
        </p:nvGrpSpPr>
        <p:grpSpPr>
          <a:xfrm>
            <a:off x="5007601" y="4928887"/>
            <a:ext cx="5280669" cy="785516"/>
            <a:chOff x="4832995" y="4891610"/>
            <a:chExt cx="5280669" cy="785516"/>
          </a:xfrm>
        </p:grpSpPr>
        <p:grpSp>
          <p:nvGrpSpPr>
            <p:cNvPr id="34" name="组合 33"/>
            <p:cNvGrpSpPr/>
            <p:nvPr/>
          </p:nvGrpSpPr>
          <p:grpSpPr>
            <a:xfrm>
              <a:off x="4832995" y="4891610"/>
              <a:ext cx="785518" cy="785516"/>
              <a:chOff x="4605961" y="724959"/>
              <a:chExt cx="785518" cy="785516"/>
            </a:xfrm>
          </p:grpSpPr>
          <p:sp>
            <p:nvSpPr>
              <p:cNvPr id="35" name="îṣļiḍé"/>
              <p:cNvSpPr/>
              <p:nvPr>
                <p:custDataLst>
                  <p:tags r:id="rId22"/>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36" name="îṥľíde"/>
              <p:cNvSpPr/>
              <p:nvPr>
                <p:custDataLst>
                  <p:tags r:id="rId23"/>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37" name="íṥlíḍê"/>
              <p:cNvSpPr/>
              <p:nvPr>
                <p:custDataLst>
                  <p:tags r:id="rId24"/>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52" name="îṩḻïdé"/>
            <p:cNvSpPr txBox="1"/>
            <p:nvPr>
              <p:custDataLst>
                <p:tags r:id="rId25"/>
              </p:custDataLst>
            </p:nvPr>
          </p:nvSpPr>
          <p:spPr bwMode="auto">
            <a:xfrm>
              <a:off x="5737859" y="5059721"/>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05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开题条件</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sp>
        <p:nvSpPr>
          <p:cNvPr id="179" name="椭圆 178"/>
          <p:cNvSpPr/>
          <p:nvPr/>
        </p:nvSpPr>
        <p:spPr>
          <a:xfrm>
            <a:off x="1444598" y="896150"/>
            <a:ext cx="519512" cy="519512"/>
          </a:xfrm>
          <a:prstGeom prst="ellipse">
            <a:avLst/>
          </a:prstGeom>
          <a:noFill/>
          <a:ln w="63500">
            <a:gradFill>
              <a:gsLst>
                <a:gs pos="0">
                  <a:schemeClr val="accent1">
                    <a:lumMod val="5000"/>
                    <a:lumOff val="95000"/>
                  </a:schemeClr>
                </a:gs>
                <a:gs pos="100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nvSpPr>
        <p:spPr>
          <a:xfrm>
            <a:off x="1952072" y="5259584"/>
            <a:ext cx="141870" cy="141870"/>
          </a:xfrm>
          <a:prstGeom prst="ellipse">
            <a:avLst/>
          </a:prstGeom>
          <a:noFill/>
          <a:ln w="63500">
            <a:gradFill>
              <a:gsLst>
                <a:gs pos="0">
                  <a:schemeClr val="accent1">
                    <a:lumMod val="5000"/>
                    <a:lumOff val="95000"/>
                  </a:schemeClr>
                </a:gs>
                <a:gs pos="88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p:cNvSpPr/>
          <p:nvPr/>
        </p:nvSpPr>
        <p:spPr>
          <a:xfrm>
            <a:off x="1163488" y="2194367"/>
            <a:ext cx="281109" cy="281109"/>
          </a:xfrm>
          <a:prstGeom prst="ellipse">
            <a:avLst/>
          </a:prstGeom>
          <a:noFill/>
          <a:ln w="63500">
            <a:gradFill>
              <a:gsLst>
                <a:gs pos="0">
                  <a:schemeClr val="accent1">
                    <a:lumMod val="5000"/>
                    <a:lumOff val="95000"/>
                  </a:schemeClr>
                </a:gs>
                <a:gs pos="68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a:off x="2419201" y="1455753"/>
            <a:ext cx="239086" cy="239086"/>
          </a:xfrm>
          <a:prstGeom prst="ellipse">
            <a:avLst/>
          </a:prstGeom>
          <a:noFill/>
          <a:ln w="63500">
            <a:gradFill>
              <a:gsLst>
                <a:gs pos="0">
                  <a:schemeClr val="accent1">
                    <a:lumMod val="5000"/>
                    <a:lumOff val="95000"/>
                  </a:schemeClr>
                </a:gs>
                <a:gs pos="100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p:cNvSpPr/>
          <p:nvPr/>
        </p:nvSpPr>
        <p:spPr>
          <a:xfrm>
            <a:off x="561716" y="5897880"/>
            <a:ext cx="402270" cy="402270"/>
          </a:xfrm>
          <a:prstGeom prst="ellipse">
            <a:avLst/>
          </a:prstGeom>
          <a:noFill/>
          <a:ln w="63500">
            <a:gradFill>
              <a:gsLst>
                <a:gs pos="0">
                  <a:schemeClr val="accent1">
                    <a:lumMod val="5000"/>
                    <a:lumOff val="95000"/>
                  </a:schemeClr>
                </a:gs>
                <a:gs pos="100000">
                  <a:srgbClr val="8F1E8C"/>
                </a:gs>
              </a:gsLst>
              <a:lin ang="16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a:off x="3134282" y="4858352"/>
            <a:ext cx="235663" cy="235663"/>
          </a:xfrm>
          <a:prstGeom prst="ellipse">
            <a:avLst/>
          </a:prstGeom>
          <a:noFill/>
          <a:ln w="63500">
            <a:gradFill>
              <a:gsLst>
                <a:gs pos="0">
                  <a:schemeClr val="accent1">
                    <a:lumMod val="5000"/>
                    <a:lumOff val="95000"/>
                  </a:schemeClr>
                </a:gs>
                <a:gs pos="100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a:off x="2216592" y="4274836"/>
            <a:ext cx="259756" cy="259756"/>
          </a:xfrm>
          <a:prstGeom prst="ellipse">
            <a:avLst/>
          </a:prstGeom>
          <a:noFill/>
          <a:ln w="63500">
            <a:gradFill>
              <a:gsLst>
                <a:gs pos="0">
                  <a:schemeClr val="accent1">
                    <a:lumMod val="5000"/>
                    <a:lumOff val="95000"/>
                  </a:schemeClr>
                </a:gs>
                <a:gs pos="100000">
                  <a:srgbClr val="8F1E8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custDataLst>
              <p:tags r:id="rId26"/>
            </p:custDataLst>
          </p:nvPr>
        </p:nvGrpSpPr>
        <p:grpSpPr>
          <a:xfrm>
            <a:off x="4333866" y="5920757"/>
            <a:ext cx="5280669" cy="785516"/>
            <a:chOff x="4832995" y="4891610"/>
            <a:chExt cx="5280669" cy="785516"/>
          </a:xfrm>
        </p:grpSpPr>
        <p:grpSp>
          <p:nvGrpSpPr>
            <p:cNvPr id="8" name="组合 7"/>
            <p:cNvGrpSpPr/>
            <p:nvPr/>
          </p:nvGrpSpPr>
          <p:grpSpPr>
            <a:xfrm>
              <a:off x="4832995" y="4891610"/>
              <a:ext cx="785518" cy="785516"/>
              <a:chOff x="4605961" y="724959"/>
              <a:chExt cx="785518" cy="785516"/>
            </a:xfrm>
          </p:grpSpPr>
          <p:sp>
            <p:nvSpPr>
              <p:cNvPr id="13" name="îṣļiḍé"/>
              <p:cNvSpPr/>
              <p:nvPr>
                <p:custDataLst>
                  <p:tags r:id="rId27"/>
                </p:custDataLst>
              </p:nvPr>
            </p:nvSpPr>
            <p:spPr>
              <a:xfrm>
                <a:off x="4605961" y="724959"/>
                <a:ext cx="785518" cy="785516"/>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15" name="îṥľíde"/>
              <p:cNvSpPr/>
              <p:nvPr>
                <p:custDataLst>
                  <p:tags r:id="rId28"/>
                </p:custDataLst>
              </p:nvPr>
            </p:nvSpPr>
            <p:spPr>
              <a:xfrm>
                <a:off x="4661119" y="780114"/>
                <a:ext cx="675205" cy="675205"/>
              </a:xfrm>
              <a:prstGeom prst="ellipse">
                <a:avLst/>
              </a:prstGeom>
              <a:solidFill>
                <a:srgbClr val="8F1E8C"/>
              </a:solidFill>
              <a:ln w="381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16" name="íṥlíḍê"/>
              <p:cNvSpPr/>
              <p:nvPr>
                <p:custDataLst>
                  <p:tags r:id="rId29"/>
                </p:custDataLst>
              </p:nvPr>
            </p:nvSpPr>
            <p:spPr>
              <a:xfrm>
                <a:off x="4836757" y="990963"/>
                <a:ext cx="323928" cy="323428"/>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grpSp>
        <p:sp>
          <p:nvSpPr>
            <p:cNvPr id="17" name="îṩḻïdé"/>
            <p:cNvSpPr txBox="1"/>
            <p:nvPr>
              <p:custDataLst>
                <p:tags r:id="rId30"/>
              </p:custDataLst>
            </p:nvPr>
          </p:nvSpPr>
          <p:spPr bwMode="auto">
            <a:xfrm>
              <a:off x="5737859" y="5059721"/>
              <a:ext cx="4375805"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buFontTx/>
                <a:buNone/>
              </a:pPr>
              <a:r>
                <a:rPr lang="en-US" altLang="zh-CN" sz="2400" b="1" dirty="0">
                  <a:solidFill>
                    <a:srgbClr val="8F1E8C"/>
                  </a:solidFill>
                  <a:latin typeface="思源黑体 CN Regular" panose="020B0500000000000000" pitchFamily="34" charset="-122"/>
                  <a:ea typeface="思源黑体 CN Regular" panose="020B0500000000000000" pitchFamily="34" charset="-122"/>
                </a:rPr>
                <a:t>06 </a:t>
              </a:r>
              <a:r>
                <a:rPr lang="zh-CN" altLang="en-US" sz="2400" b="1" dirty="0">
                  <a:solidFill>
                    <a:srgbClr val="8F1E8C"/>
                  </a:solidFill>
                  <a:latin typeface="思源黑体 CN Regular" panose="020B0500000000000000" pitchFamily="34" charset="-122"/>
                  <a:ea typeface="思源黑体 CN Regular" panose="020B0500000000000000" pitchFamily="34" charset="-122"/>
                </a:rPr>
                <a:t>时间规划</a:t>
              </a:r>
              <a:endParaRPr lang="zh-CN" altLang="en-US" sz="2400" b="1" dirty="0">
                <a:solidFill>
                  <a:srgbClr val="8F1E8C"/>
                </a:solidFill>
                <a:latin typeface="思源黑体 CN Regular" panose="020B0500000000000000" pitchFamily="34" charset="-122"/>
                <a:ea typeface="思源黑体 CN Regular" panose="020B0500000000000000" pitchFamily="3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3100"/>
            <a:chOff x="7715247" y="881638"/>
            <a:chExt cx="3981451" cy="2893100"/>
          </a:xfrm>
        </p:grpSpPr>
        <p:sp>
          <p:nvSpPr>
            <p:cNvPr id="5" name="文本框 4"/>
            <p:cNvSpPr txBox="1"/>
            <p:nvPr/>
          </p:nvSpPr>
          <p:spPr>
            <a:xfrm>
              <a:off x="8495102" y="2328188"/>
              <a:ext cx="2421743" cy="144655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0 1</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922020"/>
          </a:xfrm>
          <a:prstGeom prst="rect">
            <a:avLst/>
          </a:prstGeom>
          <a:noFill/>
        </p:spPr>
        <p:txBody>
          <a:bodyPr wrap="square" rtlCol="0">
            <a:spAutoFit/>
          </a:bodyPr>
          <a:lstStyle/>
          <a:p>
            <a:pPr algn="ct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研究背景与意义</a:t>
            </a: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3928110"/>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组合导航研究背景：</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1. </a:t>
            </a:r>
            <a:r>
              <a:rPr lang="zh-CN" altLang="en-US" sz="2400" spc="120" dirty="0">
                <a:latin typeface="思源黑体 CN Regular" panose="020B0500000000000000" pitchFamily="34" charset="-122"/>
                <a:ea typeface="思源黑体 CN Regular" panose="020B0500000000000000" pitchFamily="34" charset="-122"/>
              </a:rPr>
              <a:t>在现代导航领域，全球卫星导航系统（</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）和惯性导航系统（</a:t>
            </a:r>
            <a:r>
              <a:rPr lang="en-US" altLang="zh-CN" sz="2400" spc="120" dirty="0">
                <a:latin typeface="思源黑体 CN Regular" panose="020B0500000000000000" pitchFamily="34" charset="-122"/>
                <a:ea typeface="思源黑体 CN Regular" panose="020B0500000000000000" pitchFamily="34" charset="-122"/>
              </a:rPr>
              <a:t>INS</a:t>
            </a:r>
            <a:r>
              <a:rPr lang="zh-CN" altLang="en-US" sz="2400" spc="120" dirty="0">
                <a:latin typeface="思源黑体 CN Regular" panose="020B0500000000000000" pitchFamily="34" charset="-122"/>
                <a:ea typeface="思源黑体 CN Regular" panose="020B0500000000000000" pitchFamily="34" charset="-122"/>
              </a:rPr>
              <a:t>）是两种重要的导航技术，但它们各自存在局限性。</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信号在复杂环境下易受干扰和遮挡，导致定位精度下降甚至无法定位；</a:t>
            </a:r>
            <a:r>
              <a:rPr lang="en-US" altLang="zh-CN" sz="2400" spc="120" dirty="0">
                <a:latin typeface="思源黑体 CN Regular" panose="020B0500000000000000" pitchFamily="34" charset="-122"/>
                <a:ea typeface="思源黑体 CN Regular" panose="020B0500000000000000" pitchFamily="34" charset="-122"/>
              </a:rPr>
              <a:t>INS</a:t>
            </a:r>
            <a:r>
              <a:rPr lang="zh-CN" altLang="en-US" sz="2400" spc="120" dirty="0">
                <a:latin typeface="思源黑体 CN Regular" panose="020B0500000000000000" pitchFamily="34" charset="-122"/>
                <a:ea typeface="思源黑体 CN Regular" panose="020B0500000000000000" pitchFamily="34" charset="-122"/>
              </a:rPr>
              <a:t>则由于惯性传感器的噪声和漂移，导航误差会随时间累积。</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2. </a:t>
            </a:r>
            <a:r>
              <a:rPr lang="zh-CN" altLang="en-US" sz="2400" spc="120" dirty="0">
                <a:latin typeface="思源黑体 CN Regular" panose="020B0500000000000000" pitchFamily="34" charset="-122"/>
                <a:ea typeface="思源黑体 CN Regular" panose="020B0500000000000000" pitchFamily="34" charset="-122"/>
              </a:rPr>
              <a:t>为了克服这些问题，</a:t>
            </a:r>
            <a:r>
              <a:rPr lang="en-US" altLang="zh-CN" sz="2400" spc="120" dirty="0">
                <a:latin typeface="思源黑体 CN Regular" panose="020B0500000000000000" pitchFamily="34" charset="-122"/>
                <a:ea typeface="思源黑体 CN Regular" panose="020B0500000000000000" pitchFamily="34" charset="-122"/>
              </a:rPr>
              <a:t>GNSS/INS</a:t>
            </a:r>
            <a:r>
              <a:rPr lang="zh-CN" altLang="en-US" sz="2400" spc="120" dirty="0">
                <a:latin typeface="思源黑体 CN Regular" panose="020B0500000000000000" pitchFamily="34" charset="-122"/>
                <a:ea typeface="思源黑体 CN Regular" panose="020B0500000000000000" pitchFamily="34" charset="-122"/>
              </a:rPr>
              <a:t>组合导航系统应运而生，它将</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的高精度定位信息与</a:t>
            </a:r>
            <a:r>
              <a:rPr lang="en-US" altLang="zh-CN" sz="2400" spc="120" dirty="0">
                <a:latin typeface="思源黑体 CN Regular" panose="020B0500000000000000" pitchFamily="34" charset="-122"/>
                <a:ea typeface="思源黑体 CN Regular" panose="020B0500000000000000" pitchFamily="34" charset="-122"/>
              </a:rPr>
              <a:t>INS</a:t>
            </a:r>
            <a:r>
              <a:rPr lang="zh-CN" altLang="en-US" sz="2400" spc="120" dirty="0">
                <a:latin typeface="思源黑体 CN Regular" panose="020B0500000000000000" pitchFamily="34" charset="-122"/>
                <a:ea typeface="思源黑体 CN Regular" panose="020B0500000000000000" pitchFamily="34" charset="-122"/>
              </a:rPr>
              <a:t>的自主性和短期高精度特性相结合，实现优势互补。</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endParaRPr lang="en-US" altLang="zh-CN"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研究背景与意义</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半闭框 79"/>
          <p:cNvSpPr/>
          <p:nvPr>
            <p:custDataLst>
              <p:tags r:id="rId1"/>
            </p:custDataLst>
          </p:nvPr>
        </p:nvSpPr>
        <p:spPr>
          <a:xfrm rot="10800000">
            <a:off x="9383613" y="4024213"/>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研究背景与意义</a:t>
            </a:r>
            <a:endParaRPr lang="zh-CN" altLang="en-US" dirty="0"/>
          </a:p>
        </p:txBody>
      </p:sp>
      <p:sp>
        <p:nvSpPr>
          <p:cNvPr id="5" name="半闭框 4"/>
          <p:cNvSpPr/>
          <p:nvPr>
            <p:custDataLst>
              <p:tags r:id="rId2"/>
            </p:custDataLst>
          </p:nvPr>
        </p:nvSpPr>
        <p:spPr>
          <a:xfrm>
            <a:off x="619077" y="1112530"/>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p:cNvSpPr txBox="1"/>
          <p:nvPr>
            <p:custDataLst>
              <p:tags r:id="rId3"/>
            </p:custDataLst>
          </p:nvPr>
        </p:nvSpPr>
        <p:spPr>
          <a:xfrm>
            <a:off x="1059729" y="2097858"/>
            <a:ext cx="4863399" cy="3448685"/>
          </a:xfrm>
          <a:prstGeom prst="rect">
            <a:avLst/>
          </a:prstGeom>
          <a:noFill/>
          <a:ln>
            <a:noFill/>
          </a:ln>
        </p:spPr>
        <p:txBody>
          <a:bodyPr wrap="square" rtlCol="0">
            <a:spAutoFit/>
          </a:bodyPr>
          <a:lstStyle/>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rPr>
              <a:t>实际应用中存在噪声统计特性不确定、模型失配及观测粗差干扰等问题。例如，载体运动复杂性导致动力学模型误差难以精确建模，而</a:t>
            </a:r>
            <a:r>
              <a:rPr lang="en-US" altLang="zh-CN" sz="2400" dirty="0">
                <a:latin typeface="思源黑体 CN Regular" panose="020B0500000000000000" pitchFamily="34" charset="-122"/>
                <a:ea typeface="思源黑体 CN Regular" panose="020B0500000000000000" pitchFamily="34" charset="-122"/>
              </a:rPr>
              <a:t>GNSS</a:t>
            </a:r>
            <a:r>
              <a:rPr lang="zh-CN" altLang="en-US" sz="2400" dirty="0">
                <a:latin typeface="思源黑体 CN Regular" panose="020B0500000000000000" pitchFamily="34" charset="-122"/>
                <a:ea typeface="思源黑体 CN Regular" panose="020B0500000000000000" pitchFamily="34" charset="-122"/>
              </a:rPr>
              <a:t>观测可能因多路径效应、信号遮挡或人为干扰产生异常值，直接影响滤波精度甚至导致发散。</a:t>
            </a:r>
            <a:endParaRPr lang="zh-CN" altLang="en-US" sz="2400" dirty="0">
              <a:latin typeface="思源黑体 CN Regular" panose="020B0500000000000000" pitchFamily="34" charset="-122"/>
              <a:ea typeface="思源黑体 CN Regular" panose="020B0500000000000000" pitchFamily="34" charset="-122"/>
            </a:endParaRPr>
          </a:p>
        </p:txBody>
      </p:sp>
      <p:sp>
        <p:nvSpPr>
          <p:cNvPr id="9" name="文本框 8"/>
          <p:cNvSpPr txBox="1"/>
          <p:nvPr>
            <p:custDataLst>
              <p:tags r:id="rId4"/>
            </p:custDataLst>
          </p:nvPr>
        </p:nvSpPr>
        <p:spPr>
          <a:xfrm>
            <a:off x="6355057" y="2097858"/>
            <a:ext cx="4863399" cy="3448685"/>
          </a:xfrm>
          <a:prstGeom prst="rect">
            <a:avLst/>
          </a:prstGeom>
          <a:noFill/>
          <a:ln>
            <a:noFill/>
          </a:ln>
        </p:spPr>
        <p:txBody>
          <a:bodyPr wrap="square" rtlCol="0">
            <a:spAutoFit/>
          </a:bodyPr>
          <a:lstStyle/>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sym typeface="+mn-ea"/>
              </a:rPr>
              <a:t>自适应抗差算法通过动态调整卡尔曼滤波的观测权重（如抗差因子）和过程噪声协方差（如自适应因子），在粗差出现时抑制异常观测的影响，同时在</a:t>
            </a:r>
            <a:r>
              <a:rPr lang="en-US" altLang="zh-CN" sz="2400" dirty="0">
                <a:latin typeface="思源黑体 CN Regular" panose="020B0500000000000000" pitchFamily="34" charset="-122"/>
                <a:ea typeface="思源黑体 CN Regular" panose="020B0500000000000000" pitchFamily="34" charset="-122"/>
                <a:sym typeface="+mn-ea"/>
              </a:rPr>
              <a:t>GNSS</a:t>
            </a:r>
            <a:r>
              <a:rPr lang="zh-CN" altLang="en-US" sz="2400" dirty="0">
                <a:latin typeface="思源黑体 CN Regular" panose="020B0500000000000000" pitchFamily="34" charset="-122"/>
                <a:ea typeface="思源黑体 CN Regular" panose="020B0500000000000000" pitchFamily="34" charset="-122"/>
                <a:sym typeface="+mn-ea"/>
              </a:rPr>
              <a:t>信号弱或失锁时增强惯性导航的预测贡献，从而提升系统鲁棒性。</a:t>
            </a:r>
            <a:endParaRPr lang="en-US" altLang="zh-CN" sz="2400" dirty="0">
              <a:latin typeface="思源黑体 CN Regular" panose="020B0500000000000000" pitchFamily="34" charset="-122"/>
              <a:ea typeface="思源黑体 CN Regular" panose="020B0500000000000000" pitchFamily="34" charset="-122"/>
            </a:endParaRPr>
          </a:p>
        </p:txBody>
      </p:sp>
      <p:cxnSp>
        <p:nvCxnSpPr>
          <p:cNvPr id="10" name="直接连接符 9"/>
          <p:cNvCxnSpPr/>
          <p:nvPr>
            <p:custDataLst>
              <p:tags r:id="rId5"/>
            </p:custDataLst>
          </p:nvPr>
        </p:nvCxnSpPr>
        <p:spPr>
          <a:xfrm>
            <a:off x="6086475" y="2428126"/>
            <a:ext cx="0" cy="1500188"/>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6"/>
            </p:custDataLst>
          </p:nvPr>
        </p:nvSpPr>
        <p:spPr>
          <a:xfrm>
            <a:off x="2235200" y="1499235"/>
            <a:ext cx="6096000" cy="478155"/>
          </a:xfrm>
          <a:prstGeom prst="rect">
            <a:avLst/>
          </a:prstGeom>
          <a:noFill/>
        </p:spPr>
        <p:txBody>
          <a:bodyPr wrap="square" rtlCol="0" anchor="t">
            <a:spAutoFit/>
          </a:bodyPr>
          <a:p>
            <a:pPr algn="l">
              <a:lnSpc>
                <a:spcPct val="90000"/>
              </a:lnSpc>
              <a:buClrTx/>
              <a:buSzTx/>
              <a:buFontTx/>
            </a:pPr>
            <a:r>
              <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rPr>
              <a:t>为什么要抗差？</a:t>
            </a:r>
            <a:endPar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半闭框 79"/>
          <p:cNvSpPr/>
          <p:nvPr>
            <p:custDataLst>
              <p:tags r:id="rId1"/>
            </p:custDataLst>
          </p:nvPr>
        </p:nvSpPr>
        <p:spPr>
          <a:xfrm rot="10800000">
            <a:off x="9383613" y="4024213"/>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研究背景与意义</a:t>
            </a:r>
            <a:endParaRPr lang="zh-CN" altLang="en-US" dirty="0"/>
          </a:p>
        </p:txBody>
      </p:sp>
      <p:sp>
        <p:nvSpPr>
          <p:cNvPr id="5" name="半闭框 4"/>
          <p:cNvSpPr/>
          <p:nvPr>
            <p:custDataLst>
              <p:tags r:id="rId2"/>
            </p:custDataLst>
          </p:nvPr>
        </p:nvSpPr>
        <p:spPr>
          <a:xfrm>
            <a:off x="619077" y="1112530"/>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p:cNvSpPr txBox="1"/>
          <p:nvPr>
            <p:custDataLst>
              <p:tags r:id="rId3"/>
            </p:custDataLst>
          </p:nvPr>
        </p:nvSpPr>
        <p:spPr>
          <a:xfrm>
            <a:off x="1059729" y="2097858"/>
            <a:ext cx="4863399" cy="3448685"/>
          </a:xfrm>
          <a:prstGeom prst="rect">
            <a:avLst/>
          </a:prstGeom>
          <a:noFill/>
          <a:ln>
            <a:noFill/>
          </a:ln>
        </p:spPr>
        <p:txBody>
          <a:bodyPr wrap="square" rtlCol="0">
            <a:spAutoFit/>
          </a:bodyPr>
          <a:lstStyle/>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rPr>
              <a:t>紧组合直接利用</a:t>
            </a:r>
            <a:r>
              <a:rPr lang="en-US" altLang="zh-CN" sz="2400" dirty="0">
                <a:latin typeface="思源黑体 CN Regular" panose="020B0500000000000000" pitchFamily="34" charset="-122"/>
                <a:ea typeface="思源黑体 CN Regular" panose="020B0500000000000000" pitchFamily="34" charset="-122"/>
              </a:rPr>
              <a:t>GNSS</a:t>
            </a:r>
            <a:r>
              <a:rPr lang="zh-CN" altLang="en-US" sz="2400" dirty="0">
                <a:latin typeface="思源黑体 CN Regular" panose="020B0500000000000000" pitchFamily="34" charset="-122"/>
                <a:ea typeface="思源黑体 CN Regular" panose="020B0500000000000000" pitchFamily="34" charset="-122"/>
              </a:rPr>
              <a:t>接收机的伪距、伪距率、多普勒频移等原始观测值，而非松组合中依赖</a:t>
            </a:r>
            <a:r>
              <a:rPr lang="en-US" altLang="zh-CN" sz="2400" dirty="0">
                <a:latin typeface="思源黑体 CN Regular" panose="020B0500000000000000" pitchFamily="34" charset="-122"/>
                <a:ea typeface="思源黑体 CN Regular" panose="020B0500000000000000" pitchFamily="34" charset="-122"/>
              </a:rPr>
              <a:t>GNSS</a:t>
            </a:r>
            <a:r>
              <a:rPr lang="zh-CN" altLang="en-US" sz="2400" dirty="0">
                <a:latin typeface="思源黑体 CN Regular" panose="020B0500000000000000" pitchFamily="34" charset="-122"/>
                <a:ea typeface="思源黑体 CN Regular" panose="020B0500000000000000" pitchFamily="34" charset="-122"/>
              </a:rPr>
              <a:t>独立解算的位置</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速度信息。在卫星信号受干扰、遮挡或短暂失锁时，紧组合仍可通过多历元数据融合维持导航输出。</a:t>
            </a:r>
            <a:endParaRPr lang="en-US" altLang="zh-CN" sz="2400" dirty="0">
              <a:latin typeface="思源黑体 CN Regular" panose="020B0500000000000000" pitchFamily="34" charset="-122"/>
              <a:ea typeface="思源黑体 CN Regular" panose="020B0500000000000000" pitchFamily="34" charset="-122"/>
            </a:endParaRPr>
          </a:p>
        </p:txBody>
      </p:sp>
      <p:sp>
        <p:nvSpPr>
          <p:cNvPr id="9" name="文本框 8"/>
          <p:cNvSpPr txBox="1"/>
          <p:nvPr>
            <p:custDataLst>
              <p:tags r:id="rId4"/>
            </p:custDataLst>
          </p:nvPr>
        </p:nvSpPr>
        <p:spPr>
          <a:xfrm>
            <a:off x="6355057" y="2097858"/>
            <a:ext cx="4863399" cy="3928110"/>
          </a:xfrm>
          <a:prstGeom prst="rect">
            <a:avLst/>
          </a:prstGeom>
          <a:noFill/>
          <a:ln>
            <a:noFill/>
          </a:ln>
        </p:spPr>
        <p:txBody>
          <a:bodyPr wrap="square" rtlCol="0">
            <a:spAutoFit/>
          </a:bodyPr>
          <a:lstStyle/>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rPr>
              <a:t>即使卫星数降至</a:t>
            </a:r>
            <a:r>
              <a:rPr lang="en-US" altLang="zh-CN" sz="2400" dirty="0">
                <a:latin typeface="思源黑体 CN Regular" panose="020B0500000000000000" pitchFamily="34" charset="-122"/>
                <a:ea typeface="思源黑体 CN Regular" panose="020B0500000000000000" pitchFamily="34" charset="-122"/>
              </a:rPr>
              <a:t>3</a:t>
            </a:r>
            <a:r>
              <a:rPr lang="zh-CN" altLang="en-US" sz="2400" dirty="0">
                <a:latin typeface="思源黑体 CN Regular" panose="020B0500000000000000" pitchFamily="34" charset="-122"/>
                <a:ea typeface="思源黑体 CN Regular" panose="020B0500000000000000" pitchFamily="34" charset="-122"/>
              </a:rPr>
              <a:t>颗或更少，紧组合依旧可以利用连续多帧的伪距</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伪距率差异构建量测方程，抑制单次观测噪声，降低对卫星数量的依赖。抑或结合零速检测和丢星算法，在卫星短暂失锁时切换至纯惯导模式，并通过状态误差转移矩阵预测误差，减少恢复后的修正滞后。</a:t>
            </a:r>
            <a:endParaRPr lang="zh-CN" altLang="en-US" sz="2400" dirty="0">
              <a:latin typeface="思源黑体 CN Regular" panose="020B0500000000000000" pitchFamily="34" charset="-122"/>
              <a:ea typeface="思源黑体 CN Regular" panose="020B0500000000000000" pitchFamily="34" charset="-122"/>
            </a:endParaRPr>
          </a:p>
        </p:txBody>
      </p:sp>
      <p:cxnSp>
        <p:nvCxnSpPr>
          <p:cNvPr id="10" name="直接连接符 9"/>
          <p:cNvCxnSpPr/>
          <p:nvPr>
            <p:custDataLst>
              <p:tags r:id="rId5"/>
            </p:custDataLst>
          </p:nvPr>
        </p:nvCxnSpPr>
        <p:spPr>
          <a:xfrm>
            <a:off x="6086475" y="2428126"/>
            <a:ext cx="0" cy="1500188"/>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6"/>
            </p:custDataLst>
          </p:nvPr>
        </p:nvSpPr>
        <p:spPr>
          <a:xfrm>
            <a:off x="2235200" y="1499235"/>
            <a:ext cx="6096000" cy="478155"/>
          </a:xfrm>
          <a:prstGeom prst="rect">
            <a:avLst/>
          </a:prstGeom>
          <a:noFill/>
        </p:spPr>
        <p:txBody>
          <a:bodyPr wrap="square" rtlCol="0" anchor="t">
            <a:spAutoFit/>
          </a:bodyPr>
          <a:p>
            <a:pPr algn="l">
              <a:lnSpc>
                <a:spcPct val="90000"/>
              </a:lnSpc>
              <a:buClrTx/>
              <a:buSzTx/>
              <a:buFontTx/>
            </a:pPr>
            <a:r>
              <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rPr>
              <a:t>为什么要进行紧组合？</a:t>
            </a:r>
            <a:endPar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1810"/>
            <a:chOff x="7715247" y="881638"/>
            <a:chExt cx="3981451" cy="2891810"/>
          </a:xfrm>
        </p:grpSpPr>
        <p:sp>
          <p:nvSpPr>
            <p:cNvPr id="5" name="文本框 4"/>
            <p:cNvSpPr txBox="1"/>
            <p:nvPr/>
          </p:nvSpPr>
          <p:spPr>
            <a:xfrm>
              <a:off x="8495102" y="2328188"/>
              <a:ext cx="2421743" cy="144526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0 2</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922020"/>
          </a:xfrm>
          <a:prstGeom prst="rect">
            <a:avLst/>
          </a:prstGeom>
          <a:noFill/>
        </p:spPr>
        <p:txBody>
          <a:bodyPr wrap="square" rtlCol="0">
            <a:spAutoFit/>
          </a:bodyPr>
          <a:lstStyle/>
          <a:p>
            <a:pPr algn="ct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研究现状分析</a:t>
            </a: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640715" y="1944347"/>
            <a:ext cx="10910106" cy="2968625"/>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在复杂环境下，如城市峡谷、茂密森林等，</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信号容易受到干扰和遮挡，导致定位精度下降。同时，传统的标准卡尔曼滤波算法在面对异常观测时，性能会严重下降，甚至导致滤波发散。</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sym typeface="+mn-ea"/>
              </a:rPr>
              <a:t>为了解决上述问题，研究人员提出了自适应抗差滤波算法。该算法通过引入自适应因子和抗差因子，能够动态调节状态预测信息与观测信息的权重，有效抑制异常观测对导航解的污染。</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研究现状分析</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551180" y="2184377"/>
            <a:ext cx="10910106" cy="2489200"/>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目前，自适应抗差滤波算法的研究主要集中在改进自适应因子和抗差因子的构造方法，以提高算法在极端恶劣环境下的鲁棒性。例如，一些研究引入了双窗口</a:t>
            </a:r>
            <a:r>
              <a:rPr lang="en-US" altLang="zh-CN" sz="2400" spc="120" dirty="0">
                <a:latin typeface="思源黑体 CN Regular" panose="020B0500000000000000" pitchFamily="34" charset="-122"/>
                <a:ea typeface="思源黑体 CN Regular" panose="020B0500000000000000" pitchFamily="34" charset="-122"/>
              </a:rPr>
              <a:t>Sage-Husa</a:t>
            </a:r>
            <a:r>
              <a:rPr lang="zh-CN" altLang="en-US" sz="2400" spc="120" dirty="0">
                <a:latin typeface="思源黑体 CN Regular" panose="020B0500000000000000" pitchFamily="34" charset="-122"/>
                <a:ea typeface="思源黑体 CN Regular" panose="020B0500000000000000" pitchFamily="34" charset="-122"/>
              </a:rPr>
              <a:t>估计器、异常新息占比决策以及结合神经网络或平滑有界层故障检测等创新方法，提升了模型误差和观测异常识别的准确性与灵敏性。</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研究现状分析</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1810"/>
            <a:chOff x="7715247" y="881638"/>
            <a:chExt cx="3981451" cy="2891810"/>
          </a:xfrm>
        </p:grpSpPr>
        <p:sp>
          <p:nvSpPr>
            <p:cNvPr id="5" name="文本框 4"/>
            <p:cNvSpPr txBox="1"/>
            <p:nvPr/>
          </p:nvSpPr>
          <p:spPr>
            <a:xfrm>
              <a:off x="8495102" y="2328188"/>
              <a:ext cx="2421743" cy="144526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0 3</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922020"/>
          </a:xfrm>
          <a:prstGeom prst="rect">
            <a:avLst/>
          </a:prstGeom>
          <a:noFill/>
        </p:spPr>
        <p:txBody>
          <a:bodyPr wrap="square" rtlCol="0">
            <a:spAutoFit/>
          </a:bodyPr>
          <a:lstStyle/>
          <a:p>
            <a:pPr algn="l" eaLnBrk="1" hangingPunct="1">
              <a:lnSpc>
                <a:spcPct val="100000"/>
              </a:lnSpc>
              <a:spcBef>
                <a:spcPct val="0"/>
              </a:spcBef>
              <a:buFontTx/>
              <a:buNone/>
            </a:pP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研究内容与方法</a:t>
            </a: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407535"/>
          </a:xfrm>
          <a:prstGeom prst="rect">
            <a:avLst/>
          </a:prstGeom>
          <a:noFill/>
        </p:spPr>
        <p:txBody>
          <a:bodyPr wrap="square" rtlCol="0">
            <a:spAutoFit/>
          </a:bodyPr>
          <a:lstStyle/>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1 MEMS</a:t>
            </a:r>
            <a:r>
              <a:rPr lang="zh-CN" altLang="en-US" sz="2400" spc="120" dirty="0">
                <a:latin typeface="思源黑体 CN Regular" panose="020B0500000000000000" pitchFamily="34" charset="-122"/>
                <a:ea typeface="思源黑体 CN Regular" panose="020B0500000000000000" pitchFamily="34" charset="-122"/>
              </a:rPr>
              <a:t>惯性导航器件误差方程及量测方程建模</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MEMS</a:t>
            </a:r>
            <a:r>
              <a:rPr lang="zh-CN" altLang="en-US" sz="2400" spc="120" dirty="0">
                <a:latin typeface="思源黑体 CN Regular" panose="020B0500000000000000" pitchFamily="34" charset="-122"/>
                <a:ea typeface="思源黑体 CN Regular" panose="020B0500000000000000" pitchFamily="34" charset="-122"/>
              </a:rPr>
              <a:t>惯性导航器件的误差方程与量测方程建模是提升导航系统精度的核心环节。</a:t>
            </a:r>
            <a:r>
              <a:rPr lang="en-US" altLang="zh-CN" sz="2400" spc="120" dirty="0">
                <a:latin typeface="思源黑体 CN Regular" panose="020B0500000000000000" pitchFamily="34" charset="-122"/>
                <a:ea typeface="思源黑体 CN Regular" panose="020B0500000000000000" pitchFamily="34" charset="-122"/>
              </a:rPr>
              <a:t>MEMS</a:t>
            </a:r>
            <a:r>
              <a:rPr lang="zh-CN" altLang="en-US" sz="2400" spc="120" dirty="0">
                <a:latin typeface="思源黑体 CN Regular" panose="020B0500000000000000" pitchFamily="34" charset="-122"/>
                <a:ea typeface="思源黑体 CN Regular" panose="020B0500000000000000" pitchFamily="34" charset="-122"/>
              </a:rPr>
              <a:t>惯性传感器的误差主要分为确定性误差和随机误差，确定性误差可通过实验室标定补偿，随机误差则需使用时间序列分析或随机过程方法建模。</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建立误差方程时，通常采用状态空间模型，将姿态误差、速度误差、位置误差以及传感器零偏等作为状态变量，通过一阶线性化方法推导其微分方程。量测方程建模依赖于外部参考信息与惯性导航解算值之间的差异，松组合和紧组合模式下的量测方程构建方式不同。</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t>研究内容与方法</a:t>
            </a:r>
            <a:endParaRPr lang="zh-CN" alt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3448685"/>
          </a:xfrm>
          <a:prstGeom prst="rect">
            <a:avLst/>
          </a:prstGeom>
          <a:noFill/>
        </p:spPr>
        <p:txBody>
          <a:bodyPr wrap="square" rtlCol="0">
            <a:spAutoFit/>
          </a:bodyPr>
          <a:lstStyle/>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2 MEMS</a:t>
            </a:r>
            <a:r>
              <a:rPr lang="zh-CN" altLang="en-US" sz="2400" spc="120" dirty="0">
                <a:latin typeface="思源黑体 CN Regular" panose="020B0500000000000000" pitchFamily="34" charset="-122"/>
                <a:ea typeface="思源黑体 CN Regular" panose="020B0500000000000000" pitchFamily="34" charset="-122"/>
              </a:rPr>
              <a:t>微惯性系统初始对准方法研究</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MEMS</a:t>
            </a:r>
            <a:r>
              <a:rPr lang="zh-CN" altLang="en-US" sz="2400" spc="120" dirty="0">
                <a:latin typeface="思源黑体 CN Regular" panose="020B0500000000000000" pitchFamily="34" charset="-122"/>
                <a:ea typeface="思源黑体 CN Regular" panose="020B0500000000000000" pitchFamily="34" charset="-122"/>
              </a:rPr>
              <a:t>惯性器件在民用导航系统中应用广泛，但在动基座条件下难以实现有效自对准。传递对准技术通过主平台上的高精度主惯导系统，向</a:t>
            </a:r>
            <a:r>
              <a:rPr lang="en-US" altLang="zh-CN" sz="2400" spc="120" dirty="0">
                <a:latin typeface="思源黑体 CN Regular" panose="020B0500000000000000" pitchFamily="34" charset="-122"/>
                <a:ea typeface="思源黑体 CN Regular" panose="020B0500000000000000" pitchFamily="34" charset="-122"/>
              </a:rPr>
              <a:t>MEMS</a:t>
            </a:r>
            <a:r>
              <a:rPr lang="zh-CN" altLang="en-US" sz="2400" spc="120" dirty="0">
                <a:latin typeface="思源黑体 CN Regular" panose="020B0500000000000000" pitchFamily="34" charset="-122"/>
                <a:ea typeface="思源黑体 CN Regular" panose="020B0500000000000000" pitchFamily="34" charset="-122"/>
              </a:rPr>
              <a:t>子惯导系统传递姿态、速度等基准信息，实现快速精确的初始对准。</a:t>
            </a:r>
            <a:r>
              <a:rPr lang="en-US" altLang="zh-CN" sz="2400" spc="120" dirty="0">
                <a:latin typeface="思源黑体 CN Regular" panose="020B0500000000000000" pitchFamily="34" charset="-122"/>
                <a:ea typeface="思源黑体 CN Regular" panose="020B0500000000000000" pitchFamily="34" charset="-122"/>
              </a:rPr>
              <a:t>	</a:t>
            </a:r>
            <a:endParaRPr lang="en-US" altLang="zh-CN"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精确的初始传递对准为后续</a:t>
            </a:r>
            <a:r>
              <a:rPr lang="en-US" altLang="zh-CN" sz="2400" spc="120" dirty="0">
                <a:latin typeface="思源黑体 CN Regular" panose="020B0500000000000000" pitchFamily="34" charset="-122"/>
                <a:ea typeface="思源黑体 CN Regular" panose="020B0500000000000000" pitchFamily="34" charset="-122"/>
              </a:rPr>
              <a:t>GNSS/INS</a:t>
            </a:r>
            <a:r>
              <a:rPr lang="zh-CN" altLang="en-US" sz="2400" spc="120" dirty="0">
                <a:latin typeface="思源黑体 CN Regular" panose="020B0500000000000000" pitchFamily="34" charset="-122"/>
                <a:ea typeface="思源黑体 CN Regular" panose="020B0500000000000000" pitchFamily="34" charset="-122"/>
              </a:rPr>
              <a:t>组合导航的快速收敛奠定了基础，能显著缩短滤波器的收敛时间，降低计算负担，提高系统在复杂环境下的初始精度和整体可靠性。</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研究内容与方法</a:t>
            </a:r>
            <a:endParaRPr lang="zh-CN" altLang="en-US"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887595"/>
          </a:xfrm>
          <a:prstGeom prst="rect">
            <a:avLst/>
          </a:prstGeom>
          <a:noFill/>
        </p:spPr>
        <p:txBody>
          <a:bodyPr wrap="square" rtlCol="0">
            <a:spAutoFit/>
          </a:bodyPr>
          <a:lstStyle/>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3 GNSS/INS</a:t>
            </a:r>
            <a:r>
              <a:rPr lang="zh-CN" altLang="en-US" sz="2400" spc="120" dirty="0">
                <a:latin typeface="思源黑体 CN Regular" panose="020B0500000000000000" pitchFamily="34" charset="-122"/>
                <a:ea typeface="思源黑体 CN Regular" panose="020B0500000000000000" pitchFamily="34" charset="-122"/>
              </a:rPr>
              <a:t>自适应抗差组合导航方法研究</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GNSS/INS</a:t>
            </a:r>
            <a:r>
              <a:rPr lang="zh-CN" altLang="en-US" sz="2400" spc="120" dirty="0">
                <a:latin typeface="思源黑体 CN Regular" panose="020B0500000000000000" pitchFamily="34" charset="-122"/>
                <a:ea typeface="思源黑体 CN Regular" panose="020B0500000000000000" pitchFamily="34" charset="-122"/>
              </a:rPr>
              <a:t>自适应抗差组合导航方法的核心是引入自适应因子和抗差因子，智能平衡动力学模型预测信息与观测信息在状态估计中的权重。通过利用滤波过程中的新息向量或预测残差构造判别统计量，当统计量表明动力学模型预测不可靠或观测值存在粗差时，相应因子会调整状态预测协方差矩阵或观测噪声协方差矩阵。</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松组合和紧组合模式下，自适应抗差组合导航方法面临不同的挑战。松组合对观测异常敏感，紧组合各卫星观测值易受个别粗差影响，且卫星几何结构对滤波稳定性影响显著，因此需要针对性地调整量测噪声阵，以确保系统正常运行。</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研究内容与方法</a:t>
            </a:r>
            <a:endParaRPr lang="zh-CN" altLang="en-US"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407535"/>
          </a:xfrm>
          <a:prstGeom prst="rect">
            <a:avLst/>
          </a:prstGeom>
          <a:noFill/>
        </p:spPr>
        <p:txBody>
          <a:bodyPr wrap="square" rtlCol="0">
            <a:spAutoFit/>
          </a:bodyPr>
          <a:lstStyle/>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4 GNSS/INS</a:t>
            </a:r>
            <a:r>
              <a:rPr lang="zh-CN" altLang="en-US" sz="2400" spc="120" dirty="0">
                <a:latin typeface="思源黑体 CN Regular" panose="020B0500000000000000" pitchFamily="34" charset="-122"/>
                <a:ea typeface="思源黑体 CN Regular" panose="020B0500000000000000" pitchFamily="34" charset="-122"/>
              </a:rPr>
              <a:t>组合导航系统测试平台搭建</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选用</a:t>
            </a:r>
            <a:r>
              <a:rPr lang="en-US" altLang="zh-CN" sz="2400" spc="120" dirty="0">
                <a:latin typeface="思源黑体 CN Regular" panose="020B0500000000000000" pitchFamily="34" charset="-122"/>
                <a:ea typeface="思源黑体 CN Regular" panose="020B0500000000000000" pitchFamily="34" charset="-122"/>
              </a:rPr>
              <a:t>STM32H743</a:t>
            </a:r>
            <a:r>
              <a:rPr lang="zh-CN" altLang="en-US" sz="2400" spc="120" dirty="0">
                <a:latin typeface="思源黑体 CN Regular" panose="020B0500000000000000" pitchFamily="34" charset="-122"/>
                <a:ea typeface="思源黑体 CN Regular" panose="020B0500000000000000" pitchFamily="34" charset="-122"/>
              </a:rPr>
              <a:t>作为导航系统的主控模块，集成微惯性测量单元（</a:t>
            </a:r>
            <a:r>
              <a:rPr lang="en-US" altLang="zh-CN" sz="2400" spc="120" dirty="0">
                <a:latin typeface="思源黑体 CN Regular" panose="020B0500000000000000" pitchFamily="34" charset="-122"/>
                <a:ea typeface="思源黑体 CN Regular" panose="020B0500000000000000" pitchFamily="34" charset="-122"/>
              </a:rPr>
              <a:t>IMU</a:t>
            </a:r>
            <a:r>
              <a:rPr lang="zh-CN" altLang="en-US" sz="2400" spc="120" dirty="0">
                <a:latin typeface="思源黑体 CN Regular" panose="020B0500000000000000" pitchFamily="34" charset="-122"/>
                <a:ea typeface="思源黑体 CN Regular" panose="020B0500000000000000" pitchFamily="34" charset="-122"/>
              </a:rPr>
              <a:t>）与</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板卡，搭建完整的组合导航系统平台。该平台需满足低功耗与便携轻量化的需求，确保系统稳定可靠。</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在搭建过程中，需要解决数据收发稳定性、高精度时间同步、环境适应性以及硬件集成优化等问题。例如，通过硬件触发信号和精密软件时间戳机制实现数据的高精度时间对齐，利用被动热管理方式抑制</a:t>
            </a:r>
            <a:r>
              <a:rPr lang="en-US" altLang="zh-CN" sz="2400" spc="120" dirty="0">
                <a:latin typeface="思源黑体 CN Regular" panose="020B0500000000000000" pitchFamily="34" charset="-122"/>
                <a:ea typeface="思源黑体 CN Regular" panose="020B0500000000000000" pitchFamily="34" charset="-122"/>
              </a:rPr>
              <a:t>MEMS</a:t>
            </a:r>
            <a:r>
              <a:rPr lang="zh-CN" altLang="en-US" sz="2400" spc="120" dirty="0">
                <a:latin typeface="思源黑体 CN Regular" panose="020B0500000000000000" pitchFamily="34" charset="-122"/>
                <a:ea typeface="思源黑体 CN Regular" panose="020B0500000000000000" pitchFamily="34" charset="-122"/>
              </a:rPr>
              <a:t>惯性传感器的热漂移，对</a:t>
            </a:r>
            <a:r>
              <a:rPr lang="en-US" altLang="zh-CN" sz="2400" spc="120" dirty="0">
                <a:latin typeface="思源黑体 CN Regular" panose="020B0500000000000000" pitchFamily="34" charset="-122"/>
                <a:ea typeface="思源黑体 CN Regular" panose="020B0500000000000000" pitchFamily="34" charset="-122"/>
              </a:rPr>
              <a:t>PCB</a:t>
            </a:r>
            <a:r>
              <a:rPr lang="zh-CN" altLang="en-US" sz="2400" spc="120" dirty="0">
                <a:latin typeface="思源黑体 CN Regular" panose="020B0500000000000000" pitchFamily="34" charset="-122"/>
                <a:ea typeface="思源黑体 CN Regular" panose="020B0500000000000000" pitchFamily="34" charset="-122"/>
              </a:rPr>
              <a:t>集成设计进行优化以实现产品的小型化、轻量化与低成本目标。</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研究内容与方法</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1810"/>
            <a:chOff x="7715247" y="881638"/>
            <a:chExt cx="3981451" cy="2891810"/>
          </a:xfrm>
        </p:grpSpPr>
        <p:sp>
          <p:nvSpPr>
            <p:cNvPr id="5" name="文本框 4"/>
            <p:cNvSpPr txBox="1"/>
            <p:nvPr/>
          </p:nvSpPr>
          <p:spPr>
            <a:xfrm>
              <a:off x="8495102" y="2328188"/>
              <a:ext cx="2421743" cy="144526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0 4</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1753235"/>
          </a:xfrm>
          <a:prstGeom prst="rect">
            <a:avLst/>
          </a:prstGeom>
          <a:noFill/>
        </p:spPr>
        <p:txBody>
          <a:bodyPr wrap="square" rtlCol="0">
            <a:spAutoFit/>
          </a:bodyPr>
          <a:lstStyle/>
          <a:p>
            <a:pPr algn="l" eaLnBrk="1" hangingPunct="1">
              <a:lnSpc>
                <a:spcPct val="100000"/>
              </a:lnSpc>
              <a:spcBef>
                <a:spcPct val="0"/>
              </a:spcBef>
              <a:buFontTx/>
              <a:buNone/>
            </a:pP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预期解决的主要</a:t>
            </a:r>
            <a:r>
              <a:rPr lang="en-US" altLang="zh-CN" sz="5400" b="1" dirty="0">
                <a:solidFill>
                  <a:srgbClr val="8F1E8C"/>
                </a:solidFill>
                <a:latin typeface="思源黑体 CN Regular" panose="020B0500000000000000" pitchFamily="34" charset="-122"/>
                <a:ea typeface="思源黑体 CN Regular" panose="020B0500000000000000" pitchFamily="34" charset="-122"/>
                <a:sym typeface="+mn-ea"/>
              </a:rPr>
              <a:t>        </a:t>
            </a: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问题及思路</a:t>
            </a: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407535"/>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如何对组合导航系统的状态方程进行高精度建模？</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问题：传统组合导航状态模型未能充分表征实际系统中的非理想因素，如</a:t>
            </a:r>
            <a:r>
              <a:rPr lang="en-US" altLang="zh-CN" sz="2400" spc="120" dirty="0">
                <a:latin typeface="思源黑体 CN Regular" panose="020B0500000000000000" pitchFamily="34" charset="-122"/>
                <a:ea typeface="思源黑体 CN Regular" panose="020B0500000000000000" pitchFamily="34" charset="-122"/>
              </a:rPr>
              <a:t>IMU</a:t>
            </a:r>
            <a:r>
              <a:rPr lang="zh-CN" altLang="en-US" sz="2400" spc="120" dirty="0">
                <a:latin typeface="思源黑体 CN Regular" panose="020B0500000000000000" pitchFamily="34" charset="-122"/>
                <a:ea typeface="思源黑体 CN Regular" panose="020B0500000000000000" pitchFamily="34" charset="-122"/>
              </a:rPr>
              <a:t>与</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天线间的空间杆臂误差、时间误差，以及在复杂环境下</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观测值易受粗差污染、载体剧烈机动导致动力学模型失准，这些问题会破坏滤波准确性，使标准滤波算法性能下降甚至发散。</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思路：构建一个更完备的</a:t>
            </a:r>
            <a:r>
              <a:rPr lang="en-US" altLang="zh-CN" sz="2400" spc="120" dirty="0">
                <a:latin typeface="思源黑体 CN Regular" panose="020B0500000000000000" pitchFamily="34" charset="-122"/>
                <a:ea typeface="思源黑体 CN Regular" panose="020B0500000000000000" pitchFamily="34" charset="-122"/>
              </a:rPr>
              <a:t>19</a:t>
            </a:r>
            <a:r>
              <a:rPr lang="zh-CN" altLang="en-US" sz="2400" spc="120" dirty="0">
                <a:latin typeface="思源黑体 CN Regular" panose="020B0500000000000000" pitchFamily="34" charset="-122"/>
                <a:ea typeface="思源黑体 CN Regular" panose="020B0500000000000000" pitchFamily="34" charset="-122"/>
              </a:rPr>
              <a:t>维自适应抗差滤波框架，在</a:t>
            </a:r>
            <a:r>
              <a:rPr lang="en-US" altLang="zh-CN" sz="2400" spc="120" dirty="0">
                <a:latin typeface="思源黑体 CN Regular" panose="020B0500000000000000" pitchFamily="34" charset="-122"/>
                <a:ea typeface="思源黑体 CN Regular" panose="020B0500000000000000" pitchFamily="34" charset="-122"/>
              </a:rPr>
              <a:t>15</a:t>
            </a:r>
            <a:r>
              <a:rPr lang="zh-CN" altLang="en-US" sz="2400" spc="120" dirty="0">
                <a:latin typeface="思源黑体 CN Regular" panose="020B0500000000000000" pitchFamily="34" charset="-122"/>
                <a:ea typeface="思源黑体 CN Regular" panose="020B0500000000000000" pitchFamily="34" charset="-122"/>
              </a:rPr>
              <a:t>维状态基础上，将</a:t>
            </a:r>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维杆臂误差向量和</a:t>
            </a:r>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维</a:t>
            </a:r>
            <a:r>
              <a:rPr lang="en-US" altLang="zh-CN" sz="2400" spc="120" dirty="0">
                <a:latin typeface="思源黑体 CN Regular" panose="020B0500000000000000" pitchFamily="34" charset="-122"/>
                <a:ea typeface="思源黑体 CN Regular" panose="020B0500000000000000" pitchFamily="34" charset="-122"/>
              </a:rPr>
              <a:t>IMU</a:t>
            </a:r>
            <a:r>
              <a:rPr lang="zh-CN" altLang="en-US" sz="2400" spc="120" dirty="0">
                <a:latin typeface="思源黑体 CN Regular" panose="020B0500000000000000" pitchFamily="34" charset="-122"/>
                <a:ea typeface="思源黑体 CN Regular" panose="020B0500000000000000" pitchFamily="34" charset="-122"/>
              </a:rPr>
              <a:t>与</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之间的时间不同步误差增广为新的状态变量进行在线实时估计与补偿，从而精确刻画空间几何与时间异步关系，实现组合导航状态方程的高精度建模。</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a:xfrm>
            <a:off x="485775" y="475492"/>
            <a:ext cx="4783090" cy="672105"/>
          </a:xfrm>
        </p:spPr>
        <p:txBody>
          <a:bodyPr/>
          <a:lstStyle/>
          <a:p>
            <a:r>
              <a:rPr lang="zh-CN" altLang="en-US" b="1" dirty="0"/>
              <a:t>预期解决的主要问题及思路</a:t>
            </a:r>
            <a:br>
              <a:rPr lang="zh-CN" altLang="en-US" dirty="0"/>
            </a:b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887595"/>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如何在复杂环境下进行粗差探测以及自适应抗差处理</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问题：复杂环境下，</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观测值易受多路径效应、信号遮挡等干扰产生粗差，载体大幅度机动会引起动力学模型异常，导致标准滤波算法性能严重下降甚至发散，且在可见卫星数不足或卫星几何构型较差等极端条件下，传统异常判别统计量可能失效。</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思路：设计一种智能滤波机制，构建基于滤波过程中产生的统计量的异常探测机制。当探测到</a:t>
            </a:r>
            <a:r>
              <a:rPr lang="en-US" altLang="zh-CN" sz="2400" spc="120" dirty="0">
                <a:latin typeface="思源黑体 CN Regular" panose="020B0500000000000000" pitchFamily="34" charset="-122"/>
                <a:ea typeface="思源黑体 CN Regular" panose="020B0500000000000000" pitchFamily="34" charset="-122"/>
              </a:rPr>
              <a:t>GNSS</a:t>
            </a:r>
            <a:r>
              <a:rPr lang="zh-CN" altLang="en-US" sz="2400" spc="120" dirty="0">
                <a:latin typeface="思源黑体 CN Regular" panose="020B0500000000000000" pitchFamily="34" charset="-122"/>
                <a:ea typeface="思源黑体 CN Regular" panose="020B0500000000000000" pitchFamily="34" charset="-122"/>
              </a:rPr>
              <a:t>观测存在粗差时，通过抗差因子降低甚至剔除异常观测的影响；当检测到载体大幅度机动导致动力学模型不可靠时，则通过自适应因子降低状态预测信息的权重，增强对观测信息的信赖。同时，研究在极端条件下的异常判别方法，确保算法的鲁棒性。</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预期解决的主要问题及思路</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20370" y="1038837"/>
            <a:ext cx="10910106" cy="4407535"/>
          </a:xfrm>
          <a:prstGeom prst="rect">
            <a:avLst/>
          </a:prstGeom>
          <a:noFill/>
        </p:spPr>
        <p:txBody>
          <a:bodyPr wrap="square" rtlCol="0">
            <a:spAutoFit/>
          </a:bodyPr>
          <a:lstStyle/>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如何构建一套完整可靠的组合导航系统测试平台？</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问题：构建完整可靠的组合导航系统测试平台需要解决数据收发稳定性、高精度时间同步、环境适应性以及硬件集成优化等多项问题。在验证策略上，需要提高测试效率和充分性。</a:t>
            </a:r>
            <a:endParaRPr lang="zh-CN" altLang="en-US" sz="2400" spc="120" dirty="0">
              <a:latin typeface="思源黑体 CN Regular" panose="020B0500000000000000" pitchFamily="34" charset="-122"/>
              <a:ea typeface="思源黑体 CN Regular" panose="020B0500000000000000" pitchFamily="34" charset="-122"/>
            </a:endParaRPr>
          </a:p>
          <a:p>
            <a:pPr indent="720090">
              <a:lnSpc>
                <a:spcPct val="130000"/>
              </a:lnSpc>
            </a:pPr>
            <a:r>
              <a:rPr lang="zh-CN" altLang="en-US" sz="2400" spc="120" dirty="0">
                <a:latin typeface="思源黑体 CN Regular" panose="020B0500000000000000" pitchFamily="34" charset="-122"/>
                <a:ea typeface="思源黑体 CN Regular" panose="020B0500000000000000" pitchFamily="34" charset="-122"/>
              </a:rPr>
              <a:t>思路：在数据层面，依赖硬件触发信号和精密软件时间戳机制实现数据的稳定接收与高精度时间对齐；通过被动热管理方式，如利用相变材料、散热垫片等抑制热漂移；对</a:t>
            </a:r>
            <a:r>
              <a:rPr lang="en-US" altLang="zh-CN" sz="2400" spc="120" dirty="0">
                <a:latin typeface="思源黑体 CN Regular" panose="020B0500000000000000" pitchFamily="34" charset="-122"/>
                <a:ea typeface="思源黑体 CN Regular" panose="020B0500000000000000" pitchFamily="34" charset="-122"/>
              </a:rPr>
              <a:t>PCB</a:t>
            </a:r>
            <a:r>
              <a:rPr lang="zh-CN" altLang="en-US" sz="2400" spc="120" dirty="0">
                <a:latin typeface="思源黑体 CN Regular" panose="020B0500000000000000" pitchFamily="34" charset="-122"/>
                <a:ea typeface="思源黑体 CN Regular" panose="020B0500000000000000" pitchFamily="34" charset="-122"/>
              </a:rPr>
              <a:t>集成设计进行优化，采用小型化表贴封装、双面布局和模块化分区等；在验证策略上，采用</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一次录制多次回放</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的混合测试方法，降低测试成本，便于复现极端场景。</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预期解决的主要问题及思路</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1810"/>
            <a:chOff x="7715247" y="881638"/>
            <a:chExt cx="3981451" cy="2891810"/>
          </a:xfrm>
        </p:grpSpPr>
        <p:sp>
          <p:nvSpPr>
            <p:cNvPr id="5" name="文本框 4"/>
            <p:cNvSpPr txBox="1"/>
            <p:nvPr/>
          </p:nvSpPr>
          <p:spPr>
            <a:xfrm>
              <a:off x="8495102" y="2328188"/>
              <a:ext cx="2421743" cy="144526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0 5</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1753235"/>
          </a:xfrm>
          <a:prstGeom prst="rect">
            <a:avLst/>
          </a:prstGeom>
          <a:noFill/>
        </p:spPr>
        <p:txBody>
          <a:bodyPr wrap="square" rtlCol="0">
            <a:spAutoFit/>
          </a:bodyPr>
          <a:lstStyle/>
          <a:p>
            <a:pPr marL="457200" lvl="1" indent="457200" algn="l" eaLnBrk="1" hangingPunct="1">
              <a:lnSpc>
                <a:spcPct val="100000"/>
              </a:lnSpc>
              <a:spcBef>
                <a:spcPct val="0"/>
              </a:spcBef>
              <a:buFontTx/>
              <a:buNone/>
            </a:pPr>
            <a:r>
              <a:rPr lang="zh-CN" altLang="en-US" sz="5400" b="1" dirty="0">
                <a:solidFill>
                  <a:srgbClr val="8F1E8C"/>
                </a:solidFill>
                <a:latin typeface="思源黑体 CN Regular" panose="020B0500000000000000" pitchFamily="34" charset="-122"/>
                <a:ea typeface="思源黑体 CN Regular" panose="020B0500000000000000" pitchFamily="34" charset="-122"/>
                <a:sym typeface="+mn-ea"/>
              </a:rPr>
              <a:t>开题条件</a:t>
            </a:r>
            <a:endParaRPr lang="zh-CN" altLang="en-US" sz="5400" b="1" dirty="0">
              <a:solidFill>
                <a:srgbClr val="8F1E8C"/>
              </a:solidFill>
              <a:latin typeface="思源黑体 CN Regular" panose="020B0500000000000000" pitchFamily="34" charset="-122"/>
              <a:ea typeface="思源黑体 CN Regular" panose="020B0500000000000000" pitchFamily="34" charset="-122"/>
            </a:endParaRPr>
          </a:p>
          <a:p>
            <a:pPr algn="l" eaLnBrk="1" hangingPunct="1">
              <a:lnSpc>
                <a:spcPct val="100000"/>
              </a:lnSpc>
              <a:spcBef>
                <a:spcPct val="0"/>
              </a:spcBef>
              <a:buFontTx/>
              <a:buNone/>
            </a:pP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半闭框 79"/>
          <p:cNvSpPr/>
          <p:nvPr>
            <p:custDataLst>
              <p:tags r:id="rId1"/>
            </p:custDataLst>
          </p:nvPr>
        </p:nvSpPr>
        <p:spPr>
          <a:xfrm rot="10800000">
            <a:off x="9383613" y="4024213"/>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zh-CN" altLang="en-US" b="1" dirty="0">
                <a:sym typeface="+mn-ea"/>
              </a:rPr>
              <a:t>开题条件</a:t>
            </a:r>
            <a:endParaRPr lang="zh-CN" altLang="en-US" dirty="0"/>
          </a:p>
        </p:txBody>
      </p:sp>
      <p:sp>
        <p:nvSpPr>
          <p:cNvPr id="5" name="半闭框 4"/>
          <p:cNvSpPr/>
          <p:nvPr>
            <p:custDataLst>
              <p:tags r:id="rId2"/>
            </p:custDataLst>
          </p:nvPr>
        </p:nvSpPr>
        <p:spPr>
          <a:xfrm>
            <a:off x="619077" y="1112530"/>
            <a:ext cx="2313087" cy="2313087"/>
          </a:xfrm>
          <a:prstGeom prst="halfFrame">
            <a:avLst>
              <a:gd name="adj1" fmla="val 11965"/>
              <a:gd name="adj2" fmla="val 10896"/>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p:cNvSpPr txBox="1"/>
          <p:nvPr>
            <p:custDataLst>
              <p:tags r:id="rId3"/>
            </p:custDataLst>
          </p:nvPr>
        </p:nvSpPr>
        <p:spPr>
          <a:xfrm>
            <a:off x="1059729" y="1970223"/>
            <a:ext cx="4863399" cy="4887595"/>
          </a:xfrm>
          <a:prstGeom prst="rect">
            <a:avLst/>
          </a:prstGeom>
          <a:noFill/>
          <a:ln>
            <a:noFill/>
          </a:ln>
        </p:spPr>
        <p:txBody>
          <a:bodyPr wrap="square" rtlCol="0">
            <a:spAutoFit/>
          </a:bodyPr>
          <a:lstStyle/>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rPr>
              <a:t>本课题由在惯性导航与组合导航领域深耕十余年的徐祥老师指导。徐老师在惯性导航算法、系统设计，多源融合理论，姿态估计，惯性传感器标定及阵列传感器技术方向有深厚的理论基础与工程经验。</a:t>
            </a:r>
            <a:endParaRPr lang="zh-CN" altLang="en-US" sz="2400" dirty="0">
              <a:latin typeface="思源黑体 CN Regular" panose="020B0500000000000000" pitchFamily="34" charset="-122"/>
              <a:ea typeface="思源黑体 CN Regular" panose="020B0500000000000000" pitchFamily="34" charset="-122"/>
            </a:endParaRPr>
          </a:p>
          <a:p>
            <a:pPr indent="457200">
              <a:lnSpc>
                <a:spcPct val="130000"/>
              </a:lnSpc>
            </a:pPr>
            <a:r>
              <a:rPr lang="zh-CN" altLang="en-US" sz="2400" dirty="0">
                <a:latin typeface="思源黑体 CN Regular" panose="020B0500000000000000" pitchFamily="34" charset="-122"/>
                <a:ea typeface="思源黑体 CN Regular" panose="020B0500000000000000" pitchFamily="34" charset="-122"/>
              </a:rPr>
              <a:t>本人在研一期间阅读了大量</a:t>
            </a:r>
            <a:r>
              <a:rPr lang="en-US" altLang="zh-CN" sz="2400" dirty="0">
                <a:latin typeface="思源黑体 CN Regular" panose="020B0500000000000000" pitchFamily="34" charset="-122"/>
                <a:ea typeface="思源黑体 CN Regular" panose="020B0500000000000000" pitchFamily="34" charset="-122"/>
              </a:rPr>
              <a:t>GNSS/INS</a:t>
            </a:r>
            <a:r>
              <a:rPr lang="zh-CN" altLang="en-US" sz="2400" dirty="0">
                <a:latin typeface="思源黑体 CN Regular" panose="020B0500000000000000" pitchFamily="34" charset="-122"/>
                <a:ea typeface="思源黑体 CN Regular" panose="020B0500000000000000" pitchFamily="34" charset="-122"/>
              </a:rPr>
              <a:t>组合导航相关的书籍与文献，在此基础上确定了研究方向，已经具备一定的理论基础。</a:t>
            </a:r>
            <a:endParaRPr lang="zh-CN" altLang="en-US" sz="2400" dirty="0">
              <a:latin typeface="思源黑体 CN Regular" panose="020B0500000000000000" pitchFamily="34" charset="-122"/>
              <a:ea typeface="思源黑体 CN Regular" panose="020B0500000000000000" pitchFamily="34" charset="-122"/>
            </a:endParaRPr>
          </a:p>
        </p:txBody>
      </p:sp>
      <p:cxnSp>
        <p:nvCxnSpPr>
          <p:cNvPr id="10" name="直接连接符 9"/>
          <p:cNvCxnSpPr/>
          <p:nvPr>
            <p:custDataLst>
              <p:tags r:id="rId4"/>
            </p:custDataLst>
          </p:nvPr>
        </p:nvCxnSpPr>
        <p:spPr>
          <a:xfrm>
            <a:off x="6086475" y="2428126"/>
            <a:ext cx="0" cy="1500188"/>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5"/>
            </p:custDataLst>
          </p:nvPr>
        </p:nvSpPr>
        <p:spPr>
          <a:xfrm>
            <a:off x="2235200" y="1499235"/>
            <a:ext cx="6096000" cy="478155"/>
          </a:xfrm>
          <a:prstGeom prst="rect">
            <a:avLst/>
          </a:prstGeom>
          <a:noFill/>
        </p:spPr>
        <p:txBody>
          <a:bodyPr wrap="square" rtlCol="0" anchor="t">
            <a:spAutoFit/>
          </a:bodyPr>
          <a:p>
            <a:pPr algn="l">
              <a:lnSpc>
                <a:spcPct val="90000"/>
              </a:lnSpc>
              <a:buClrTx/>
              <a:buSzTx/>
              <a:buFontTx/>
            </a:pPr>
            <a:r>
              <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rPr>
              <a:t>学术条件</a:t>
            </a:r>
            <a:endPar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sym typeface="+mn-ea"/>
            </a:endParaRPr>
          </a:p>
        </p:txBody>
      </p:sp>
      <p:sp>
        <p:nvSpPr>
          <p:cNvPr id="2" name="文本框 1"/>
          <p:cNvSpPr txBox="1"/>
          <p:nvPr/>
        </p:nvSpPr>
        <p:spPr>
          <a:xfrm>
            <a:off x="7785100" y="1321435"/>
            <a:ext cx="6096000" cy="521970"/>
          </a:xfrm>
          <a:prstGeom prst="rect">
            <a:avLst/>
          </a:prstGeom>
          <a:noFill/>
        </p:spPr>
        <p:txBody>
          <a:bodyPr wrap="square" rtlCol="0" anchor="t">
            <a:spAutoFit/>
          </a:bodyPr>
          <a:p>
            <a:r>
              <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rPr>
              <a:t>设备条件</a:t>
            </a:r>
            <a:endParaRPr lang="zh-CN" altLang="en-US" sz="2800" b="1" dirty="0">
              <a:solidFill>
                <a:srgbClr val="8F1E8C"/>
              </a:solidFill>
              <a:latin typeface="思源黑体 CN Regular" panose="020B0500000000000000" pitchFamily="34" charset="-122"/>
              <a:ea typeface="思源黑体 CN Regular" panose="020B0500000000000000" pitchFamily="34" charset="-122"/>
              <a:cs typeface="+mj-cs"/>
            </a:endParaRPr>
          </a:p>
        </p:txBody>
      </p:sp>
      <p:sp>
        <p:nvSpPr>
          <p:cNvPr id="8" name="文本框 7"/>
          <p:cNvSpPr txBox="1"/>
          <p:nvPr/>
        </p:nvSpPr>
        <p:spPr>
          <a:xfrm>
            <a:off x="6085840" y="2069465"/>
            <a:ext cx="5249545" cy="4154170"/>
          </a:xfrm>
          <a:prstGeom prst="rect">
            <a:avLst/>
          </a:prstGeom>
          <a:noFill/>
        </p:spPr>
        <p:txBody>
          <a:bodyPr wrap="square" rtlCol="0" anchor="t">
            <a:spAutoFit/>
          </a:bodyPr>
          <a:p>
            <a:pPr indent="457200"/>
            <a:r>
              <a:rPr lang="zh-CN" altLang="en-US" sz="2400" dirty="0">
                <a:latin typeface="思源黑体 CN Regular" panose="020B0500000000000000" pitchFamily="34" charset="-122"/>
                <a:ea typeface="思源黑体 CN Regular" panose="020B0500000000000000" pitchFamily="34" charset="-122"/>
              </a:rPr>
              <a:t>拥有多款捷联惯导测量单元，包括MEMS与光纤惯导，能够提供不同精度等级的惯性测量数据，满足不同实验需求。</a:t>
            </a:r>
            <a:endParaRPr lang="zh-CN" altLang="en-US" sz="2400" dirty="0">
              <a:latin typeface="思源黑体 CN Regular" panose="020B0500000000000000" pitchFamily="34" charset="-122"/>
              <a:ea typeface="思源黑体 CN Regular" panose="020B0500000000000000" pitchFamily="34" charset="-122"/>
            </a:endParaRPr>
          </a:p>
          <a:p>
            <a:pPr indent="457200"/>
            <a:r>
              <a:rPr lang="zh-CN" altLang="en-US" sz="2400" dirty="0">
                <a:latin typeface="思源黑体 CN Regular" panose="020B0500000000000000" pitchFamily="34" charset="-122"/>
                <a:ea typeface="思源黑体 CN Regular" panose="020B0500000000000000" pitchFamily="34" charset="-122"/>
              </a:rPr>
              <a:t>具备多款GNSS板卡，可接收不同卫星系统的信号，为组合导航提供丰富的观测数据。</a:t>
            </a:r>
            <a:endParaRPr lang="zh-CN" altLang="en-US" sz="2400" dirty="0">
              <a:latin typeface="思源黑体 CN Regular" panose="020B0500000000000000" pitchFamily="34" charset="-122"/>
              <a:ea typeface="思源黑体 CN Regular" panose="020B0500000000000000" pitchFamily="34" charset="-122"/>
            </a:endParaRPr>
          </a:p>
          <a:p>
            <a:pPr indent="457200"/>
            <a:r>
              <a:rPr lang="zh-CN" altLang="en-US" sz="2400" dirty="0">
                <a:latin typeface="思源黑体 CN Regular" panose="020B0500000000000000" pitchFamily="34" charset="-122"/>
                <a:ea typeface="思源黑体 CN Regular" panose="020B0500000000000000" pitchFamily="34" charset="-122"/>
              </a:rPr>
              <a:t>拥有组合导航计算机，能够对采集到的数据进行实时处理和分析。</a:t>
            </a:r>
            <a:endParaRPr lang="zh-CN" altLang="en-US" sz="2400" dirty="0">
              <a:latin typeface="思源黑体 CN Regular" panose="020B0500000000000000" pitchFamily="34" charset="-122"/>
              <a:ea typeface="思源黑体 CN Regular" panose="020B0500000000000000" pitchFamily="34" charset="-122"/>
            </a:endParaRPr>
          </a:p>
          <a:p>
            <a:pPr indent="457200"/>
            <a:r>
              <a:rPr lang="zh-CN" altLang="en-US" sz="2400" dirty="0">
                <a:latin typeface="思源黑体 CN Regular" panose="020B0500000000000000" pitchFamily="34" charset="-122"/>
                <a:ea typeface="思源黑体 CN Regular" panose="020B0500000000000000" pitchFamily="34" charset="-122"/>
              </a:rPr>
              <a:t>配备多款组合导航系统，可用于实际测试和验证算法的性能</a:t>
            </a:r>
            <a:r>
              <a:rPr lang="zh-CN" altLang="en-US"/>
              <a:t>。</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28000"/>
            <a:lum/>
          </a:blip>
          <a:srcRect/>
          <a:stretch>
            <a:fillRect t="-5000" b="-5000"/>
          </a:stretch>
        </a:blipFill>
        <a:effectLst/>
      </p:bgPr>
    </p:bg>
    <p:spTree>
      <p:nvGrpSpPr>
        <p:cNvPr id="1" name=""/>
        <p:cNvGrpSpPr/>
        <p:nvPr/>
      </p:nvGrpSpPr>
      <p:grpSpPr>
        <a:xfrm>
          <a:off x="0" y="0"/>
          <a:ext cx="0" cy="0"/>
          <a:chOff x="0" y="0"/>
          <a:chExt cx="0" cy="0"/>
        </a:xfrm>
      </p:grpSpPr>
      <p:sp>
        <p:nvSpPr>
          <p:cNvPr id="2" name="矩形 1"/>
          <p:cNvSpPr/>
          <p:nvPr/>
        </p:nvSpPr>
        <p:spPr>
          <a:xfrm>
            <a:off x="7307531" y="0"/>
            <a:ext cx="4876800" cy="6858000"/>
          </a:xfrm>
          <a:prstGeom prst="rect">
            <a:avLst/>
          </a:prstGeom>
          <a:solidFill>
            <a:srgbClr val="8F1E8C"/>
          </a:solidFill>
          <a:ln>
            <a:noFill/>
          </a:ln>
          <a:effectLst>
            <a:glow>
              <a:schemeClr val="bg1">
                <a:alpha val="66000"/>
              </a:schemeClr>
            </a:glow>
            <a:outerShdw blurRad="952500" dir="11280000" sx="1000" sy="1000" algn="ctr" rotWithShape="0">
              <a:srgbClr val="000000">
                <a:alpha val="63000"/>
              </a:srgbClr>
            </a:outerShdw>
            <a:reflection stA="45000" endPos="0" dist="50800" dir="5400000" sy="-100000" algn="bl" rotWithShape="0"/>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20025" y="1982450"/>
            <a:ext cx="3981451" cy="2891810"/>
            <a:chOff x="7715247" y="881638"/>
            <a:chExt cx="3981451" cy="2891810"/>
          </a:xfrm>
        </p:grpSpPr>
        <p:sp>
          <p:nvSpPr>
            <p:cNvPr id="5" name="文本框 4"/>
            <p:cNvSpPr txBox="1"/>
            <p:nvPr/>
          </p:nvSpPr>
          <p:spPr>
            <a:xfrm>
              <a:off x="8495102" y="2328188"/>
              <a:ext cx="2421743" cy="1445260"/>
            </a:xfrm>
            <a:prstGeom prst="rect">
              <a:avLst/>
            </a:prstGeom>
            <a:noFill/>
          </p:spPr>
          <p:txBody>
            <a:bodyPr wrap="square" rtlCol="0">
              <a:spAutoFit/>
            </a:bodyPr>
            <a:lstStyle/>
            <a:p>
              <a:pPr algn="ctr"/>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0 6</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8" name="文本框 7"/>
            <p:cNvSpPr txBox="1"/>
            <p:nvPr/>
          </p:nvSpPr>
          <p:spPr>
            <a:xfrm>
              <a:off x="7715247" y="881638"/>
              <a:ext cx="3981451" cy="1446550"/>
            </a:xfrm>
            <a:prstGeom prst="rect">
              <a:avLst/>
            </a:prstGeom>
            <a:noFill/>
          </p:spPr>
          <p:txBody>
            <a:bodyPr wrap="square" rtlCol="0">
              <a:spAutoFit/>
            </a:bodyPr>
            <a:lstStyle/>
            <a:p>
              <a:pPr algn="dist"/>
              <a:r>
                <a:rPr lang="en-US" altLang="zh-CN" sz="8800" spc="600" dirty="0">
                  <a:solidFill>
                    <a:schemeClr val="bg1"/>
                  </a:solidFill>
                  <a:effectLst>
                    <a:outerShdw blurRad="38100" dist="38100" dir="2700000" algn="tl">
                      <a:srgbClr val="000000">
                        <a:alpha val="43137"/>
                      </a:srgbClr>
                    </a:outerShdw>
                  </a:effectLst>
                  <a:latin typeface="Impact" panose="020B0806030902050204" pitchFamily="34" charset="0"/>
                </a:rPr>
                <a:t>PART</a:t>
              </a:r>
              <a:endParaRPr lang="zh-CN" altLang="en-US" sz="8800" spc="600" dirty="0">
                <a:solidFill>
                  <a:schemeClr val="bg1"/>
                </a:solidFill>
                <a:effectLst>
                  <a:outerShdw blurRad="38100" dist="38100" dir="2700000" algn="tl">
                    <a:srgbClr val="000000">
                      <a:alpha val="43137"/>
                    </a:srgbClr>
                  </a:outerShdw>
                </a:effectLst>
                <a:latin typeface="Impact" panose="020B0806030902050204" pitchFamily="34" charset="0"/>
              </a:endParaRPr>
            </a:p>
          </p:txBody>
        </p:sp>
      </p:grpSp>
      <p:sp>
        <p:nvSpPr>
          <p:cNvPr id="10" name="等腰三角形 9"/>
          <p:cNvSpPr/>
          <p:nvPr/>
        </p:nvSpPr>
        <p:spPr>
          <a:xfrm rot="16200000">
            <a:off x="6201663" y="2936062"/>
            <a:ext cx="1143617" cy="985877"/>
          </a:xfrm>
          <a:prstGeom prst="triangle">
            <a:avLst/>
          </a:prstGeom>
          <a:solidFill>
            <a:srgbClr val="8F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16635" y="2798445"/>
            <a:ext cx="5513070" cy="1753235"/>
          </a:xfrm>
          <a:prstGeom prst="rect">
            <a:avLst/>
          </a:prstGeom>
          <a:noFill/>
        </p:spPr>
        <p:txBody>
          <a:bodyPr wrap="square" rtlCol="0">
            <a:spAutoFit/>
          </a:bodyPr>
          <a:lstStyle/>
          <a:p>
            <a:pPr marL="457200" lvl="1" indent="457200" algn="l" eaLnBrk="1" hangingPunct="1">
              <a:lnSpc>
                <a:spcPct val="100000"/>
              </a:lnSpc>
              <a:spcBef>
                <a:spcPct val="0"/>
              </a:spcBef>
              <a:buFontTx/>
              <a:buNone/>
            </a:pPr>
            <a:r>
              <a:rPr lang="zh-CN" altLang="en-US" sz="5400" b="1" dirty="0">
                <a:solidFill>
                  <a:srgbClr val="8F1E8C"/>
                </a:solidFill>
                <a:latin typeface="思源黑体 CN Regular" panose="020B0500000000000000" pitchFamily="34" charset="-122"/>
                <a:ea typeface="思源黑体 CN Regular" panose="020B0500000000000000" pitchFamily="34" charset="-122"/>
              </a:rPr>
              <a:t>时间规划</a:t>
            </a:r>
            <a:endParaRPr lang="zh-CN" altLang="en-US" sz="5400" b="1" dirty="0">
              <a:solidFill>
                <a:srgbClr val="8F1E8C"/>
              </a:solidFill>
              <a:latin typeface="思源黑体 CN Regular" panose="020B0500000000000000" pitchFamily="34" charset="-122"/>
              <a:ea typeface="思源黑体 CN Regular" panose="020B0500000000000000" pitchFamily="34" charset="-122"/>
            </a:endParaRPr>
          </a:p>
          <a:p>
            <a:pPr algn="l" eaLnBrk="1" hangingPunct="1">
              <a:lnSpc>
                <a:spcPct val="100000"/>
              </a:lnSpc>
              <a:spcBef>
                <a:spcPct val="0"/>
              </a:spcBef>
              <a:buFontTx/>
              <a:buNone/>
            </a:pPr>
            <a:endParaRPr lang="zh-CN" altLang="en-US" sz="5400" dirty="0">
              <a:solidFill>
                <a:srgbClr val="8F1E8C"/>
              </a:solidFill>
              <a:latin typeface="思源黑体 CN Heavy" panose="020B0A00000000000000" pitchFamily="34" charset="-122"/>
              <a:ea typeface="思源黑体 CN Heavy" panose="020B0A00000000000000"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3510470"/>
          </a:xfrm>
          <a:prstGeom prst="rect">
            <a:avLst/>
          </a:prstGeom>
        </p:spPr>
      </p:pic>
      <p:sp>
        <p:nvSpPr>
          <p:cNvPr id="3" name="矩形 2"/>
          <p:cNvSpPr/>
          <p:nvPr/>
        </p:nvSpPr>
        <p:spPr>
          <a:xfrm>
            <a:off x="0" y="38100"/>
            <a:ext cx="12192000" cy="6991350"/>
          </a:xfrm>
          <a:prstGeom prst="rect">
            <a:avLst/>
          </a:prstGeom>
          <a:gradFill flip="none" rotWithShape="1">
            <a:gsLst>
              <a:gs pos="51000">
                <a:srgbClr val="891D86"/>
              </a:gs>
              <a:gs pos="99083">
                <a:schemeClr val="bg1">
                  <a:alpha val="0"/>
                </a:schemeClr>
              </a:gs>
              <a:gs pos="66000">
                <a:srgbClr val="891D86">
                  <a:alpha val="28000"/>
                </a:srgbClr>
              </a:gs>
              <a:gs pos="0">
                <a:srgbClr val="891D8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68" name="文本框 67"/>
          <p:cNvSpPr txBox="1"/>
          <p:nvPr/>
        </p:nvSpPr>
        <p:spPr>
          <a:xfrm>
            <a:off x="0" y="2769478"/>
            <a:ext cx="12192000" cy="957570"/>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5400" b="1" i="0" u="none" strike="noStrike" kern="1200" cap="none" spc="4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ea"/>
                <a:sym typeface="Arial" panose="020B0604020202020204" pitchFamily="34" charset="0"/>
              </a:rPr>
              <a:t>感谢各位老师的悉心指导！</a:t>
            </a:r>
            <a:endParaRPr kumimoji="0" lang="zh-CN" altLang="en-US" sz="5400" b="1" i="0" u="none" strike="noStrike" kern="1200" cap="none" spc="4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70" name="文本框 69"/>
          <p:cNvSpPr txBox="1"/>
          <p:nvPr/>
        </p:nvSpPr>
        <p:spPr>
          <a:xfrm>
            <a:off x="1581150" y="3830684"/>
            <a:ext cx="8753389" cy="498598"/>
          </a:xfrm>
          <a:prstGeom prst="rect">
            <a:avLst/>
          </a:prstGeom>
          <a:noFill/>
        </p:spPr>
        <p:txBody>
          <a:bodyPr wrap="square" rtlCol="0">
            <a:spAutoFit/>
          </a:bodyPr>
          <a:lstStyle/>
          <a:p>
            <a:pPr marL="0" marR="0" lvl="0" indent="0" algn="dist" defTabSz="914400" rtl="0" eaLnBrk="1" fontAlgn="auto" latinLnBrk="0" hangingPunct="1">
              <a:lnSpc>
                <a:spcPct val="110000"/>
              </a:lnSpc>
              <a:spcBef>
                <a:spcPts val="0"/>
              </a:spcBef>
              <a:spcAft>
                <a:spcPts val="0"/>
              </a:spcAft>
              <a:buClrTx/>
              <a:buSzTx/>
              <a:buFontTx/>
              <a:buNone/>
              <a:defRPr/>
            </a:pPr>
            <a:r>
              <a:rPr kumimoji="0" lang="en-US" altLang="zh-CN" sz="2400" b="0" i="1"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THANKS TO THE TEACHER‘S CAREFUL GUIDANCE</a:t>
            </a:r>
            <a:r>
              <a:rPr kumimoji="0" lang="zh-CN" altLang="en-US" sz="2400" b="1" i="0" u="none" strike="noStrike" kern="1200" cap="none" spc="0" normalizeH="0" baseline="0" noProof="0" dirty="0">
                <a:ln>
                  <a:noFill/>
                </a:ln>
                <a:solidFill>
                  <a:prstClr val="white"/>
                </a:solidFill>
                <a:effectLst/>
                <a:uLnTx/>
                <a:uFillTx/>
                <a:latin typeface="Arial Black" panose="020B0A04020102020204" pitchFamily="34" charset="0"/>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prstClr val="white"/>
              </a:solidFill>
              <a:effectLst/>
              <a:uLnTx/>
              <a:uFillTx/>
              <a:latin typeface="Arial Black" panose="020B0A040201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71" name="文本框 70"/>
          <p:cNvSpPr txBox="1"/>
          <p:nvPr/>
        </p:nvSpPr>
        <p:spPr>
          <a:xfrm>
            <a:off x="1581150" y="4496299"/>
            <a:ext cx="8644093" cy="646331"/>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答  辩  人：</a:t>
            </a:r>
            <a:r>
              <a:rPr kumimoji="0" lang="en-US" altLang="zh-CN"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XXX              </a:t>
            </a:r>
            <a:r>
              <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指  导  老  师：</a:t>
            </a:r>
            <a:r>
              <a:rPr kumimoji="0" lang="en-US" altLang="zh-CN"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XXX </a:t>
            </a:r>
            <a:endPar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endParaRPr>
          </a:p>
        </p:txBody>
      </p:sp>
      <p:grpSp>
        <p:nvGrpSpPr>
          <p:cNvPr id="67" name="组合 66"/>
          <p:cNvGrpSpPr/>
          <p:nvPr/>
        </p:nvGrpSpPr>
        <p:grpSpPr>
          <a:xfrm>
            <a:off x="8757996" y="5655104"/>
            <a:ext cx="2934494" cy="675437"/>
            <a:chOff x="-2189163" y="-1093788"/>
            <a:chExt cx="5924551" cy="1363663"/>
          </a:xfrm>
          <a:solidFill>
            <a:schemeClr val="bg1"/>
          </a:solidFill>
        </p:grpSpPr>
        <p:sp>
          <p:nvSpPr>
            <p:cNvPr id="69" name="Freeform 5"/>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2" name="Freeform 6"/>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3"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4" name="Freeform 8"/>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5" name="Freeform 9"/>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6" name="Freeform 10"/>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7"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8" name="Freeform 12"/>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9" name="Freeform 13"/>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0" name="Freeform 14"/>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1" name="Freeform 15"/>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2" name="Freeform 16"/>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3"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4" name="Freeform 18"/>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5" name="Freeform 19"/>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6"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7" name="Freeform 21"/>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8" name="Freeform 22"/>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9" name="Freeform 23"/>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0" name="Freeform 24"/>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1"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2" name="Freeform 26"/>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3" name="Freeform 27"/>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4"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5" name="Freeform 29"/>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6"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7" name="Freeform 31"/>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8" name="Freeform 32"/>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9"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0" name="Freeform 34"/>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1" name="Freeform 35"/>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2" name="Freeform 36"/>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3"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4" name="Freeform 38"/>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5" name="Freeform 39"/>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6" name="Freeform 40"/>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7" name="Freeform 41"/>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8"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9" name="Freeform 43"/>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0" name="Freeform 44"/>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1" name="Freeform 45"/>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2" name="Freeform 46"/>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3" name="Freeform 47"/>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4"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5" name="Freeform 49"/>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6"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7" name="Freeform 51"/>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8" name="Freeform 52"/>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19"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0"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1"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2" name="Freeform 56"/>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3"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4"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5" name="Freeform 59"/>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6"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7"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8" name="Freeform 62"/>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9" name="Freeform 63"/>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Tree>
  </p:cSld>
  <p:clrMapOvr>
    <a:masterClrMapping/>
  </p:clrMapOvr>
</p:sld>
</file>

<file path=ppt/tags/tag1.xml><?xml version="1.0" encoding="utf-8"?>
<p:tagLst xmlns:p="http://schemas.openxmlformats.org/presentationml/2006/main">
  <p:tag name="ISLIDE.ICON" val="#168214;#78993;"/>
</p:tagLst>
</file>

<file path=ppt/tags/tag2.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3.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4.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5.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6.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7.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8.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9.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0.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1.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2.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3.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4.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5.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6.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7.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8.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19.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0.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1.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2.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3.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4.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5.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6.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7.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8.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29.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30.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31.xml><?xml version="1.0" encoding="utf-8"?>
<p:tagLst xmlns:p="http://schemas.openxmlformats.org/presentationml/2006/main">
  <p:tag name="KSO_WM_DIAGRAM_VIRTUALLY_FRAME" val="{&quot;height&quot;:473.8900787401575,&quot;left&quot;:327.4272440944882,&quot;top&quot;:25.31291338582677,&quot;width&quot;:527.2291338582676}"/>
</p:tagLst>
</file>

<file path=ppt/tags/tag32.xml><?xml version="1.0" encoding="utf-8"?>
<p:tagLst xmlns:p="http://schemas.openxmlformats.org/presentationml/2006/main">
  <p:tag name="KSO_WM_DIAGRAM_VIRTUALLY_FRAME" val="{&quot;height&quot;:419.8,&quot;left&quot;:48.746220472440946,&quot;top&quot;:79.2,&quot;width&quot;:872.253779527559}"/>
</p:tagLst>
</file>

<file path=ppt/tags/tag33.xml><?xml version="1.0" encoding="utf-8"?>
<p:tagLst xmlns:p="http://schemas.openxmlformats.org/presentationml/2006/main">
  <p:tag name="KSO_WM_DIAGRAM_VIRTUALLY_FRAME" val="{&quot;height&quot;:419.8,&quot;left&quot;:48.746220472440946,&quot;top&quot;:79.2,&quot;width&quot;:872.253779527559}"/>
</p:tagLst>
</file>

<file path=ppt/tags/tag34.xml><?xml version="1.0" encoding="utf-8"?>
<p:tagLst xmlns:p="http://schemas.openxmlformats.org/presentationml/2006/main">
  <p:tag name="KSO_WM_DIAGRAM_VIRTUALLY_FRAME" val="{&quot;height&quot;:419.8,&quot;left&quot;:48.746220472440946,&quot;top&quot;:79.2,&quot;width&quot;:872.253779527559}"/>
</p:tagLst>
</file>

<file path=ppt/tags/tag35.xml><?xml version="1.0" encoding="utf-8"?>
<p:tagLst xmlns:p="http://schemas.openxmlformats.org/presentationml/2006/main">
  <p:tag name="KSO_WM_DIAGRAM_VIRTUALLY_FRAME" val="{&quot;height&quot;:419.8,&quot;left&quot;:48.746220472440946,&quot;top&quot;:79.2,&quot;width&quot;:872.253779527559}"/>
</p:tagLst>
</file>

<file path=ppt/tags/tag36.xml><?xml version="1.0" encoding="utf-8"?>
<p:tagLst xmlns:p="http://schemas.openxmlformats.org/presentationml/2006/main">
  <p:tag name="KSO_WM_DIAGRAM_VIRTUALLY_FRAME" val="{&quot;height&quot;:419.8,&quot;left&quot;:48.746220472440946,&quot;top&quot;:79.2,&quot;width&quot;:872.253779527559}"/>
</p:tagLst>
</file>

<file path=ppt/tags/tag37.xml><?xml version="1.0" encoding="utf-8"?>
<p:tagLst xmlns:p="http://schemas.openxmlformats.org/presentationml/2006/main">
  <p:tag name="KSO_WM_DIAGRAM_VIRTUALLY_FRAME" val="{&quot;height&quot;:419.8,&quot;left&quot;:48.746220472440946,&quot;top&quot;:79.2,&quot;width&quot;:872.253779527559}"/>
</p:tagLst>
</file>

<file path=ppt/tags/tag38.xml><?xml version="1.0" encoding="utf-8"?>
<p:tagLst xmlns:p="http://schemas.openxmlformats.org/presentationml/2006/main">
  <p:tag name="KSO_WM_DIAGRAM_VIRTUALLY_FRAME" val="{&quot;height&quot;:419.8,&quot;left&quot;:48.746220472440946,&quot;top&quot;:79.2,&quot;width&quot;:872.253779527559}"/>
</p:tagLst>
</file>

<file path=ppt/tags/tag39.xml><?xml version="1.0" encoding="utf-8"?>
<p:tagLst xmlns:p="http://schemas.openxmlformats.org/presentationml/2006/main">
  <p:tag name="KSO_WM_DIAGRAM_VIRTUALLY_FRAME" val="{&quot;height&quot;:419.8,&quot;left&quot;:48.746220472440946,&quot;top&quot;:79.2,&quot;width&quot;:872.253779527559}"/>
</p:tagLst>
</file>

<file path=ppt/tags/tag40.xml><?xml version="1.0" encoding="utf-8"?>
<p:tagLst xmlns:p="http://schemas.openxmlformats.org/presentationml/2006/main">
  <p:tag name="KSO_WM_DIAGRAM_VIRTUALLY_FRAME" val="{&quot;height&quot;:419.8,&quot;left&quot;:48.746220472440946,&quot;top&quot;:79.2,&quot;width&quot;:872.253779527559}"/>
</p:tagLst>
</file>

<file path=ppt/tags/tag41.xml><?xml version="1.0" encoding="utf-8"?>
<p:tagLst xmlns:p="http://schemas.openxmlformats.org/presentationml/2006/main">
  <p:tag name="KSO_WM_DIAGRAM_VIRTUALLY_FRAME" val="{&quot;height&quot;:419.8,&quot;left&quot;:48.746220472440946,&quot;top&quot;:79.2,&quot;width&quot;:872.253779527559}"/>
</p:tagLst>
</file>

<file path=ppt/tags/tag42.xml><?xml version="1.0" encoding="utf-8"?>
<p:tagLst xmlns:p="http://schemas.openxmlformats.org/presentationml/2006/main">
  <p:tag name="KSO_WM_DIAGRAM_VIRTUALLY_FRAME" val="{&quot;height&quot;:419.8,&quot;left&quot;:48.746220472440946,&quot;top&quot;:79.2,&quot;width&quot;:872.253779527559}"/>
</p:tagLst>
</file>

<file path=ppt/tags/tag43.xml><?xml version="1.0" encoding="utf-8"?>
<p:tagLst xmlns:p="http://schemas.openxmlformats.org/presentationml/2006/main">
  <p:tag name="KSO_WM_DIAGRAM_VIRTUALLY_FRAME" val="{&quot;height&quot;:419.8,&quot;left&quot;:48.746220472440946,&quot;top&quot;:79.2,&quot;width&quot;:872.253779527559}"/>
</p:tagLst>
</file>

<file path=ppt/tags/tag44.xml><?xml version="1.0" encoding="utf-8"?>
<p:tagLst xmlns:p="http://schemas.openxmlformats.org/presentationml/2006/main">
  <p:tag name="KSO_WM_DIAGRAM_VIRTUALLY_FRAME" val="{&quot;height&quot;:419.8,&quot;left&quot;:48.746220472440946,&quot;top&quot;:79.2,&quot;width&quot;:872.253779527559}"/>
</p:tagLst>
</file>

<file path=ppt/tags/tag45.xml><?xml version="1.0" encoding="utf-8"?>
<p:tagLst xmlns:p="http://schemas.openxmlformats.org/presentationml/2006/main">
  <p:tag name="KSO_WM_DIAGRAM_VIRTUALLY_FRAME" val="{&quot;height&quot;:419.8,&quot;left&quot;:48.746220472440946,&quot;top&quot;:79.2,&quot;width&quot;:872.253779527559}"/>
</p:tagLst>
</file>

<file path=ppt/tags/tag46.xml><?xml version="1.0" encoding="utf-8"?>
<p:tagLst xmlns:p="http://schemas.openxmlformats.org/presentationml/2006/main">
  <p:tag name="KSO_WM_DIAGRAM_VIRTUALLY_FRAME" val="{&quot;height&quot;:419.8,&quot;left&quot;:48.746220472440946,&quot;top&quot;:79.2,&quot;width&quot;:872.253779527559}"/>
</p:tagLst>
</file>

<file path=ppt/tags/tag47.xml><?xml version="1.0" encoding="utf-8"?>
<p:tagLst xmlns:p="http://schemas.openxmlformats.org/presentationml/2006/main">
  <p:tag name="KSO_WM_DIAGRAM_VIRTUALLY_FRAME" val="{&quot;height&quot;:419.8,&quot;left&quot;:48.746220472440946,&quot;top&quot;:79.2,&quot;width&quot;:872.253779527559}"/>
</p:tagLst>
</file>

<file path=ppt/tags/tag48.xml><?xml version="1.0" encoding="utf-8"?>
<p:tagLst xmlns:p="http://schemas.openxmlformats.org/presentationml/2006/main">
  <p:tag name="KSO_WM_DIAGRAM_VIRTUALLY_FRAME" val="{&quot;height&quot;:419.8,&quot;left&quot;:48.746220472440946,&quot;top&quot;:79.2,&quot;width&quot;:872.253779527559}"/>
</p:tagLst>
</file>

<file path=ppt/tags/tag49.xml><?xml version="1.0" encoding="utf-8"?>
<p:tagLst xmlns:p="http://schemas.openxmlformats.org/presentationml/2006/main">
  <p:tag name="ISLIDE.GUIDESSETTING" val="{&quot;Id&quot;:null,&quot;Name&quot;:&quot;适中&quot;,&quot;HeaderHeight&quot;:13.0,&quot;FooterHeight&quot;:6.0,&quot;SideMargin&quot;:4.0,&quot;TopMargin&quot;:0.0,&quot;BottomMargin&quot;:0.0,&quot;IntervalMargin&quot;:1.5,&quot;SettingType&quot;:&quot;System&quot;}"/>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思源黑体 CN Heavy"/>
        <a:cs typeface=""/>
      </a:majorFont>
      <a:minorFont>
        <a:latin typeface="Times New Roman"/>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3419</Words>
  <Application>WPS 演示</Application>
  <PresentationFormat>宽屏</PresentationFormat>
  <Paragraphs>155</Paragraphs>
  <Slides>22</Slides>
  <Notes>46</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22</vt:i4>
      </vt:variant>
    </vt:vector>
  </HeadingPairs>
  <TitlesOfParts>
    <vt:vector size="42" baseType="lpstr">
      <vt:lpstr>Arial</vt:lpstr>
      <vt:lpstr>宋体</vt:lpstr>
      <vt:lpstr>Wingdings</vt:lpstr>
      <vt:lpstr>思源黑体 CN Regular</vt:lpstr>
      <vt:lpstr>黑体</vt:lpstr>
      <vt:lpstr>思源黑体 CN Heavy</vt:lpstr>
      <vt:lpstr>Arial Black</vt:lpstr>
      <vt:lpstr>Times New Roman</vt:lpstr>
      <vt:lpstr>Impact</vt:lpstr>
      <vt:lpstr>微软雅黑</vt:lpstr>
      <vt:lpstr>等线</vt:lpstr>
      <vt:lpstr>Arial Unicode MS</vt:lpstr>
      <vt:lpstr>等线 Light</vt:lpstr>
      <vt:lpstr>Calibri</vt:lpstr>
      <vt:lpstr>文道潮黑体</vt:lpstr>
      <vt:lpstr>方正大黑体_GBK</vt:lpstr>
      <vt:lpstr>思源黑体 CN Regular</vt:lpstr>
      <vt:lpstr>自定义设计方案</vt:lpstr>
      <vt:lpstr>Office 主题​​</vt:lpstr>
      <vt:lpstr>1_OfficePLUS</vt:lpstr>
      <vt:lpstr>PowerPoint 演示文稿</vt:lpstr>
      <vt:lpstr>PowerPoint 演示文稿</vt:lpstr>
      <vt:lpstr>PowerPoint 演示文稿</vt:lpstr>
      <vt:lpstr>章节标题-大段文字页面</vt:lpstr>
      <vt:lpstr>章节标题-两段/对比文字页面</vt:lpstr>
      <vt:lpstr>研究背景与意义</vt:lpstr>
      <vt:lpstr>PowerPoint 演示文稿</vt:lpstr>
      <vt:lpstr>研究现状分析</vt:lpstr>
      <vt:lpstr>研究现状分析</vt:lpstr>
      <vt:lpstr>PowerPoint 演示文稿</vt:lpstr>
      <vt:lpstr>研究背景与意义</vt:lpstr>
      <vt:lpstr>研究现状分析</vt:lpstr>
      <vt:lpstr>研究现状分析</vt:lpstr>
      <vt:lpstr>研究现状分析</vt:lpstr>
      <vt:lpstr>PowerPoint 演示文稿</vt:lpstr>
      <vt:lpstr>研究现状分析</vt:lpstr>
      <vt:lpstr>研究现状分析</vt:lpstr>
      <vt:lpstr>研究现状分析</vt:lpstr>
      <vt:lpstr>PowerPoint 演示文稿</vt:lpstr>
      <vt:lpstr>研究背景与意义</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cocosunry</dc:creator>
  <cp:lastModifiedBy>鸣泣的蝉</cp:lastModifiedBy>
  <cp:revision>192</cp:revision>
  <dcterms:created xsi:type="dcterms:W3CDTF">2020-04-10T14:58:00Z</dcterms:created>
  <dcterms:modified xsi:type="dcterms:W3CDTF">2025-12-07T13:26:52Z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7CA5C22D4E944CF4B497EF758ECA6CA6_12</vt:lpwstr>
  </property>
  <property fmtid="{D5CDD505-2E9C-101B-9397-08002B2CF9AE}" pid="3" name="KSOProductBuildVer">
    <vt:lpwstr>2052-12.1.0.23125</vt:lpwstr>
  </property>
</Properties>
</file>