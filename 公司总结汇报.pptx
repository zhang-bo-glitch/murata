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9" r:id="rId2"/>
    <p:sldMasterId id="2147483690" r:id="rId3"/>
    <p:sldMasterId id="2147483711" r:id="rId4"/>
  </p:sldMasterIdLst>
  <p:notesMasterIdLst>
    <p:notesMasterId r:id="rId1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3" r:id="rId11"/>
    <p:sldId id="264" r:id="rId12"/>
    <p:sldId id="265" r:id="rId13"/>
    <p:sldId id="266" r:id="rId14"/>
    <p:sldId id="268" r:id="rId15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6361" autoAdjust="0"/>
  </p:normalViewPr>
  <p:slideViewPr>
    <p:cSldViewPr snapToGrid="0">
      <p:cViewPr varScale="1">
        <p:scale>
          <a:sx n="54" d="100"/>
          <a:sy n="54" d="100"/>
        </p:scale>
        <p:origin x="178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各位领导、各位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前辈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，大家好，我是南京理工大学控制工程专业的张博。今天这份汇报不以某一项技术细节为主，而是从公司视角总结我在一个月夏令营中的参与过程、部门工作、代表性课题以及个人收获。</a:t>
            </a:r>
          </a:p>
          <a:p>
            <a:endParaRPr lang="en-US"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我汇报的主题是从学习参与走向现场价值</a:t>
            </a:r>
            <a:endParaRPr lang="en-US" altLang="zh-CN"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 dirty="0"/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过渡：首先用一页概括，这一个月我的角色发生了怎样的变化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02/1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｜结果先行｜约40秒】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30天里，我经历了三次角色转变。第一阶段是活动参与者，通过安全教育、企业介绍、产业课程和交流活动建立公司认知；</a:t>
            </a:r>
            <a:endParaRPr lang="en-US"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第二阶段是部门学习者，从产线、PLC、通信和机器人入手理解设备如何协同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endParaRPr lang="en-US"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第三阶段是课题参与者，在指导下完成单传感器双角检测动作单元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dirty="0" err="1"/>
              <a:t>对我来说</a:t>
            </a:r>
            <a:r>
              <a:rPr dirty="0"/>
              <a:t>，</a:t>
            </a:r>
            <a:r>
              <a:rPr lang="zh-CN" altLang="en-US" dirty="0"/>
              <a:t>形成了一条比较完整的路径</a:t>
            </a:r>
            <a:r>
              <a:rPr dirty="0"/>
              <a:t>：</a:t>
            </a:r>
            <a:r>
              <a:rPr dirty="0" err="1"/>
              <a:t>先理解现场，再连接系统，最后用动作和验证边界说明结果</a:t>
            </a:r>
            <a:r>
              <a:rPr dirty="0"/>
              <a:t>。</a:t>
            </a:r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 dirty="0"/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过渡：这条路径的起点，是夏令营提供的公司级视野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endParaRPr sz="1200" dirty="0"/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03/1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｜参加活动情况｜约40秒】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夏令营从7月13日持续到8月12日，安排覆盖企业与安全、产业与技术、团队交流和成果输出。</a:t>
            </a:r>
            <a:endParaRPr lang="en-US"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这些内容让我认识到，制造企业的竞争力不仅来自单项技术，还来自安全体系、工艺规范、设备能力、人才协作和持续改善的共同作用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过渡：进入部门后，这种视野被进一步收敛成一条具体的技术成长路径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04/1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｜部门工作路径｜约40秒】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部门实习计划分为五个阶段。它并不是五项孤立的培训，而是一条前后递进的工作路径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先理解产线和执行元件，才能看懂程序变量对应什么；理解PLC和通信，才能知道状态如何流动；理解机器人坐标系，才能安全、准确地修改动作。最终的课题实践，是前面各阶段共同支撑的结果。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过渡：沿着这条路径，我对部门工作的理解也从单台设备上升到整条控制链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05/1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｜部门工作理解｜约35秒】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在一场熟悉SUS合理化线、UV贴膜自动化线以及常见电气部品后，我逐步认识到，部门工作面对的不是彼此独立的设备，而是一条从感知、判断、通信到执行的控制链。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传感器提供状态，PLC和程序完成判断，工业网络传递信息，机构与机器人执行动作。一个局部修改是否合理，必须放回整条链中判断它对上游条件、下游工艺和安全边界的影响。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过渡：在这条控制链中，我参与的代表性课题位于取膜、检测、贴合和加压之间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06/1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｜参加课题情况｜约45秒】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我参与的代表性课题，是机械臂双角检测动作改造。生产流程中，取膜机通过激光测距和吸嘴完成取膜、抖动与放膜，机械臂随后取膜并判断是否为单张，再进入贴合和加压。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流程只检测一个角，提供的是局部信息。我的任务是在指导下、不新增激光传感器、不改变原主流程的条件下，通过调整机器人运动，让膜材两个角依次经过同一个固定检测点，并完成关键点定位、低速调试和流程衔接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过渡：这个课题的核心方案，可以用P0、P1、P0、P2四个位置说明。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/1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｜动作实现证据｜约35秒】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</a:pP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方案使用同一个固定激光检测点。机械臂在</a:t>
            </a:r>
            <a:r>
              <a:rPr lang="en-US" altLang="zh-CN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取膜后移动到</a:t>
            </a:r>
            <a:r>
              <a:rPr lang="en-US" altLang="zh-CN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P1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，使膜材左上角经过检测点；随后回到</a:t>
            </a:r>
            <a:r>
              <a:rPr lang="en-US" altLang="zh-CN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，再移动到</a:t>
            </a:r>
            <a:r>
              <a:rPr lang="en-US" altLang="zh-CN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P2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，使右上角经过同一检测点。</a:t>
            </a:r>
            <a:r>
              <a:rPr lang="en-US" altLang="zh-CN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P1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</a:t>
            </a:r>
            <a:r>
              <a:rPr lang="en-US" altLang="zh-CN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P2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不是两个传感器，而是膜材相对同一传感器的两个检测姿态。</a:t>
            </a:r>
          </a:p>
          <a:p>
            <a:endParaRPr lang="en-US"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ja-JP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感器不动，移动的是膜材。P0是共同中间位置，P1和P2分别让两个角经过相同检测基准。这样既便于逐段低速确认，也便于重复运行时保持路径一致。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过渡：动作实现之后，更重要的是准确判断成果已经到达哪一步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/1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｜成果与边界｜约40秒】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目前已经完成双角检测动作序列、P0/P1/P2关键点位定位、与原后续动作衔接，并进行了连续多次运行观察。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这个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动作单元已经进入现场执行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过渡：能够较快进入这项课题，既来自已有基础，也来自对现场约束的重新学习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/1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｜能力迁移｜约40秒】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本科PLC毕业设计帮助我快速恢复梯形图和顺序控制；硕士期间参与八电机协同控制项目，帮助我理解多执行器协同与通信；惯性导航研究则帮助我理解坐标变换和姿态表达。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这些经历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也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缩短了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在现场的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上手时间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dirty="0" err="1"/>
              <a:t>过渡：这次活动最终沉淀下来的，是三种比单项指令更重要的工作方法</a:t>
            </a:r>
            <a:r>
              <a:rPr dirty="0"/>
              <a:t>。</a:t>
            </a:r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/1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｜活动收获感想｜约40秒】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这次活动最重要的收获可以概括为三点。第一是工程意识；第二是系统视角；第三是验证习惯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dirty="0"/>
              <a:t>这三点让我从关注‘我有没有完成任务’，进一步转向关注‘结果是否安全、是否稳定、是否能够被团队复用’。这是我认为最有价值的角色变化。</a:t>
            </a:r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 dirty="0"/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过渡：如果有机会继续在村田发展，我希望把这三种方法转化为更具体的现场价值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/1</a:t>
            </a:r>
            <a:r>
              <a:rPr 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｜结尾｜约30秒】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回顾这一个月，我完成了从活动参与者、部门学习者到课题参与者的变化，也更加确认自己希望在智能制造和自动化控制方向长期发展的选择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谢公司提供这次机会，感谢夏令营团队的组织，也感谢部门各位前辈的指导。夏令营即将结束，但我希望把这里形成的工程意识、系统视角和验证习惯带入下一阶段，继续把控制工程能力转化为现场价值。谢谢大家。</a:t>
            </a:r>
            <a:endParaRPr sz="1200" dirty="0"/>
          </a:p>
          <a:p>
            <a:endParaRPr sz="1200" dirty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552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3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3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3.xml"/><Relationship Id="rId21" Type="http://schemas.openxmlformats.org/officeDocument/2006/relationships/theme" Target="../theme/theme4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7.xml"/><Relationship Id="rId2" Type="http://schemas.openxmlformats.org/officeDocument/2006/relationships/slideLayout" Target="../slideLayouts/slideLayout62.xml"/><Relationship Id="rId16" Type="http://schemas.openxmlformats.org/officeDocument/2006/relationships/slideLayout" Target="../slideLayouts/slideLayout76.xml"/><Relationship Id="rId20" Type="http://schemas.openxmlformats.org/officeDocument/2006/relationships/slideLayout" Target="../slideLayouts/slideLayout80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9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  <p:sldLayoutId id="2147483708" r:id="rId18"/>
    <p:sldLayoutId id="2147483709" r:id="rId19"/>
    <p:sldLayoutId id="2147483710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  <p:sldLayoutId id="2147483728" r:id="rId17"/>
    <p:sldLayoutId id="2147483729" r:id="rId18"/>
    <p:sldLayoutId id="2147483730" r:id="rId19"/>
    <p:sldLayoutId id="2147483731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413168"/>
          </a:xfrm>
        </p:spPr>
        <p:txBody>
          <a:bodyPr/>
          <a:lstStyle/>
          <a:p>
            <a:r>
              <a:rPr sz="26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2026暑期夏令营总结汇报</a:t>
            </a:r>
          </a:p>
          <a:p>
            <a:r>
              <a:rPr sz="1500" b="0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张博｜南京理工大学</a:t>
            </a:r>
            <a:r>
              <a:rPr sz="1500" b="0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500" b="0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控制工程</a:t>
            </a:r>
            <a:endParaRPr sz="1500" b="0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sz="1500" b="0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2026.07.13—2026.08.12</a:t>
            </a:r>
          </a:p>
          <a:p>
            <a:pPr algn="l">
              <a:buNone/>
            </a:pPr>
            <a:r>
              <a:rPr sz="1400" b="0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无锡村田电子</a:t>
            </a:r>
            <a:endParaRPr sz="1400" b="0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タイトル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从学习参与走向现场价值</a:t>
            </a:r>
          </a:p>
        </p:txBody>
      </p:sp>
      <p:pic>
        <p:nvPicPr>
          <p:cNvPr id="15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/>
          <p:cNvSpPr>
            <a:spLocks noGrp="1"/>
          </p:cNvSpPr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/>
          <p:cNvSpPr>
            <a:spLocks noGrp="1"/>
          </p:cNvSpPr>
          <p:nvPr/>
        </p:nvSpPr>
        <p:spPr>
          <a:xfrm>
            <a:off x="548640" y="605332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muRata</a:t>
            </a:r>
          </a:p>
          <a:p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Innovator in Electronics</a:t>
            </a:r>
          </a:p>
        </p:txBody>
      </p:sp>
      <p:sp>
        <p:nvSpPr>
          <p:cNvPr id="11" name="TextBox 10"/>
          <p:cNvSpPr>
            <a:spLocks noGrp="1"/>
          </p:cNvSpPr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723900" y="5467350"/>
            <a:ext cx="10744200" cy="514350"/>
          </a:xfrm>
        </p:spPr>
        <p:txBody>
          <a:bodyPr>
            <a:normAutofit fontScale="94136" lnSpcReduction="10000"/>
          </a:bodyPr>
          <a:lstStyle/>
          <a:p>
            <a:r>
              <a:rPr sz="1350"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结果：完成规定活动、部门学习和代表性课题实践</a:t>
            </a:r>
          </a:p>
          <a:p>
            <a:r>
              <a:rPr sz="1350"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判断：形成了理解现场、连接系统、验证结果的工作方法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一个月，我完成了三次角色转变</a:t>
            </a:r>
          </a:p>
        </p:txBody>
      </p:sp>
      <p:sp>
        <p:nvSpPr>
          <p:cNvPr id="4" name="s02-days"/>
          <p:cNvSpPr>
            <a:spLocks noGrp="1"/>
          </p:cNvSpPr>
          <p:nvPr/>
        </p:nvSpPr>
        <p:spPr>
          <a:xfrm>
            <a:off x="762000" y="1162050"/>
            <a:ext cx="171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30天</a:t>
            </a:r>
          </a:p>
        </p:txBody>
      </p:sp>
      <p:sp>
        <p:nvSpPr>
          <p:cNvPr id="5" name="s02-date"/>
          <p:cNvSpPr>
            <a:spLocks noGrp="1"/>
          </p:cNvSpPr>
          <p:nvPr/>
        </p:nvSpPr>
        <p:spPr>
          <a:xfrm>
            <a:off x="800100" y="1952625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7.13—8.12</a:t>
            </a:r>
          </a:p>
        </p:txBody>
      </p:sp>
      <p:sp>
        <p:nvSpPr>
          <p:cNvPr id="6" name="s02-flow-line"/>
          <p:cNvSpPr>
            <a:spLocks noGrp="1"/>
          </p:cNvSpPr>
          <p:nvPr/>
        </p:nvSpPr>
        <p:spPr>
          <a:xfrm>
            <a:off x="2667000" y="272415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02-01-num"/>
          <p:cNvSpPr>
            <a:spLocks noGrp="1"/>
          </p:cNvSpPr>
          <p:nvPr/>
        </p:nvSpPr>
        <p:spPr>
          <a:xfrm>
            <a:off x="28575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</a:p>
        </p:txBody>
      </p:sp>
      <p:sp>
        <p:nvSpPr>
          <p:cNvPr id="8" name="s02-01-title"/>
          <p:cNvSpPr>
            <a:spLocks noGrp="1"/>
          </p:cNvSpPr>
          <p:nvPr/>
        </p:nvSpPr>
        <p:spPr>
          <a:xfrm>
            <a:off x="28575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参加活动</a:t>
            </a:r>
          </a:p>
        </p:txBody>
      </p:sp>
      <p:sp>
        <p:nvSpPr>
          <p:cNvPr id="9" name="s02-01-detail"/>
          <p:cNvSpPr>
            <a:spLocks noGrp="1"/>
          </p:cNvSpPr>
          <p:nvPr/>
        </p:nvSpPr>
        <p:spPr>
          <a:xfrm>
            <a:off x="28575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>
                <a:solidFill>
                  <a:srgbClr val="7079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理解企业、安全与文化</a:t>
            </a:r>
          </a:p>
        </p:txBody>
      </p:sp>
      <p:sp>
        <p:nvSpPr>
          <p:cNvPr id="10" name="s02-02-num"/>
          <p:cNvSpPr>
            <a:spLocks noGrp="1"/>
          </p:cNvSpPr>
          <p:nvPr/>
        </p:nvSpPr>
        <p:spPr>
          <a:xfrm>
            <a:off x="561975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</a:p>
        </p:txBody>
      </p:sp>
      <p:sp>
        <p:nvSpPr>
          <p:cNvPr id="11" name="s02-02-title"/>
          <p:cNvSpPr>
            <a:spLocks noGrp="1"/>
          </p:cNvSpPr>
          <p:nvPr/>
        </p:nvSpPr>
        <p:spPr>
          <a:xfrm>
            <a:off x="561975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进入部门</a:t>
            </a:r>
          </a:p>
        </p:txBody>
      </p:sp>
      <p:sp>
        <p:nvSpPr>
          <p:cNvPr id="12" name="s02-02-detail"/>
          <p:cNvSpPr>
            <a:spLocks noGrp="1"/>
          </p:cNvSpPr>
          <p:nvPr/>
        </p:nvSpPr>
        <p:spPr>
          <a:xfrm>
            <a:off x="561975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>
                <a:solidFill>
                  <a:srgbClr val="7079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建立设备与控制链认知</a:t>
            </a:r>
          </a:p>
        </p:txBody>
      </p:sp>
      <p:sp>
        <p:nvSpPr>
          <p:cNvPr id="13" name="s02-03-num"/>
          <p:cNvSpPr>
            <a:spLocks noGrp="1"/>
          </p:cNvSpPr>
          <p:nvPr/>
        </p:nvSpPr>
        <p:spPr>
          <a:xfrm>
            <a:off x="83820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</a:p>
        </p:txBody>
      </p:sp>
      <p:sp>
        <p:nvSpPr>
          <p:cNvPr id="14" name="s02-03-title"/>
          <p:cNvSpPr>
            <a:spLocks noGrp="1"/>
          </p:cNvSpPr>
          <p:nvPr/>
        </p:nvSpPr>
        <p:spPr>
          <a:xfrm>
            <a:off x="83820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参与课题</a:t>
            </a:r>
          </a:p>
        </p:txBody>
      </p:sp>
      <p:sp>
        <p:nvSpPr>
          <p:cNvPr id="15" name="s02-03-detail"/>
          <p:cNvSpPr>
            <a:spLocks noGrp="1"/>
          </p:cNvSpPr>
          <p:nvPr/>
        </p:nvSpPr>
        <p:spPr>
          <a:xfrm>
            <a:off x="83820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>
                <a:solidFill>
                  <a:srgbClr val="7079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完成动作单元并界定边界</a:t>
            </a:r>
          </a:p>
        </p:txBody>
      </p:sp>
      <p:sp>
        <p:nvSpPr>
          <p:cNvPr id="16" name="s02-result-rule"/>
          <p:cNvSpPr>
            <a:spLocks noGrp="1"/>
          </p:cNvSpPr>
          <p:nvPr/>
        </p:nvSpPr>
        <p:spPr>
          <a:xfrm>
            <a:off x="762000" y="4629150"/>
            <a:ext cx="10668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02-result"/>
          <p:cNvSpPr>
            <a:spLocks noGrp="1"/>
          </p:cNvSpPr>
          <p:nvPr/>
        </p:nvSpPr>
        <p:spPr>
          <a:xfrm>
            <a:off x="762000" y="4762500"/>
            <a:ext cx="666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1次公司认知 · 1条技术路径 · 1个现场课题</a:t>
            </a: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/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muRata  |  Innovator in Electronics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090535" y="1556792"/>
            <a:ext cx="3333750" cy="257683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企业与安全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产业与技术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团队与交流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成果输出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活动参与｜先理解企业如何把技术变成制造能力</a:t>
            </a:r>
          </a:p>
        </p:txBody>
      </p:sp>
      <p:sp>
        <p:nvSpPr>
          <p:cNvPr id="6" name="s03-tag"/>
          <p:cNvSpPr>
            <a:spLocks noGrp="1"/>
          </p:cNvSpPr>
          <p:nvPr/>
        </p:nvSpPr>
        <p:spPr>
          <a:xfrm>
            <a:off x="7810500" y="1123950"/>
            <a:ext cx="3614092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活动参与｜公司视野</a:t>
            </a:r>
          </a:p>
        </p:txBody>
      </p:sp>
      <p:sp>
        <p:nvSpPr>
          <p:cNvPr id="7" name="s03-dot-1"/>
          <p:cNvSpPr>
            <a:spLocks noGrp="1"/>
          </p:cNvSpPr>
          <p:nvPr/>
        </p:nvSpPr>
        <p:spPr>
          <a:xfrm>
            <a:off x="7739608" y="1777797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8" name="s03-dot-2"/>
          <p:cNvSpPr>
            <a:spLocks noGrp="1"/>
          </p:cNvSpPr>
          <p:nvPr/>
        </p:nvSpPr>
        <p:spPr>
          <a:xfrm>
            <a:off x="7739608" y="2480320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9" name="s03-dot-3"/>
          <p:cNvSpPr>
            <a:spLocks noGrp="1"/>
          </p:cNvSpPr>
          <p:nvPr/>
        </p:nvSpPr>
        <p:spPr>
          <a:xfrm>
            <a:off x="7752184" y="3145949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10" name="s03-dot-4"/>
          <p:cNvSpPr>
            <a:spLocks noGrp="1"/>
          </p:cNvSpPr>
          <p:nvPr/>
        </p:nvSpPr>
        <p:spPr>
          <a:xfrm>
            <a:off x="7752184" y="3794021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11" name="s03-callout-line"/>
          <p:cNvSpPr>
            <a:spLocks noGrp="1"/>
          </p:cNvSpPr>
          <p:nvPr/>
        </p:nvSpPr>
        <p:spPr>
          <a:xfrm>
            <a:off x="7810500" y="4673282"/>
            <a:ext cx="0" cy="9906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03-callout"/>
          <p:cNvSpPr>
            <a:spLocks noGrp="1"/>
          </p:cNvSpPr>
          <p:nvPr/>
        </p:nvSpPr>
        <p:spPr>
          <a:xfrm>
            <a:off x="8039100" y="4610824"/>
            <a:ext cx="3429000" cy="1554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我参与了安全教育、企业介绍、智能装备、集成电路产业、人工智能趋势、拓展与交流等活动。</a:t>
            </a:r>
          </a:p>
          <a:p>
            <a:pPr algn="l">
              <a:buNone/>
            </a:pPr>
            <a:r>
              <a:rPr sz="1200"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收获：先理解企业运行，再进入具体技术问题。</a:t>
            </a: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/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muRata  |  Innovator in Electronics</a:t>
            </a:r>
          </a:p>
        </p:txBody>
      </p:sp>
      <p:pic>
        <p:nvPicPr>
          <p:cNvPr id="3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90" y="825500"/>
            <a:ext cx="6943090" cy="55968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76300" y="5102696"/>
            <a:ext cx="4476750" cy="990600"/>
          </a:xfrm>
        </p:spPr>
        <p:txBody>
          <a:bodyPr>
            <a:normAutofit/>
          </a:bodyPr>
          <a:lstStyle/>
          <a:p>
            <a:r>
              <a:rPr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每一步都为下一步服务：</a:t>
            </a:r>
          </a:p>
          <a:p>
            <a:r>
              <a:rPr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先理解设备，再连接控制，最后进入实践。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部门实践把学习广度收敛成一条技术路径</a:t>
            </a:r>
          </a:p>
        </p:txBody>
      </p:sp>
      <p:sp>
        <p:nvSpPr>
          <p:cNvPr id="4" name="s04-stage-line"/>
          <p:cNvSpPr>
            <a:spLocks noGrp="1"/>
          </p:cNvSpPr>
          <p:nvPr/>
        </p:nvSpPr>
        <p:spPr>
          <a:xfrm>
            <a:off x="1114425" y="1458094"/>
            <a:ext cx="13023" cy="2769096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04-stage-1"/>
          <p:cNvSpPr>
            <a:spLocks noGrp="1"/>
          </p:cNvSpPr>
          <p:nvPr/>
        </p:nvSpPr>
        <p:spPr>
          <a:xfrm>
            <a:off x="904875" y="126876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6" name="s04-title-1"/>
          <p:cNvSpPr>
            <a:spLocks noGrp="1"/>
          </p:cNvSpPr>
          <p:nvPr/>
        </p:nvSpPr>
        <p:spPr>
          <a:xfrm>
            <a:off x="1524000" y="1276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现场认知</a:t>
            </a:r>
          </a:p>
        </p:txBody>
      </p:sp>
      <p:sp>
        <p:nvSpPr>
          <p:cNvPr id="7" name="s04-detail-1"/>
          <p:cNvSpPr>
            <a:spLocks noGrp="1"/>
          </p:cNvSpPr>
          <p:nvPr/>
        </p:nvSpPr>
        <p:spPr>
          <a:xfrm>
            <a:off x="1524000" y="1581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安全意识｜SUS合理化线｜UV贴膜线</a:t>
            </a:r>
          </a:p>
        </p:txBody>
      </p:sp>
      <p:sp>
        <p:nvSpPr>
          <p:cNvPr id="8" name="s04-stage-2"/>
          <p:cNvSpPr>
            <a:spLocks noGrp="1"/>
          </p:cNvSpPr>
          <p:nvPr/>
        </p:nvSpPr>
        <p:spPr>
          <a:xfrm>
            <a:off x="904875" y="1982738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9" name="s04-title-2"/>
          <p:cNvSpPr>
            <a:spLocks noGrp="1"/>
          </p:cNvSpPr>
          <p:nvPr/>
        </p:nvSpPr>
        <p:spPr>
          <a:xfrm>
            <a:off x="1524000" y="19431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PLC与通信</a:t>
            </a:r>
          </a:p>
        </p:txBody>
      </p:sp>
      <p:sp>
        <p:nvSpPr>
          <p:cNvPr id="10" name="s04-detail-2"/>
          <p:cNvSpPr>
            <a:spLocks noGrp="1"/>
          </p:cNvSpPr>
          <p:nvPr/>
        </p:nvSpPr>
        <p:spPr>
          <a:xfrm>
            <a:off x="1524000" y="22479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梯形图｜I/O映射｜ST｜工业以太网</a:t>
            </a:r>
          </a:p>
        </p:txBody>
      </p:sp>
      <p:sp>
        <p:nvSpPr>
          <p:cNvPr id="11" name="s04-stage-3"/>
          <p:cNvSpPr>
            <a:spLocks noGrp="1"/>
          </p:cNvSpPr>
          <p:nvPr/>
        </p:nvSpPr>
        <p:spPr>
          <a:xfrm>
            <a:off x="904875" y="263081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12" name="s04-title-3"/>
          <p:cNvSpPr>
            <a:spLocks noGrp="1"/>
          </p:cNvSpPr>
          <p:nvPr/>
        </p:nvSpPr>
        <p:spPr>
          <a:xfrm>
            <a:off x="1524000" y="2609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机器人</a:t>
            </a:r>
          </a:p>
        </p:txBody>
      </p:sp>
      <p:sp>
        <p:nvSpPr>
          <p:cNvPr id="13" name="s04-detail-3"/>
          <p:cNvSpPr>
            <a:spLocks noGrp="1"/>
          </p:cNvSpPr>
          <p:nvPr/>
        </p:nvSpPr>
        <p:spPr>
          <a:xfrm>
            <a:off x="1524000" y="2927226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示教器｜坐标系｜低速手动操作</a:t>
            </a:r>
          </a:p>
        </p:txBody>
      </p:sp>
      <p:sp>
        <p:nvSpPr>
          <p:cNvPr id="14" name="s04-stage-4"/>
          <p:cNvSpPr>
            <a:spLocks noGrp="1"/>
          </p:cNvSpPr>
          <p:nvPr/>
        </p:nvSpPr>
        <p:spPr>
          <a:xfrm>
            <a:off x="904875" y="3278882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15" name="s04-title-4"/>
          <p:cNvSpPr>
            <a:spLocks noGrp="1"/>
          </p:cNvSpPr>
          <p:nvPr/>
        </p:nvSpPr>
        <p:spPr>
          <a:xfrm>
            <a:off x="1524000" y="32766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课题实践</a:t>
            </a:r>
          </a:p>
        </p:txBody>
      </p:sp>
      <p:sp>
        <p:nvSpPr>
          <p:cNvPr id="16" name="s04-detail-4"/>
          <p:cNvSpPr>
            <a:spLocks noGrp="1"/>
          </p:cNvSpPr>
          <p:nvPr/>
        </p:nvSpPr>
        <p:spPr>
          <a:xfrm>
            <a:off x="1524000" y="35814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079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吸取、检测与动作衔接</a:t>
            </a:r>
          </a:p>
        </p:txBody>
      </p:sp>
      <p:sp>
        <p:nvSpPr>
          <p:cNvPr id="17" name="s04-stage-5"/>
          <p:cNvSpPr>
            <a:spLocks noGrp="1"/>
          </p:cNvSpPr>
          <p:nvPr/>
        </p:nvSpPr>
        <p:spPr>
          <a:xfrm>
            <a:off x="904875" y="3933056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18" name="s04-title-5"/>
          <p:cNvSpPr>
            <a:spLocks noGrp="1"/>
          </p:cNvSpPr>
          <p:nvPr/>
        </p:nvSpPr>
        <p:spPr>
          <a:xfrm>
            <a:off x="1524000" y="3943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总结输出</a:t>
            </a:r>
          </a:p>
        </p:txBody>
      </p:sp>
      <p:sp>
        <p:nvSpPr>
          <p:cNvPr id="19" name="s04-detail-5"/>
          <p:cNvSpPr>
            <a:spLocks noGrp="1"/>
          </p:cNvSpPr>
          <p:nvPr/>
        </p:nvSpPr>
        <p:spPr>
          <a:xfrm>
            <a:off x="1524000" y="4248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079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资料沉淀与成果汇报</a:t>
            </a:r>
          </a:p>
        </p:txBody>
      </p:sp>
      <p:sp>
        <p:nvSpPr>
          <p:cNvPr id="20" name="s04-plan-frame"/>
          <p:cNvSpPr>
            <a:spLocks noGrp="1"/>
          </p:cNvSpPr>
          <p:nvPr/>
        </p:nvSpPr>
        <p:spPr>
          <a:xfrm>
            <a:off x="5810250" y="1123950"/>
            <a:ext cx="5657850" cy="4533900"/>
          </a:xfrm>
          <a:prstGeom prst="rect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04-image-tag"/>
          <p:cNvSpPr>
            <a:spLocks noGrp="1"/>
          </p:cNvSpPr>
          <p:nvPr/>
        </p:nvSpPr>
        <p:spPr>
          <a:xfrm>
            <a:off x="6191250" y="12573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部门工作｜技术深度</a:t>
            </a:r>
          </a:p>
        </p:txBody>
      </p:sp>
      <p:sp>
        <p:nvSpPr>
          <p:cNvPr id="43" name="Rectangle 42"/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4" name="Rectangle 43"/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" name="TextBox 44"/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muRata  |  Innovator in Electronics</a:t>
            </a:r>
          </a:p>
        </p:txBody>
      </p:sp>
      <p:pic>
        <p:nvPicPr>
          <p:cNvPr id="70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525" y="765175"/>
            <a:ext cx="6499225" cy="55340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38200" y="1714500"/>
            <a:ext cx="2809528" cy="2476500"/>
          </a:xfrm>
        </p:spPr>
        <p:txBody>
          <a:bodyPr>
            <a:normAutofit fontScale="95486"/>
          </a:bodyPr>
          <a:lstStyle/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SUS合理化线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UV贴膜自动化线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电气部品与执行元件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PLC、传感器与机器人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部门工作不是操作单机，而是维护一条控制链</a:t>
            </a:r>
          </a:p>
        </p:txBody>
      </p:sp>
      <p:sp>
        <p:nvSpPr>
          <p:cNvPr id="4" name="s06-tag"/>
          <p:cNvSpPr>
            <a:spLocks noGrp="1"/>
          </p:cNvSpPr>
          <p:nvPr/>
        </p:nvSpPr>
        <p:spPr>
          <a:xfrm>
            <a:off x="838200" y="1200150"/>
            <a:ext cx="280952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部门工作</a:t>
            </a:r>
          </a:p>
        </p:txBody>
      </p:sp>
      <p:sp>
        <p:nvSpPr>
          <p:cNvPr id="5" name="s06-chain-line"/>
          <p:cNvSpPr>
            <a:spLocks noGrp="1"/>
          </p:cNvSpPr>
          <p:nvPr/>
        </p:nvSpPr>
        <p:spPr>
          <a:xfrm>
            <a:off x="876300" y="4686300"/>
            <a:ext cx="32004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06-chain"/>
          <p:cNvSpPr>
            <a:spLocks noGrp="1"/>
          </p:cNvSpPr>
          <p:nvPr/>
        </p:nvSpPr>
        <p:spPr>
          <a:xfrm>
            <a:off x="838200" y="4857750"/>
            <a:ext cx="3524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0766"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感知  →  判断  →  通信  →  执行</a:t>
            </a:r>
          </a:p>
        </p:txBody>
      </p:sp>
      <p:sp>
        <p:nvSpPr>
          <p:cNvPr id="7" name="s06-chain-detail"/>
          <p:cNvSpPr>
            <a:spLocks noGrp="1"/>
          </p:cNvSpPr>
          <p:nvPr/>
        </p:nvSpPr>
        <p:spPr>
          <a:xfrm>
            <a:off x="576072" y="5314950"/>
            <a:ext cx="4223784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>
                <a:solidFill>
                  <a:srgbClr val="7079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把设备状态转化为可执行动作</a:t>
            </a:r>
          </a:p>
        </p:txBody>
      </p:sp>
      <p:pic>
        <p:nvPicPr>
          <p:cNvPr id="26" name="图片 14"/>
          <p:cNvPicPr>
            <a:picLocks noChangeAspect="1"/>
          </p:cNvPicPr>
          <p:nvPr/>
        </p:nvPicPr>
        <p:blipFill>
          <a:blip r:embed="rId3"/>
          <a:srcRect l="8881" r="8881"/>
          <a:stretch>
            <a:fillRect/>
          </a:stretch>
        </p:blipFill>
        <p:spPr>
          <a:xfrm>
            <a:off x="4648200" y="1104900"/>
            <a:ext cx="6819900" cy="4667250"/>
          </a:xfrm>
          <a:prstGeom prst="rect">
            <a:avLst/>
          </a:prstGeom>
        </p:spPr>
      </p:pic>
      <p:sp>
        <p:nvSpPr>
          <p:cNvPr id="16" name="Rectangle 15"/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/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muRata  |  Innovator in Electronics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175" y="191135"/>
            <a:ext cx="9435465" cy="530352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参加课题｜利用现有条件提升检测信息覆盖</a:t>
            </a:r>
          </a:p>
        </p:txBody>
      </p:sp>
      <p:sp>
        <p:nvSpPr>
          <p:cNvPr id="4" name="s10-label-0"/>
          <p:cNvSpPr>
            <a:spLocks noGrp="1"/>
          </p:cNvSpPr>
          <p:nvPr/>
        </p:nvSpPr>
        <p:spPr>
          <a:xfrm>
            <a:off x="1273175" y="1123352"/>
            <a:ext cx="1462151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 贴片完成</a:t>
            </a:r>
          </a:p>
        </p:txBody>
      </p:sp>
      <p:sp>
        <p:nvSpPr>
          <p:cNvPr id="5" name="s10-label-1"/>
          <p:cNvSpPr>
            <a:spLocks noGrp="1"/>
          </p:cNvSpPr>
          <p:nvPr/>
        </p:nvSpPr>
        <p:spPr>
          <a:xfrm>
            <a:off x="3104642" y="1123352"/>
            <a:ext cx="1169034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 激光测高</a:t>
            </a:r>
          </a:p>
        </p:txBody>
      </p:sp>
      <p:sp>
        <p:nvSpPr>
          <p:cNvPr id="6" name="s10-label-2"/>
          <p:cNvSpPr>
            <a:spLocks noGrp="1"/>
          </p:cNvSpPr>
          <p:nvPr/>
        </p:nvSpPr>
        <p:spPr>
          <a:xfrm>
            <a:off x="4642992" y="1123352"/>
            <a:ext cx="1169036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 吸嘴取膜</a:t>
            </a:r>
          </a:p>
        </p:txBody>
      </p:sp>
      <p:sp>
        <p:nvSpPr>
          <p:cNvPr id="7" name="s10-label-3"/>
          <p:cNvSpPr>
            <a:spLocks noGrp="1"/>
          </p:cNvSpPr>
          <p:nvPr/>
        </p:nvSpPr>
        <p:spPr>
          <a:xfrm>
            <a:off x="6181344" y="1123352"/>
            <a:ext cx="1097280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 取膜检测</a:t>
            </a:r>
          </a:p>
        </p:txBody>
      </p:sp>
      <p:sp>
        <p:nvSpPr>
          <p:cNvPr id="8" name="s10-label-4"/>
          <p:cNvSpPr>
            <a:spLocks noGrp="1"/>
          </p:cNvSpPr>
          <p:nvPr/>
        </p:nvSpPr>
        <p:spPr>
          <a:xfrm>
            <a:off x="7647940" y="1123352"/>
            <a:ext cx="1240790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 膜材贴合</a:t>
            </a:r>
          </a:p>
        </p:txBody>
      </p:sp>
      <p:sp>
        <p:nvSpPr>
          <p:cNvPr id="9" name="s10-label-5"/>
          <p:cNvSpPr>
            <a:spLocks noGrp="1"/>
          </p:cNvSpPr>
          <p:nvPr/>
        </p:nvSpPr>
        <p:spPr>
          <a:xfrm>
            <a:off x="9258046" y="1123352"/>
            <a:ext cx="1169035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 进入加压</a:t>
            </a:r>
          </a:p>
        </p:txBody>
      </p:sp>
      <p:sp>
        <p:nvSpPr>
          <p:cNvPr id="11" name="s10-task-line"/>
          <p:cNvSpPr>
            <a:spLocks noGrp="1"/>
          </p:cNvSpPr>
          <p:nvPr/>
        </p:nvSpPr>
        <p:spPr>
          <a:xfrm>
            <a:off x="694690" y="4698077"/>
            <a:ext cx="1216" cy="533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10-task-tag"/>
          <p:cNvSpPr>
            <a:spLocks noGrp="1"/>
          </p:cNvSpPr>
          <p:nvPr/>
        </p:nvSpPr>
        <p:spPr>
          <a:xfrm>
            <a:off x="777240" y="4650740"/>
            <a:ext cx="106070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参与课题：双角检测动作改造</a:t>
            </a:r>
          </a:p>
        </p:txBody>
      </p:sp>
      <p:sp>
        <p:nvSpPr>
          <p:cNvPr id="13" name="s10-task"/>
          <p:cNvSpPr>
            <a:spLocks noGrp="1"/>
          </p:cNvSpPr>
          <p:nvPr/>
        </p:nvSpPr>
        <p:spPr>
          <a:xfrm>
            <a:off x="777240" y="4943475"/>
            <a:ext cx="10607040" cy="3448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在不新增激光传感器、不改变原主流程的条件下，通过调整机械臂动作，让膜材两个角依次经过同一固定检测点。</a:t>
            </a: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Rectangle 22"/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/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" name="Rounded Rectangle 25"/>
          <p:cNvSpPr>
            <a:spLocks noGrp="1"/>
          </p:cNvSpPr>
          <p:nvPr/>
        </p:nvSpPr>
        <p:spPr>
          <a:xfrm>
            <a:off x="623570" y="5346700"/>
            <a:ext cx="5111175" cy="955040"/>
          </a:xfrm>
          <a:prstGeom prst="roundRect">
            <a:avLst/>
          </a:prstGeom>
          <a:solidFill>
            <a:srgbClr val="FFE8EC"/>
          </a:solidFill>
          <a:ln w="14288">
            <a:solidFill>
              <a:srgbClr val="F5002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r>
              <a: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现场问题｜单角检测信息有限</a:t>
            </a:r>
          </a:p>
          <a:p>
            <a:r>
              <a:rPr sz="1275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静电吸附可能造成多张膜叠附，另一侧状态没有被覆盖。</a:t>
            </a:r>
          </a:p>
        </p:txBody>
      </p:sp>
      <p:sp>
        <p:nvSpPr>
          <p:cNvPr id="27" name="Rounded Rectangle 26"/>
          <p:cNvSpPr>
            <a:spLocks noGrp="1"/>
          </p:cNvSpPr>
          <p:nvPr/>
        </p:nvSpPr>
        <p:spPr>
          <a:xfrm>
            <a:off x="5951983" y="5348605"/>
            <a:ext cx="5556121" cy="944880"/>
          </a:xfrm>
          <a:prstGeom prst="round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r>
              <a: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我的任务｜用动作扩展检测覆盖</a:t>
            </a:r>
          </a:p>
          <a:p>
            <a:r>
              <a:rPr sz="1275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在指导下完成点位确认、路径设计、低速调试与原流程衔接。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970" y="916305"/>
            <a:ext cx="8143875" cy="458343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动作实现｜P0→P1→P0→P2完成低速贯通</a:t>
            </a:r>
          </a:p>
        </p:txBody>
      </p:sp>
      <p:sp>
        <p:nvSpPr>
          <p:cNvPr id="8" name="s12-bottom-rule"/>
          <p:cNvSpPr>
            <a:spLocks noGrp="1"/>
          </p:cNvSpPr>
          <p:nvPr/>
        </p:nvSpPr>
        <p:spPr>
          <a:xfrm>
            <a:off x="876300" y="55816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12-bottom"/>
          <p:cNvSpPr>
            <a:spLocks noGrp="1"/>
          </p:cNvSpPr>
          <p:nvPr/>
        </p:nvSpPr>
        <p:spPr>
          <a:xfrm>
            <a:off x="876300" y="5695950"/>
            <a:ext cx="1028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6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传感器固定，移动膜材；P0作为统一中间位置。</a:t>
            </a: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/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muRata  |  Innovator in Electronics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成果判断｜完成动作单元，也明确后续验证边界</a:t>
            </a:r>
          </a:p>
        </p:txBody>
      </p:sp>
      <p:sp>
        <p:nvSpPr>
          <p:cNvPr id="4" name="s13-timeline"/>
          <p:cNvSpPr>
            <a:spLocks noGrp="1"/>
          </p:cNvSpPr>
          <p:nvPr/>
        </p:nvSpPr>
        <p:spPr>
          <a:xfrm>
            <a:off x="1257300" y="1371600"/>
            <a:ext cx="9525" cy="3486150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13-step-0"/>
          <p:cNvSpPr>
            <a:spLocks noGrp="1"/>
          </p:cNvSpPr>
          <p:nvPr/>
        </p:nvSpPr>
        <p:spPr>
          <a:xfrm>
            <a:off x="1047750" y="12001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6" name="s13-title-0"/>
          <p:cNvSpPr>
            <a:spLocks noGrp="1"/>
          </p:cNvSpPr>
          <p:nvPr/>
        </p:nvSpPr>
        <p:spPr>
          <a:xfrm>
            <a:off x="1714500" y="11811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明确P0 / P1 / P2</a:t>
            </a:r>
          </a:p>
        </p:txBody>
      </p:sp>
      <p:sp>
        <p:nvSpPr>
          <p:cNvPr id="7" name="s13-detail-0"/>
          <p:cNvSpPr>
            <a:spLocks noGrp="1"/>
          </p:cNvSpPr>
          <p:nvPr/>
        </p:nvSpPr>
        <p:spPr>
          <a:xfrm>
            <a:off x="1714500" y="15240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先定义统一原点与两个检测位置</a:t>
            </a:r>
          </a:p>
        </p:txBody>
      </p:sp>
      <p:sp>
        <p:nvSpPr>
          <p:cNvPr id="8" name="s13-step-1"/>
          <p:cNvSpPr>
            <a:spLocks noGrp="1"/>
          </p:cNvSpPr>
          <p:nvPr/>
        </p:nvSpPr>
        <p:spPr>
          <a:xfrm>
            <a:off x="1047750" y="20383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9" name="s13-title-1"/>
          <p:cNvSpPr>
            <a:spLocks noGrp="1"/>
          </p:cNvSpPr>
          <p:nvPr/>
        </p:nvSpPr>
        <p:spPr>
          <a:xfrm>
            <a:off x="1714500" y="20193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低速确认XYZ与姿态</a:t>
            </a:r>
          </a:p>
        </p:txBody>
      </p:sp>
      <p:sp>
        <p:nvSpPr>
          <p:cNvPr id="10" name="s13-detail-1"/>
          <p:cNvSpPr>
            <a:spLocks noGrp="1"/>
          </p:cNvSpPr>
          <p:nvPr/>
        </p:nvSpPr>
        <p:spPr>
          <a:xfrm>
            <a:off x="1714500" y="23622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使用示教器检查移动方向</a:t>
            </a:r>
          </a:p>
        </p:txBody>
      </p:sp>
      <p:sp>
        <p:nvSpPr>
          <p:cNvPr id="11" name="s13-step-2"/>
          <p:cNvSpPr>
            <a:spLocks noGrp="1"/>
          </p:cNvSpPr>
          <p:nvPr/>
        </p:nvSpPr>
        <p:spPr>
          <a:xfrm>
            <a:off x="1047750" y="28765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12" name="s13-title-2"/>
          <p:cNvSpPr>
            <a:spLocks noGrp="1"/>
          </p:cNvSpPr>
          <p:nvPr/>
        </p:nvSpPr>
        <p:spPr>
          <a:xfrm>
            <a:off x="1714500" y="28575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逐段验证三段路径</a:t>
            </a:r>
          </a:p>
        </p:txBody>
      </p:sp>
      <p:sp>
        <p:nvSpPr>
          <p:cNvPr id="13" name="s13-detail-2"/>
          <p:cNvSpPr>
            <a:spLocks noGrp="1"/>
          </p:cNvSpPr>
          <p:nvPr/>
        </p:nvSpPr>
        <p:spPr>
          <a:xfrm>
            <a:off x="1714500" y="32004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P0→P1、P1→P0、P0→P2</a:t>
            </a:r>
          </a:p>
        </p:txBody>
      </p:sp>
      <p:sp>
        <p:nvSpPr>
          <p:cNvPr id="14" name="s13-step-3"/>
          <p:cNvSpPr>
            <a:spLocks noGrp="1"/>
          </p:cNvSpPr>
          <p:nvPr/>
        </p:nvSpPr>
        <p:spPr>
          <a:xfrm>
            <a:off x="1047750" y="37147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15" name="s13-title-3"/>
          <p:cNvSpPr>
            <a:spLocks noGrp="1"/>
          </p:cNvSpPr>
          <p:nvPr/>
        </p:nvSpPr>
        <p:spPr>
          <a:xfrm>
            <a:off x="1714500" y="36957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确认流程衔接</a:t>
            </a:r>
          </a:p>
        </p:txBody>
      </p:sp>
      <p:sp>
        <p:nvSpPr>
          <p:cNvPr id="16" name="s13-detail-3"/>
          <p:cNvSpPr>
            <a:spLocks noGrp="1"/>
          </p:cNvSpPr>
          <p:nvPr/>
        </p:nvSpPr>
        <p:spPr>
          <a:xfrm>
            <a:off x="1714500" y="40386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检测通过后进入原有后续动作</a:t>
            </a:r>
          </a:p>
        </p:txBody>
      </p:sp>
      <p:sp>
        <p:nvSpPr>
          <p:cNvPr id="17" name="s13-step-4"/>
          <p:cNvSpPr>
            <a:spLocks noGrp="1"/>
          </p:cNvSpPr>
          <p:nvPr/>
        </p:nvSpPr>
        <p:spPr>
          <a:xfrm>
            <a:off x="1047750" y="45529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18" name="s13-title-4"/>
          <p:cNvSpPr>
            <a:spLocks noGrp="1"/>
          </p:cNvSpPr>
          <p:nvPr/>
        </p:nvSpPr>
        <p:spPr>
          <a:xfrm>
            <a:off x="1714500" y="45339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连续观察重复性</a:t>
            </a:r>
          </a:p>
        </p:txBody>
      </p:sp>
      <p:sp>
        <p:nvSpPr>
          <p:cNvPr id="19" name="s13-detail-4"/>
          <p:cNvSpPr>
            <a:spLocks noGrp="1"/>
          </p:cNvSpPr>
          <p:nvPr/>
        </p:nvSpPr>
        <p:spPr>
          <a:xfrm>
            <a:off x="1714500" y="48768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从“能动”走向“稳定可复现”</a:t>
            </a:r>
          </a:p>
        </p:txBody>
      </p:sp>
      <p:sp>
        <p:nvSpPr>
          <p:cNvPr id="20" name="s13-divider"/>
          <p:cNvSpPr>
            <a:spLocks noGrp="1"/>
          </p:cNvSpPr>
          <p:nvPr/>
        </p:nvSpPr>
        <p:spPr>
          <a:xfrm>
            <a:off x="5905500" y="1181100"/>
            <a:ext cx="9525" cy="44577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13-done-tag"/>
          <p:cNvSpPr>
            <a:spLocks noGrp="1"/>
          </p:cNvSpPr>
          <p:nvPr/>
        </p:nvSpPr>
        <p:spPr>
          <a:xfrm>
            <a:off x="6381749" y="1257300"/>
            <a:ext cx="1880997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已经完成</a:t>
            </a:r>
          </a:p>
        </p:txBody>
      </p:sp>
      <p:sp>
        <p:nvSpPr>
          <p:cNvPr id="22" name="s13-done"/>
          <p:cNvSpPr>
            <a:spLocks noGrp="1"/>
          </p:cNvSpPr>
          <p:nvPr/>
        </p:nvSpPr>
        <p:spPr>
          <a:xfrm>
            <a:off x="6381750" y="1733550"/>
            <a:ext cx="36861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双角检测动作序列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 / P1 / P2关键点位定位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与原后续动作衔接</a:t>
            </a:r>
          </a:p>
          <a:p>
            <a:pPr>
              <a:buNone/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连续多次运行</a:t>
            </a:r>
          </a:p>
        </p:txBody>
      </p:sp>
      <p:sp>
        <p:nvSpPr>
          <p:cNvPr id="23" name="s13-right-mid"/>
          <p:cNvSpPr>
            <a:spLocks noGrp="1"/>
          </p:cNvSpPr>
          <p:nvPr/>
        </p:nvSpPr>
        <p:spPr>
          <a:xfrm>
            <a:off x="6381750" y="3314700"/>
            <a:ext cx="44767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13-next-tag"/>
          <p:cNvSpPr>
            <a:spLocks noGrp="1"/>
          </p:cNvSpPr>
          <p:nvPr/>
        </p:nvSpPr>
        <p:spPr>
          <a:xfrm>
            <a:off x="6381750" y="35433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仍需继续验证</a:t>
            </a:r>
          </a:p>
        </p:txBody>
      </p:sp>
      <p:sp>
        <p:nvSpPr>
          <p:cNvPr id="25" name="s13-next"/>
          <p:cNvSpPr>
            <a:spLocks noGrp="1"/>
          </p:cNvSpPr>
          <p:nvPr/>
        </p:nvSpPr>
        <p:spPr>
          <a:xfrm>
            <a:off x="6381750" y="4038600"/>
            <a:ext cx="4762500" cy="131368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079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单张 / 多张样本覆盖</a:t>
            </a:r>
          </a:p>
          <a:p>
            <a:pPr algn="l">
              <a:buNone/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079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异常、报警与流程中断记录</a:t>
            </a:r>
          </a:p>
          <a:p>
            <a:pPr algn="l">
              <a:buNone/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079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节拍影响与成功率数据</a:t>
            </a:r>
          </a:p>
        </p:txBody>
      </p:sp>
      <p:sp>
        <p:nvSpPr>
          <p:cNvPr id="27" name="Rectangle 26"/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/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/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muRata  |  Innovator in Electronics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57250" y="5476875"/>
            <a:ext cx="10287000" cy="868680"/>
          </a:xfrm>
        </p:spPr>
        <p:txBody>
          <a:bodyPr>
            <a:normAutofit/>
          </a:bodyPr>
          <a:lstStyle/>
          <a:p>
            <a:r>
              <a:rPr sz="1425"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已有经验帮助我更快理解问题，但工艺、安全和设备边界必须重新学习。</a:t>
            </a:r>
          </a:p>
          <a:p>
            <a:pPr algn="l">
              <a:buNone/>
            </a:pPr>
            <a:r>
              <a:rPr sz="14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能力迁移的结果，不是更快写程序，而是更快形成可验证方案。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已有经历缩短上手时间，现场约束决定最终方案</a:t>
            </a:r>
          </a:p>
        </p:txBody>
      </p:sp>
      <p:sp>
        <p:nvSpPr>
          <p:cNvPr id="4" name="s05-leftbar-0"/>
          <p:cNvSpPr>
            <a:spLocks noGrp="1"/>
          </p:cNvSpPr>
          <p:nvPr/>
        </p:nvSpPr>
        <p:spPr>
          <a:xfrm>
            <a:off x="838200" y="1409700"/>
            <a:ext cx="0" cy="867172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05-source-0"/>
          <p:cNvSpPr>
            <a:spLocks noGrp="1"/>
          </p:cNvSpPr>
          <p:nvPr/>
        </p:nvSpPr>
        <p:spPr>
          <a:xfrm>
            <a:off x="1104900" y="14097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本科PLC毕业设计</a:t>
            </a:r>
          </a:p>
        </p:txBody>
      </p:sp>
      <p:sp>
        <p:nvSpPr>
          <p:cNvPr id="6" name="s05-source-detail-0"/>
          <p:cNvSpPr>
            <a:spLocks noGrp="1"/>
          </p:cNvSpPr>
          <p:nvPr/>
        </p:nvSpPr>
        <p:spPr>
          <a:xfrm>
            <a:off x="1104900" y="18669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紫菜处理与清洗生产线</a:t>
            </a:r>
          </a:p>
        </p:txBody>
      </p:sp>
      <p:sp>
        <p:nvSpPr>
          <p:cNvPr id="7" name="s05-arrow-0"/>
          <p:cNvSpPr>
            <a:spLocks noGrp="1"/>
          </p:cNvSpPr>
          <p:nvPr/>
        </p:nvSpPr>
        <p:spPr>
          <a:xfrm>
            <a:off x="4762500" y="15811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8" name="s05-output-0"/>
          <p:cNvSpPr>
            <a:spLocks noGrp="1"/>
          </p:cNvSpPr>
          <p:nvPr/>
        </p:nvSpPr>
        <p:spPr>
          <a:xfrm>
            <a:off x="6019800" y="14478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快速理解梯形图与顺序控制</a:t>
            </a:r>
          </a:p>
        </p:txBody>
      </p:sp>
      <p:sp>
        <p:nvSpPr>
          <p:cNvPr id="9" name="s05-rowline-0"/>
          <p:cNvSpPr>
            <a:spLocks noGrp="1"/>
          </p:cNvSpPr>
          <p:nvPr/>
        </p:nvSpPr>
        <p:spPr>
          <a:xfrm>
            <a:off x="857250" y="25146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05-leftbar-1"/>
          <p:cNvSpPr>
            <a:spLocks noGrp="1"/>
          </p:cNvSpPr>
          <p:nvPr/>
        </p:nvSpPr>
        <p:spPr>
          <a:xfrm>
            <a:off x="838200" y="2819400"/>
            <a:ext cx="0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05-source-1"/>
          <p:cNvSpPr>
            <a:spLocks noGrp="1"/>
          </p:cNvSpPr>
          <p:nvPr/>
        </p:nvSpPr>
        <p:spPr>
          <a:xfrm>
            <a:off x="1104900" y="28194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硕士期间参与国家级项目</a:t>
            </a:r>
          </a:p>
        </p:txBody>
      </p:sp>
      <p:sp>
        <p:nvSpPr>
          <p:cNvPr id="12" name="s05-source-detail-1"/>
          <p:cNvSpPr>
            <a:spLocks noGrp="1"/>
          </p:cNvSpPr>
          <p:nvPr/>
        </p:nvSpPr>
        <p:spPr>
          <a:xfrm>
            <a:off x="1104900" y="32766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八电机协同控制空间球体</a:t>
            </a:r>
          </a:p>
        </p:txBody>
      </p:sp>
      <p:sp>
        <p:nvSpPr>
          <p:cNvPr id="13" name="s05-arrow-1"/>
          <p:cNvSpPr>
            <a:spLocks noGrp="1"/>
          </p:cNvSpPr>
          <p:nvPr/>
        </p:nvSpPr>
        <p:spPr>
          <a:xfrm>
            <a:off x="4762500" y="29908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4" name="s05-output-1"/>
          <p:cNvSpPr>
            <a:spLocks noGrp="1"/>
          </p:cNvSpPr>
          <p:nvPr/>
        </p:nvSpPr>
        <p:spPr>
          <a:xfrm>
            <a:off x="6019800" y="28575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理解多执行器协同与通信</a:t>
            </a:r>
          </a:p>
        </p:txBody>
      </p:sp>
      <p:sp>
        <p:nvSpPr>
          <p:cNvPr id="15" name="s05-rowline-1"/>
          <p:cNvSpPr>
            <a:spLocks noGrp="1"/>
          </p:cNvSpPr>
          <p:nvPr/>
        </p:nvSpPr>
        <p:spPr>
          <a:xfrm>
            <a:off x="857250" y="39243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05-leftbar-2"/>
          <p:cNvSpPr>
            <a:spLocks noGrp="1"/>
          </p:cNvSpPr>
          <p:nvPr/>
        </p:nvSpPr>
        <p:spPr>
          <a:xfrm flipH="1">
            <a:off x="838199" y="4229100"/>
            <a:ext cx="1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05-source-2"/>
          <p:cNvSpPr>
            <a:spLocks noGrp="1"/>
          </p:cNvSpPr>
          <p:nvPr/>
        </p:nvSpPr>
        <p:spPr>
          <a:xfrm>
            <a:off x="1104900" y="42291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硕士研究方向：惯性导航</a:t>
            </a:r>
          </a:p>
        </p:txBody>
      </p:sp>
      <p:sp>
        <p:nvSpPr>
          <p:cNvPr id="18" name="s05-source-detail-2"/>
          <p:cNvSpPr>
            <a:spLocks noGrp="1"/>
          </p:cNvSpPr>
          <p:nvPr/>
        </p:nvSpPr>
        <p:spPr>
          <a:xfrm>
            <a:off x="1104900" y="46863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坐标变换与姿态表达</a:t>
            </a:r>
          </a:p>
        </p:txBody>
      </p:sp>
      <p:sp>
        <p:nvSpPr>
          <p:cNvPr id="19" name="s05-arrow-2"/>
          <p:cNvSpPr>
            <a:spLocks noGrp="1"/>
          </p:cNvSpPr>
          <p:nvPr/>
        </p:nvSpPr>
        <p:spPr>
          <a:xfrm>
            <a:off x="4762500" y="44005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20" name="s05-output-2"/>
          <p:cNvSpPr>
            <a:spLocks noGrp="1"/>
          </p:cNvSpPr>
          <p:nvPr/>
        </p:nvSpPr>
        <p:spPr>
          <a:xfrm>
            <a:off x="6019800" y="42672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快速理解TCP / 用户坐标系</a:t>
            </a:r>
          </a:p>
        </p:txBody>
      </p:sp>
      <p:sp>
        <p:nvSpPr>
          <p:cNvPr id="21" name="Rectangle 20"/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/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muRata  |  Innovator in Electronics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723900" y="5467350"/>
            <a:ext cx="10744200" cy="514350"/>
          </a:xfrm>
        </p:spPr>
        <p:txBody>
          <a:bodyPr>
            <a:normAutofit fontScale="94136" lnSpcReduction="10000"/>
          </a:bodyPr>
          <a:lstStyle/>
          <a:p>
            <a:r>
              <a:rPr sz="1350"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认识：制造现场中的每个动作都连接着安全、质量、节拍与协作</a:t>
            </a:r>
          </a:p>
          <a:p>
            <a:r>
              <a:rPr sz="1350"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改变：面对问题时，先理解系统，再动手修改，最后用数据验证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活动收获｜我带走的不是指令，而是三种工作方法</a:t>
            </a:r>
          </a:p>
        </p:txBody>
      </p:sp>
      <p:sp>
        <p:nvSpPr>
          <p:cNvPr id="4" name="s02-days"/>
          <p:cNvSpPr>
            <a:spLocks noGrp="1"/>
          </p:cNvSpPr>
          <p:nvPr/>
        </p:nvSpPr>
        <p:spPr>
          <a:xfrm>
            <a:off x="762000" y="1162050"/>
            <a:ext cx="171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3点</a:t>
            </a:r>
          </a:p>
        </p:txBody>
      </p:sp>
      <p:sp>
        <p:nvSpPr>
          <p:cNvPr id="5" name="s02-date"/>
          <p:cNvSpPr>
            <a:spLocks noGrp="1"/>
          </p:cNvSpPr>
          <p:nvPr/>
        </p:nvSpPr>
        <p:spPr>
          <a:xfrm>
            <a:off x="800100" y="1952625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7079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核心收获</a:t>
            </a:r>
          </a:p>
        </p:txBody>
      </p:sp>
      <p:sp>
        <p:nvSpPr>
          <p:cNvPr id="6" name="s02-flow-line"/>
          <p:cNvSpPr>
            <a:spLocks noGrp="1"/>
          </p:cNvSpPr>
          <p:nvPr/>
        </p:nvSpPr>
        <p:spPr>
          <a:xfrm>
            <a:off x="2667000" y="272415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02-01-num"/>
          <p:cNvSpPr>
            <a:spLocks noGrp="1"/>
          </p:cNvSpPr>
          <p:nvPr/>
        </p:nvSpPr>
        <p:spPr>
          <a:xfrm>
            <a:off x="28575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</a:p>
        </p:txBody>
      </p:sp>
      <p:sp>
        <p:nvSpPr>
          <p:cNvPr id="8" name="s02-01-title"/>
          <p:cNvSpPr>
            <a:spLocks noGrp="1"/>
          </p:cNvSpPr>
          <p:nvPr/>
        </p:nvSpPr>
        <p:spPr>
          <a:xfrm>
            <a:off x="28575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工程意识</a:t>
            </a:r>
          </a:p>
        </p:txBody>
      </p:sp>
      <p:sp>
        <p:nvSpPr>
          <p:cNvPr id="9" name="s02-01-detail"/>
          <p:cNvSpPr>
            <a:spLocks noGrp="1"/>
          </p:cNvSpPr>
          <p:nvPr/>
        </p:nvSpPr>
        <p:spPr>
          <a:xfrm>
            <a:off x="28575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>
                <a:solidFill>
                  <a:srgbClr val="7079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先安全、再动作、后速度</a:t>
            </a:r>
          </a:p>
        </p:txBody>
      </p:sp>
      <p:sp>
        <p:nvSpPr>
          <p:cNvPr id="10" name="s02-02-num"/>
          <p:cNvSpPr>
            <a:spLocks noGrp="1"/>
          </p:cNvSpPr>
          <p:nvPr/>
        </p:nvSpPr>
        <p:spPr>
          <a:xfrm>
            <a:off x="561975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</a:p>
        </p:txBody>
      </p:sp>
      <p:sp>
        <p:nvSpPr>
          <p:cNvPr id="11" name="s02-02-title"/>
          <p:cNvSpPr>
            <a:spLocks noGrp="1"/>
          </p:cNvSpPr>
          <p:nvPr/>
        </p:nvSpPr>
        <p:spPr>
          <a:xfrm>
            <a:off x="561975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系统视角</a:t>
            </a:r>
          </a:p>
        </p:txBody>
      </p:sp>
      <p:sp>
        <p:nvSpPr>
          <p:cNvPr id="12" name="s02-02-detail"/>
          <p:cNvSpPr>
            <a:spLocks noGrp="1"/>
          </p:cNvSpPr>
          <p:nvPr/>
        </p:nvSpPr>
        <p:spPr>
          <a:xfrm>
            <a:off x="561975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>
                <a:solidFill>
                  <a:srgbClr val="7079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从单机指令到控制链协同</a:t>
            </a:r>
          </a:p>
        </p:txBody>
      </p:sp>
      <p:sp>
        <p:nvSpPr>
          <p:cNvPr id="13" name="s02-03-num"/>
          <p:cNvSpPr>
            <a:spLocks noGrp="1"/>
          </p:cNvSpPr>
          <p:nvPr/>
        </p:nvSpPr>
        <p:spPr>
          <a:xfrm>
            <a:off x="83820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</a:p>
        </p:txBody>
      </p:sp>
      <p:sp>
        <p:nvSpPr>
          <p:cNvPr id="14" name="s02-03-title"/>
          <p:cNvSpPr>
            <a:spLocks noGrp="1"/>
          </p:cNvSpPr>
          <p:nvPr/>
        </p:nvSpPr>
        <p:spPr>
          <a:xfrm>
            <a:off x="83820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验证习惯</a:t>
            </a:r>
          </a:p>
        </p:txBody>
      </p:sp>
      <p:sp>
        <p:nvSpPr>
          <p:cNvPr id="15" name="s02-03-detail"/>
          <p:cNvSpPr>
            <a:spLocks noGrp="1"/>
          </p:cNvSpPr>
          <p:nvPr/>
        </p:nvSpPr>
        <p:spPr>
          <a:xfrm>
            <a:off x="83820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>
                <a:solidFill>
                  <a:srgbClr val="7079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用边界和数据定义成果</a:t>
            </a:r>
          </a:p>
        </p:txBody>
      </p:sp>
      <p:sp>
        <p:nvSpPr>
          <p:cNvPr id="16" name="s02-result-rule"/>
          <p:cNvSpPr>
            <a:spLocks noGrp="1"/>
          </p:cNvSpPr>
          <p:nvPr/>
        </p:nvSpPr>
        <p:spPr>
          <a:xfrm>
            <a:off x="762000" y="4629150"/>
            <a:ext cx="10668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02-result"/>
          <p:cNvSpPr>
            <a:spLocks noGrp="1"/>
          </p:cNvSpPr>
          <p:nvPr/>
        </p:nvSpPr>
        <p:spPr>
          <a:xfrm>
            <a:off x="762000" y="4762500"/>
            <a:ext cx="666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从“完成任务”走向“对结果负责”</a:t>
            </a: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/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muRata  |  Innovator in Electronics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557184"/>
          </a:xfrm>
        </p:spPr>
        <p:txBody>
          <a:bodyPr/>
          <a:lstStyle/>
          <a:p>
            <a:r>
              <a:rPr sz="26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理解企业 → 扎根现场 → 参与改善</a:t>
            </a:r>
          </a:p>
          <a:p>
            <a:r>
              <a:rPr sz="1500"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尊重安全｜理解工艺｜系统思考｜数据验证</a:t>
            </a:r>
          </a:p>
          <a:p>
            <a:r>
              <a:rPr sz="1500"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感谢公司、夏令营团队与部门各位前辈</a:t>
            </a:r>
          </a:p>
          <a:p>
            <a:pPr algn="l">
              <a:buNone/>
            </a:pPr>
            <a:r>
              <a:rPr sz="1400" b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期待继续把控制工程能力转化为可量化的现场价值</a:t>
            </a:r>
          </a:p>
        </p:txBody>
      </p:sp>
      <p:sp>
        <p:nvSpPr>
          <p:cNvPr id="4" name="タイトル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夏令营结束，但现场价值刚刚开始</a:t>
            </a:r>
          </a:p>
        </p:txBody>
      </p:sp>
      <p:pic>
        <p:nvPicPr>
          <p:cNvPr id="15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/>
          <p:cNvSpPr>
            <a:spLocks noGrp="1"/>
          </p:cNvSpPr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/>
          <p:cNvSpPr>
            <a:spLocks noGrp="1"/>
          </p:cNvSpPr>
          <p:nvPr/>
        </p:nvSpPr>
        <p:spPr>
          <a:xfrm>
            <a:off x="548640" y="6053328"/>
            <a:ext cx="1808508" cy="6001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muRata</a:t>
            </a:r>
          </a:p>
          <a:p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Innovator in Electronics · 感谢各位领导与老师</a:t>
            </a:r>
          </a:p>
        </p:txBody>
      </p:sp>
      <p:sp>
        <p:nvSpPr>
          <p:cNvPr id="11" name="TextBox 10"/>
          <p:cNvSpPr>
            <a:spLocks noGrp="1"/>
          </p:cNvSpPr>
          <p:nvPr/>
        </p:nvSpPr>
        <p:spPr>
          <a:xfrm>
            <a:off x="11341996" y="6053328"/>
            <a:ext cx="72808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1</a:t>
            </a:r>
            <a:r>
              <a:rPr lang="en-US"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tandard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trictly 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Limited Disclosure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976</Words>
  <Application>Microsoft Office PowerPoint</Application>
  <PresentationFormat>宽屏</PresentationFormat>
  <Paragraphs>226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Microsoft YaHei</vt:lpstr>
      <vt:lpstr>Microsoft YaHei</vt:lpstr>
      <vt:lpstr>Arial</vt:lpstr>
      <vt:lpstr>Confidential</vt:lpstr>
      <vt:lpstr>Standard</vt:lpstr>
      <vt:lpstr>Strictly Confidential</vt:lpstr>
      <vt:lpstr>Limited Disclosure</vt:lpstr>
      <vt:lpstr>从学习参与走向现场价值</vt:lpstr>
      <vt:lpstr>一个月，我完成了三次角色转变</vt:lpstr>
      <vt:lpstr>活动参与｜先理解企业如何把技术变成制造能力</vt:lpstr>
      <vt:lpstr>部门实践把学习广度收敛成一条技术路径</vt:lpstr>
      <vt:lpstr>部门工作不是操作单机，而是维护一条控制链</vt:lpstr>
      <vt:lpstr>参加课题｜利用现有条件提升检测信息覆盖</vt:lpstr>
      <vt:lpstr>动作实现｜P0→P1→P0→P2完成低速贯通</vt:lpstr>
      <vt:lpstr>成果判断｜完成动作单元，也明确后续验证边界</vt:lpstr>
      <vt:lpstr>已有经历缩短上手时间，现场约束决定最终方案</vt:lpstr>
      <vt:lpstr>活动收获｜我带走的不是指令，而是三种工作方法</vt:lpstr>
      <vt:lpstr>夏令营结束，但现场价值刚刚开始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从学习参与走向现场价值</dc:title>
  <dc:creator>Walnut Exporter</dc:creator>
  <cp:lastModifiedBy>meng dai/戴萌</cp:lastModifiedBy>
  <cp:revision>4</cp:revision>
  <dcterms:created xsi:type="dcterms:W3CDTF">2026-08-10T10:10:49Z</dcterms:created>
  <dcterms:modified xsi:type="dcterms:W3CDTF">2026-08-11T04:32:11Z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7593F16576A74BDF9A1C0775D7806F07_12</vt:lpwstr>
  </property>
  <property fmtid="{D5CDD505-2E9C-101B-9397-08002B2CF9AE}" pid="3" name="KSOProductBuildVer">
    <vt:lpwstr>2052-12.1.0.23542</vt:lpwstr>
  </property>
</Properties>
</file>