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0" r:id="rId4"/>
    <p:sldMasterId id="2147483711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各位领导、各位老师，大家好，我是南京理工大学控制工程专业的张博。今天这份汇报不以某一项技术细节为主，而是从公司视角总结我在一个月夏令营中的参与过程、部门工作、代表性课题以及个人收获。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我希望通过这次汇报说明一件事：我不仅完成了学习计划，也开始尝试在真实工艺、安全和设备约束下，把控制知识转化为现场能够执行和继续验证的动作。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过渡：首先用一页概括，这一个月我的角色发生了怎样的变化。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02/13｜结果先行｜约40秒】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天里，我经历了三次角色转变。第一阶段是活动参与者，通过安全教育、企业介绍、产业课程和交流活动建立公司认知；第二阶段是部门学习者，从产线、PLC、通信和机器人入手理解设备如何协同；第三阶段是课题参与者，在指导下完成单传感器双角检测动作单元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t>对我来说，最重要的结果不是学习项目的数量，而是形成了一条比较完整的路径：先理解现场，再连接系统，最后用动作和验证边界说明结果。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过渡：这条路径的起点，是夏令营提供的公司级视野。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03/13｜参加活动情况｜约40秒】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夏令营从7月13日持续到8月12日，安排覆盖企业与安全、产业与技术、团队交流和成果输出。我参加了EHS教育、企业介绍、智能装备自动化课程、集成电路产业课程、人工智能趋势课程以及户外拓展和交流活动。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这些内容让我认识到，制造企业的竞争力不仅来自单项技术，还来自安全体系、工艺规范、设备能力、人才协作和持续改善的共同作用。这种公司级视野，为后续部门实践提供了判断背景。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过渡：进入部门后，这种视野被进一步收敛成一条具体的技术成长路径。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04/13｜部门工作路径｜约40秒】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部门实习计划分为五个阶段</a:t>
            </a:r>
            <a:r>
              <a:rPr lang="zh-CN"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。它并不是五项孤立的培训，而是一条前后递进的工作路径。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先理解产线和执行元件，才能看懂程序变量对应什么；理解PLC和通信，才能知道状态如何流动；理解机器人坐标系，才能安全、准确地修改动作。最终的课题实践，是前面各阶段共同支撑的结果。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过渡：沿着这条路径，我对部门工作的理解也从单台设备上升到整条控制链。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05/13｜部门工作理解｜约35秒】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在一场熟悉SUS合理化线、UV贴膜自动化线以及常见电气部品后，我逐步认识到，部门工作面对的不是彼此独立的设备，而是一条从感知、判断、通信到执行的控制链。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传感器提供状态，PLC和程序完成判断，工业网络传递信息，机构与机器人执行动作。一个局部修改是否合理，必须放回整条链中判断它对上游条件、下游工艺和安全边界的影响。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过渡：在这条控制链中，我参与的代表性课题位于取膜、检测、贴合和加压之间。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06/13｜参加课题情况｜约45秒】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我参与的代表性课题，是机械臂双角检测动作改造。生产流程中，取膜机通过激光测距和吸嘴完成取膜、抖动与放膜，机械臂随后取膜并判断是否为单张，再进入贴合和加压。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流程只检测一个角，提供的是局部信息。我的任务是在指导下、不新增激光传感器、不改变原主流程的条件下，通过调整机器人运动，让膜材两个角依次经过同一个固定检测点，并完成关键点定位、低速调试和流程衔接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过渡：这个课题的核心方案，可以用P0、P1、P0、P2四个位置说明。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07/13｜个人工作内容｜约45秒】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</a:pPr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方案使用同一个固定激光检测点。机械臂在P0取膜后移动到P1，使膜材左上角经过检测点；随后回到P0，再移动到P2，使右上角经过同一检测点。P1和P2不是两个传感器，而是膜材相对同一传感器的两个检测姿态。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我在这项工作中的主要参与内容，是理解原动作、确认P0/P1/P2含义、低速移动机器人完成点位和姿态确认，并将新动作与原后续流程衔接。方案复用了传感器和主流程，变化集中在机器人路径。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过渡：下一页用一张图和现场视频位置展示动作实际如何运行。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08/13｜动作实现证据｜约35秒】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这一页只需要关注一个固定检测点：传感器不动，移动的是膜材。P0是共同中间位置，P1和P2分别让两个角经过相同检测基准。这样既便于逐段低速确认，也便于重复运行时保持路径一致。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过渡：动作实现之后，更重要的是准确判断成果已经到达哪一步。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09/13｜成果与边界｜约40秒】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目前已经完成双角检测动作序列、P0/P1/P2关键点位定位、与原后续动作衔接，并进行了连续多次运行观察。这说明动作单元已经从概念进入现场执行。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我也认识到，动作跑通不等于工程闭环。下一步仍需扩大单张和多张样本覆盖，记录异常、报警和流程中断，并用节拍影响、运行次数和成功率等数据判断稳定性。主动说明边界，不是弱化成果，而是对结果负责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过渡：能够较快进入这项课题，既来自已有基础，也来自对现场约束的重新学习。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10/13｜能力迁移｜约40秒】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本科PLC毕业设计帮助我快速恢复梯形图和顺序控制；硕士期间参与八电机协同控制项目，帮助我理解多执行器协同与通信；惯性导航研究则帮助我理解坐标变换和姿态表达。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经历缩短了知识上手时间，但不能替代现场学习。真正决定方案的是现场工艺、安全规范、设备边界和调试方法。对我而言，能力迁移不是把学校方案直接搬到产线，而是更快理解问题，再在现场约束下形成可验证的方案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t>过渡：这次活动最终沉淀下来的，是三种比单项指令更重要的工作方法。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11/13｜活动收获感想｜约40秒】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活动最重要的收获可以概括为三点。第一是工程意识：现场调试必须先安全、再动作、后速度；第二是系统视角：一个指令背后连接着传感器、PLC、网络、机构和工艺；第三是验证习惯：成果不能只靠一次演示，而要用边界、样本和数据定义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t>这三点让我从关注‘我有没有完成任务’，进一步转向关注‘结果是否安全、是否稳定、是否能够被团队复用’。这是我认为最有价值的角色变化。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/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过渡：如果有机会继续在村田发展，我希望把这三种方法转化为更具体的现场价值。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12/13｜岗位匹配与后续计划｜约40秒】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认为自己与自动化和控制相关岗位的匹配点主要有三项：已有技术基础和学习能力，可以缩短新设备上手时间；能够从感知、控制、通信和执行理解系统，有助于定位跨设备问题；愿意明确验证边界并记录数据，有助于把改善结果变得可量化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如果有机会继续留在村田，我希望从完成动作进一步走向稳定设备、改善节拍和沉淀标准，逐步成长为能够理解现场、连接系统并推动改善的控制工程人才。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t>过渡：最后，用一句话总结这一个月，也表达我对未来的期待。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【演讲词 13/13｜结尾｜约30秒】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回顾这一个月，我完成了从活动参与者、部门学习者到课题参与者的变化，也更加确认自己希望在智能制造和自动化控制方向长期发展的选择。</a:t>
            </a:r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公司提供这次机会，感谢夏令营团队的组织，也感谢部门各位老师和前辈的指导。夏令营即将结束，但我希望把这里形成的工程意识、系统视角和验证习惯带入下一阶段，继续把控制工程能力转化为现场价值。谢谢大家。</a:t>
            </a:r>
            <a:endParaRPr sz="1200"/>
          </a:p>
          <a:p>
            <a:endParaRPr sz="12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9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4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544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552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3806" y="0"/>
            <a:ext cx="12198187" cy="6549619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ahLst/>
            <a:cxnLst/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3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5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Strictly Confidential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図プレースホルダー 7"/>
          <p:cNvSpPr>
            <a:spLocks noGrp="1"/>
          </p:cNvSpPr>
          <p:nvPr>
            <p:ph type="pic" idx="11" hasCustomPrompt="1"/>
          </p:nvPr>
        </p:nvSpPr>
        <p:spPr>
          <a:xfrm>
            <a:off x="0" y="-2"/>
            <a:ext cx="3359696" cy="5209200"/>
          </a:xfrm>
          <a:custGeom>
            <a:avLst/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ahLst/>
            <a:cxnLst/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40000" y="3528000"/>
            <a:ext cx="7332000" cy="127659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4140000" y="1260000"/>
            <a:ext cx="733200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879976" y="3708000"/>
            <a:ext cx="5592024" cy="9720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5879976" y="1440000"/>
            <a:ext cx="5592024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idx="13" hasCustomPrompt="1"/>
          </p:nvPr>
        </p:nvSpPr>
        <p:spPr>
          <a:xfrm>
            <a:off x="0" y="-2383"/>
            <a:ext cx="5152698" cy="6865651"/>
          </a:xfrm>
          <a:custGeom>
            <a:avLst/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ahLst/>
            <a:cxnLst/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Click icon to add element, or select to remove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204000"/>
            <a:ext cx="10752000" cy="127659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t>Author(s) and company name (YaHei, 20px, grey)  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1620000"/>
            <a:ext cx="10776600" cy="12240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>
            <a:r>
              <a:t>Presentation Title Here (YaHei Headings, Bold, 50px, grey) </a:t>
            </a:r>
          </a:p>
        </p:txBody>
      </p:sp>
      <p:sp>
        <p:nvSpPr>
          <p:cNvPr id="9" name="フッター プレースホルダー 3"/>
          <p:cNvSpPr>
            <a:spLocks noGrp="1"/>
          </p:cNvSpPr>
          <p:nvPr/>
        </p:nvSpPr>
        <p:spPr>
          <a:xfrm>
            <a:off x="8368800" y="6449400"/>
            <a:ext cx="3600000" cy="18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8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11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テキスト ボックス 8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2" name="テキスト プレースホルダー 7"/>
          <p:cNvSpPr>
            <a:spLocks noGrp="1"/>
          </p:cNvSpPr>
          <p:nvPr>
            <p:ph type="body" idx="14" hasCustomPrompt="1"/>
          </p:nvPr>
        </p:nvSpPr>
        <p:spPr>
          <a:xfrm>
            <a:off x="720000" y="1008000"/>
            <a:ext cx="10753200" cy="5418000"/>
          </a:xfrm>
        </p:spPr>
        <p:txBody>
          <a:bodyPr/>
          <a:lstStyle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 panose="020B0604020202020204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Click to edit text (YaHei, 18px)</a:t>
            </a:r>
          </a:p>
          <a:p>
            <a:pPr lvl="1">
              <a:buNone/>
            </a:pPr>
            <a:r>
              <a:t>Click to edit text (YaHei, 18px)</a:t>
            </a:r>
          </a:p>
          <a:p>
            <a:pPr lvl="2">
              <a:buNone/>
            </a:pPr>
            <a:r>
              <a:t>Click to edit text (YaHei, 16px)</a:t>
            </a:r>
          </a:p>
          <a:p>
            <a:pPr lvl="3">
              <a:buNone/>
            </a:pPr>
            <a:r>
              <a:t>Click to edit text (YaHei, 14px)</a:t>
            </a:r>
          </a:p>
          <a:p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9900000" cy="36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>
            <a:r>
              <a:t>Slide Title Here (YaHei, Bold, 30px) 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図プレースホルダー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426000"/>
          </a:xfrm>
        </p:spPr>
        <p:txBody>
          <a:bodyPr>
            <a:normAutofit/>
          </a:bodyPr>
          <a:lstStyle>
            <a:lvl1pPr>
              <a:buNone/>
              <a:defRPr sz="900"/>
            </a:lvl1pPr>
          </a:lstStyle>
          <a:p>
            <a:r>
              <a:t>Click icon to add element, or select to remove</a:t>
            </a:r>
          </a:p>
        </p:txBody>
      </p:sp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4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(Red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(Grey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(Yellow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 (Purpl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Slide (Blu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Slide (Orange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3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vider Slide (Green)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テキスト ボックス 1"/>
          <p:cNvSpPr>
            <a:spLocks noGrp="1"/>
          </p:cNvSpPr>
          <p:nvPr/>
        </p:nvSpPr>
        <p:spPr>
          <a:xfrm>
            <a:off x="11872800" y="6641560"/>
            <a:ext cx="216000" cy="1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</a:p>
        </p:txBody>
      </p:sp>
      <p:sp>
        <p:nvSpPr>
          <p:cNvPr id="9" name="図プレースホルダー 3"/>
          <p:cNvSpPr>
            <a:spLocks noGrp="1"/>
          </p:cNvSpPr>
          <p:nvPr>
            <p:ph type="pic" idx="10" hasCustomPrompt="1"/>
          </p:nvPr>
        </p:nvSpPr>
        <p:spPr>
          <a:xfrm>
            <a:off x="-4762" y="-2381"/>
            <a:ext cx="12199143" cy="6431334"/>
          </a:xfrm>
          <a:custGeom>
            <a:avLst/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ahLst/>
            <a:cxnLst/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/>
          <a:lstStyle>
            <a:lvl1pPr>
              <a:buNone/>
              <a:defRPr sz="900"/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 panose="020B0604020202020204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>
            <p:ph type="body" idx="11" hasCustomPrompt="1"/>
          </p:nvPr>
        </p:nvSpPr>
        <p:spPr>
          <a:xfrm>
            <a:off x="540000" y="2420888"/>
            <a:ext cx="1476000" cy="1008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#1</a:t>
            </a:r>
          </a:p>
        </p:txBody>
      </p:sp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071664" y="2672888"/>
            <a:ext cx="8400336" cy="504000"/>
          </a:xfrm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Divider Slide (YaHei, Bold, 40px) </a:t>
            </a:r>
          </a:p>
        </p:txBody>
      </p:sp>
      <p:sp>
        <p:nvSpPr>
          <p:cNvPr id="3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タイトル 18"/>
          <p:cNvSpPr>
            <a:spLocks noGrp="1"/>
          </p:cNvSpPr>
          <p:nvPr>
            <p:ph type="title" hasCustomPrompt="1"/>
          </p:nvPr>
        </p:nvSpPr>
        <p:spPr>
          <a:xfrm>
            <a:off x="3575720" y="2439000"/>
            <a:ext cx="7896280" cy="198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>
            <a:r>
              <a:t>Ending Remarks Here (YaHei, Bold, 40px, grey)  </a:t>
            </a:r>
          </a:p>
        </p:txBody>
      </p:sp>
      <p:sp>
        <p:nvSpPr>
          <p:cNvPr id="2" name="フッター プレースホルダー 3"/>
          <p:cNvSpPr>
            <a:spLocks noGrp="1"/>
          </p:cNvSpPr>
          <p:nvPr/>
        </p:nvSpPr>
        <p:spPr>
          <a:xfrm>
            <a:off x="9296400" y="6498000"/>
            <a:ext cx="2520000" cy="144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Limited Disclosure</a:t>
            </a:r>
            <a:endParaRPr sz="1200" b="0" i="0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20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1" Type="http://schemas.openxmlformats.org/officeDocument/2006/relationships/theme" Target="../theme/theme4.xml"/><Relationship Id="rId20" Type="http://schemas.openxmlformats.org/officeDocument/2006/relationships/slideLayout" Target="../slideLayouts/slideLayout80.xml"/><Relationship Id="rId2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sldNum="0"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SzPct val="140000"/>
        <a:buFont typeface="Arial" panose="020B0604020202020204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indent="0" algn="l" defTabSz="914400">
        <a:lnSpc>
          <a:spcPct val="90000"/>
        </a:lnSpc>
        <a:spcBef>
          <a:spcPts val="500"/>
        </a:spcBef>
        <a:buSzPct val="140000"/>
        <a:buFont typeface="Arial" panose="020B0604020202020204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4140000" y="3528000"/>
            <a:ext cx="7332000" cy="1413168"/>
          </a:xfrm>
        </p:spPr>
        <p:txBody>
          <a:bodyPr/>
          <a:lstStyle/>
          <a:p>
            <a:r>
              <a:rPr sz="26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2026暑期夏令营公司总结汇报</a:t>
            </a:r>
            <a:endParaRPr sz="26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5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张博｜南京理工大学 控制工程</a:t>
            </a:r>
            <a:endParaRPr sz="150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5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2026.07.13—2026.08.12</a:t>
            </a:r>
            <a:endParaRPr sz="150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</a:pPr>
            <a:r>
              <a:rPr sz="14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无锡村田电子 · 村田二场</a:t>
            </a:r>
            <a:endParaRPr sz="140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从学习参与走向现场价值</a:t>
            </a:r>
            <a:endParaRPr sz="30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  <p:sp>
        <p:nvSpPr>
          <p:cNvPr id="9" name="Rectangle 8"/>
          <p:cNvSpPr>
            <a:spLocks noGrp="1"/>
          </p:cNvSpPr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548640" y="605332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Innovator in Electronics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07040" y="6053328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13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723900" y="5467350"/>
            <a:ext cx="10744200" cy="514350"/>
          </a:xfrm>
        </p:spPr>
        <p:txBody>
          <a:bodyPr>
            <a:normAutofit fontScale="94136" lnSpcReduction="10000"/>
          </a:bodyPr>
          <a:lstStyle/>
          <a:p>
            <a:r>
              <a:rPr sz="135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结果：完成规定活动、部门学习和代表性课题实践</a:t>
            </a:r>
            <a:endParaRPr sz="135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35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判断：形成了理解现场、连接系统、验证结果的工作方法</a:t>
            </a:r>
            <a:endParaRPr sz="135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一个月，我完成了三次角色转变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02-days"/>
          <p:cNvSpPr>
            <a:spLocks noGrp="1"/>
          </p:cNvSpPr>
          <p:nvPr/>
        </p:nvSpPr>
        <p:spPr>
          <a:xfrm>
            <a:off x="762000" y="11620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30天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2-date"/>
          <p:cNvSpPr>
            <a:spLocks noGrp="1"/>
          </p:cNvSpPr>
          <p:nvPr/>
        </p:nvSpPr>
        <p:spPr>
          <a:xfrm>
            <a:off x="800100" y="19526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7.13—8.12</a:t>
            </a:r>
            <a:endParaRPr sz="13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2-flow-line"/>
          <p:cNvSpPr>
            <a:spLocks noGrp="1"/>
          </p:cNvSpPr>
          <p:nvPr/>
        </p:nvSpPr>
        <p:spPr>
          <a:xfrm>
            <a:off x="2667000" y="272415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02-01-num"/>
          <p:cNvSpPr>
            <a:spLocks noGrp="1"/>
          </p:cNvSpPr>
          <p:nvPr/>
        </p:nvSpPr>
        <p:spPr>
          <a:xfrm>
            <a:off x="28575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2-01-title"/>
          <p:cNvSpPr>
            <a:spLocks noGrp="1"/>
          </p:cNvSpPr>
          <p:nvPr/>
        </p:nvSpPr>
        <p:spPr>
          <a:xfrm>
            <a:off x="28575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参加活动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2-01-detail"/>
          <p:cNvSpPr>
            <a:spLocks noGrp="1"/>
          </p:cNvSpPr>
          <p:nvPr/>
        </p:nvSpPr>
        <p:spPr>
          <a:xfrm>
            <a:off x="28575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理解企业、安全与文化</a:t>
            </a:r>
            <a:endParaRPr sz="150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2-02-num"/>
          <p:cNvSpPr>
            <a:spLocks noGrp="1"/>
          </p:cNvSpPr>
          <p:nvPr/>
        </p:nvSpPr>
        <p:spPr>
          <a:xfrm>
            <a:off x="561975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2-02-title"/>
          <p:cNvSpPr>
            <a:spLocks noGrp="1"/>
          </p:cNvSpPr>
          <p:nvPr/>
        </p:nvSpPr>
        <p:spPr>
          <a:xfrm>
            <a:off x="561975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进入部门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2-02-detail"/>
          <p:cNvSpPr>
            <a:spLocks noGrp="1"/>
          </p:cNvSpPr>
          <p:nvPr/>
        </p:nvSpPr>
        <p:spPr>
          <a:xfrm>
            <a:off x="561975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建立设备与控制链认知</a:t>
            </a:r>
            <a:endParaRPr sz="150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2-03-num"/>
          <p:cNvSpPr>
            <a:spLocks noGrp="1"/>
          </p:cNvSpPr>
          <p:nvPr/>
        </p:nvSpPr>
        <p:spPr>
          <a:xfrm>
            <a:off x="83820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2-03-title"/>
          <p:cNvSpPr>
            <a:spLocks noGrp="1"/>
          </p:cNvSpPr>
          <p:nvPr/>
        </p:nvSpPr>
        <p:spPr>
          <a:xfrm>
            <a:off x="83820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参与课题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2-03-detail"/>
          <p:cNvSpPr>
            <a:spLocks noGrp="1"/>
          </p:cNvSpPr>
          <p:nvPr/>
        </p:nvSpPr>
        <p:spPr>
          <a:xfrm>
            <a:off x="83820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完成动作单元并界定边界</a:t>
            </a:r>
            <a:endParaRPr sz="150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2-result-rule"/>
          <p:cNvSpPr>
            <a:spLocks noGrp="1"/>
          </p:cNvSpPr>
          <p:nvPr/>
        </p:nvSpPr>
        <p:spPr>
          <a:xfrm>
            <a:off x="762000" y="4629150"/>
            <a:ext cx="10668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s02-result"/>
          <p:cNvSpPr>
            <a:spLocks noGrp="1"/>
          </p:cNvSpPr>
          <p:nvPr/>
        </p:nvSpPr>
        <p:spPr>
          <a:xfrm>
            <a:off x="762000" y="476250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1次公司认知 · 1条技术路径 · 1个现场课题</a:t>
            </a:r>
            <a:endParaRPr sz="25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090535" y="1556792"/>
            <a:ext cx="3333750" cy="257683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企业与安全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产业与技术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团队与交流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成果输出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活动参与｜先理解企业如何把技术变成制造能力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3-tag"/>
          <p:cNvSpPr>
            <a:spLocks noGrp="1"/>
          </p:cNvSpPr>
          <p:nvPr/>
        </p:nvSpPr>
        <p:spPr>
          <a:xfrm>
            <a:off x="7810500" y="1123950"/>
            <a:ext cx="3614092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活动参与｜公司视野</a:t>
            </a:r>
            <a:endParaRPr sz="16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3-dot-1"/>
          <p:cNvSpPr>
            <a:spLocks noGrp="1"/>
          </p:cNvSpPr>
          <p:nvPr/>
        </p:nvSpPr>
        <p:spPr>
          <a:xfrm>
            <a:off x="7739608" y="1777797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3-dot-2"/>
          <p:cNvSpPr>
            <a:spLocks noGrp="1"/>
          </p:cNvSpPr>
          <p:nvPr/>
        </p:nvSpPr>
        <p:spPr>
          <a:xfrm>
            <a:off x="7739608" y="2480320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3-dot-3"/>
          <p:cNvSpPr>
            <a:spLocks noGrp="1"/>
          </p:cNvSpPr>
          <p:nvPr/>
        </p:nvSpPr>
        <p:spPr>
          <a:xfrm>
            <a:off x="7752184" y="3145949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3-dot-4"/>
          <p:cNvSpPr>
            <a:spLocks noGrp="1"/>
          </p:cNvSpPr>
          <p:nvPr/>
        </p:nvSpPr>
        <p:spPr>
          <a:xfrm>
            <a:off x="7752184" y="3794021"/>
            <a:ext cx="228600" cy="22860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 fontScale="78211" lnSpcReduction="20000"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3-callout-line"/>
          <p:cNvSpPr>
            <a:spLocks noGrp="1"/>
          </p:cNvSpPr>
          <p:nvPr/>
        </p:nvSpPr>
        <p:spPr>
          <a:xfrm>
            <a:off x="7810500" y="4673282"/>
            <a:ext cx="0" cy="9906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03-callout"/>
          <p:cNvSpPr>
            <a:spLocks noGrp="1"/>
          </p:cNvSpPr>
          <p:nvPr/>
        </p:nvSpPr>
        <p:spPr>
          <a:xfrm>
            <a:off x="8039100" y="4610824"/>
            <a:ext cx="3429000" cy="155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我参与了安全教育、企业介绍、智能装备、集成电路产业、人工智能趋势、拓展与交流等活动。</a:t>
            </a:r>
            <a:endParaRPr sz="15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</a:pPr>
            <a:r>
              <a:rPr sz="12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收获：先理解企业运行，再进入具体技术问题。</a:t>
            </a:r>
            <a:endParaRPr sz="120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90" y="825500"/>
            <a:ext cx="6943090" cy="55968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76300" y="5102696"/>
            <a:ext cx="4476750" cy="990600"/>
          </a:xfrm>
        </p:spPr>
        <p:txBody>
          <a:bodyPr>
            <a:normAutofit/>
          </a:bodyPr>
          <a:lstStyle/>
          <a:p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每一步都为下一步服务：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先理解设备，再连接控制，最后进入实践。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部门实践把学习广度收敛成一条技术路径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04-stage-line"/>
          <p:cNvSpPr>
            <a:spLocks noGrp="1"/>
          </p:cNvSpPr>
          <p:nvPr/>
        </p:nvSpPr>
        <p:spPr>
          <a:xfrm>
            <a:off x="1114425" y="1458094"/>
            <a:ext cx="13023" cy="2769096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04-stage-1"/>
          <p:cNvSpPr>
            <a:spLocks noGrp="1"/>
          </p:cNvSpPr>
          <p:nvPr/>
        </p:nvSpPr>
        <p:spPr>
          <a:xfrm>
            <a:off x="904875" y="126876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4-title-1"/>
          <p:cNvSpPr>
            <a:spLocks noGrp="1"/>
          </p:cNvSpPr>
          <p:nvPr/>
        </p:nvSpPr>
        <p:spPr>
          <a:xfrm>
            <a:off x="1524000" y="1276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现场认知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4-detail-1"/>
          <p:cNvSpPr>
            <a:spLocks noGrp="1"/>
          </p:cNvSpPr>
          <p:nvPr/>
        </p:nvSpPr>
        <p:spPr>
          <a:xfrm>
            <a:off x="1524000" y="1581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安全意识｜SUS合理化线｜UV贴膜线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4-stage-2"/>
          <p:cNvSpPr>
            <a:spLocks noGrp="1"/>
          </p:cNvSpPr>
          <p:nvPr/>
        </p:nvSpPr>
        <p:spPr>
          <a:xfrm>
            <a:off x="904875" y="1982738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4-title-2"/>
          <p:cNvSpPr>
            <a:spLocks noGrp="1"/>
          </p:cNvSpPr>
          <p:nvPr/>
        </p:nvSpPr>
        <p:spPr>
          <a:xfrm>
            <a:off x="1524000" y="19431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PLC与通信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4-detail-2"/>
          <p:cNvSpPr>
            <a:spLocks noGrp="1"/>
          </p:cNvSpPr>
          <p:nvPr/>
        </p:nvSpPr>
        <p:spPr>
          <a:xfrm>
            <a:off x="1524000" y="22479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梯形图｜I/O映射｜ST｜工业以太网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4-stage-3"/>
          <p:cNvSpPr>
            <a:spLocks noGrp="1"/>
          </p:cNvSpPr>
          <p:nvPr/>
        </p:nvSpPr>
        <p:spPr>
          <a:xfrm>
            <a:off x="904875" y="263081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4-title-3"/>
          <p:cNvSpPr>
            <a:spLocks noGrp="1"/>
          </p:cNvSpPr>
          <p:nvPr/>
        </p:nvSpPr>
        <p:spPr>
          <a:xfrm>
            <a:off x="1524000" y="2609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4-detail-3"/>
          <p:cNvSpPr>
            <a:spLocks noGrp="1"/>
          </p:cNvSpPr>
          <p:nvPr/>
        </p:nvSpPr>
        <p:spPr>
          <a:xfrm>
            <a:off x="1524000" y="2927226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示教器｜坐标系｜低速手动操作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4-stage-4"/>
          <p:cNvSpPr>
            <a:spLocks noGrp="1"/>
          </p:cNvSpPr>
          <p:nvPr/>
        </p:nvSpPr>
        <p:spPr>
          <a:xfrm>
            <a:off x="904875" y="3278882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4-title-4"/>
          <p:cNvSpPr>
            <a:spLocks noGrp="1"/>
          </p:cNvSpPr>
          <p:nvPr/>
        </p:nvSpPr>
        <p:spPr>
          <a:xfrm>
            <a:off x="1524000" y="32766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课题实践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4-detail-4"/>
          <p:cNvSpPr>
            <a:spLocks noGrp="1"/>
          </p:cNvSpPr>
          <p:nvPr/>
        </p:nvSpPr>
        <p:spPr>
          <a:xfrm>
            <a:off x="1524000" y="35814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吸取、检测与动作衔接</a:t>
            </a:r>
            <a:endParaRPr sz="1275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04-stage-5"/>
          <p:cNvSpPr>
            <a:spLocks noGrp="1"/>
          </p:cNvSpPr>
          <p:nvPr/>
        </p:nvSpPr>
        <p:spPr>
          <a:xfrm>
            <a:off x="904875" y="3933056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4-title-5"/>
          <p:cNvSpPr>
            <a:spLocks noGrp="1"/>
          </p:cNvSpPr>
          <p:nvPr/>
        </p:nvSpPr>
        <p:spPr>
          <a:xfrm>
            <a:off x="1524000" y="39433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总结输出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4-detail-5"/>
          <p:cNvSpPr>
            <a:spLocks noGrp="1"/>
          </p:cNvSpPr>
          <p:nvPr/>
        </p:nvSpPr>
        <p:spPr>
          <a:xfrm>
            <a:off x="1524000" y="42481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资料沉淀与成果汇报</a:t>
            </a:r>
            <a:endParaRPr sz="1275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4-plan-frame"/>
          <p:cNvSpPr>
            <a:spLocks noGrp="1"/>
          </p:cNvSpPr>
          <p:nvPr/>
        </p:nvSpPr>
        <p:spPr>
          <a:xfrm>
            <a:off x="5810250" y="1123950"/>
            <a:ext cx="5657850" cy="4533900"/>
          </a:xfrm>
          <a:prstGeom prst="rect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s04-image-tag"/>
          <p:cNvSpPr>
            <a:spLocks noGrp="1"/>
          </p:cNvSpPr>
          <p:nvPr/>
        </p:nvSpPr>
        <p:spPr>
          <a:xfrm>
            <a:off x="6191250" y="1257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部门工作｜技术深度</a:t>
            </a:r>
            <a:endParaRPr sz="1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0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525" y="765175"/>
            <a:ext cx="6499225" cy="5534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38200" y="1714500"/>
            <a:ext cx="2809528" cy="2476500"/>
          </a:xfrm>
        </p:spPr>
        <p:txBody>
          <a:bodyPr>
            <a:normAutofit fontScale="95486"/>
          </a:bodyPr>
          <a:lstStyle/>
          <a:p>
            <a:pPr algn="ctr"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SUS合理化线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UV贴膜自动化线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电气部品与执行元件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PLC、传感器与机器人</a:t>
            </a:r>
            <a:endParaRPr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部门工作不是操作单机，而是维护一条控制链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06-tag"/>
          <p:cNvSpPr>
            <a:spLocks noGrp="1"/>
          </p:cNvSpPr>
          <p:nvPr/>
        </p:nvSpPr>
        <p:spPr>
          <a:xfrm>
            <a:off x="838200" y="1200150"/>
            <a:ext cx="280952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部门工作</a:t>
            </a:r>
            <a:endParaRPr sz="16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6-chain-line"/>
          <p:cNvSpPr>
            <a:spLocks noGrp="1"/>
          </p:cNvSpPr>
          <p:nvPr/>
        </p:nvSpPr>
        <p:spPr>
          <a:xfrm>
            <a:off x="876300" y="4686300"/>
            <a:ext cx="32004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s06-chain"/>
          <p:cNvSpPr>
            <a:spLocks noGrp="1"/>
          </p:cNvSpPr>
          <p:nvPr/>
        </p:nvSpPr>
        <p:spPr>
          <a:xfrm>
            <a:off x="838200" y="48577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0766"/>
          </a:bodyPr>
          <a:lstStyle/>
          <a:p>
            <a:pPr algn="l">
              <a:buNone/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  →  判断  →  通信  →  执行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6-chain-detail"/>
          <p:cNvSpPr>
            <a:spLocks noGrp="1"/>
          </p:cNvSpPr>
          <p:nvPr/>
        </p:nvSpPr>
        <p:spPr>
          <a:xfrm>
            <a:off x="576072" y="5314950"/>
            <a:ext cx="422378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把设备状态转化为可执行动作</a:t>
            </a:r>
            <a:endParaRPr sz="160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14"/>
          <p:cNvPicPr>
            <a:picLocks noChangeAspect="1"/>
          </p:cNvPicPr>
          <p:nvPr/>
        </p:nvPicPr>
        <p:blipFill>
          <a:blip r:embed="rId1"/>
          <a:srcRect l="8881" r="8881"/>
          <a:stretch>
            <a:fillRect/>
          </a:stretch>
        </p:blipFill>
        <p:spPr>
          <a:xfrm>
            <a:off x="4648200" y="1104900"/>
            <a:ext cx="6819900" cy="4667250"/>
          </a:xfrm>
          <a:prstGeom prst="rect">
            <a:avLst/>
          </a:prstGeom>
        </p:spPr>
      </p:pic>
      <p:sp>
        <p:nvSpPr>
          <p:cNvPr id="16" name="Rectangle 15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175" y="191135"/>
            <a:ext cx="9435465" cy="530352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参加课题｜利用现有条件提升检测信息覆盖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10-label-0"/>
          <p:cNvSpPr>
            <a:spLocks noGrp="1"/>
          </p:cNvSpPr>
          <p:nvPr/>
        </p:nvSpPr>
        <p:spPr>
          <a:xfrm>
            <a:off x="1273175" y="1123352"/>
            <a:ext cx="1462151" cy="458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贴片完成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0-label-1"/>
          <p:cNvSpPr>
            <a:spLocks noGrp="1"/>
          </p:cNvSpPr>
          <p:nvPr/>
        </p:nvSpPr>
        <p:spPr>
          <a:xfrm>
            <a:off x="3104642" y="1123352"/>
            <a:ext cx="1169034" cy="458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激光测高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0-label-2"/>
          <p:cNvSpPr>
            <a:spLocks noGrp="1"/>
          </p:cNvSpPr>
          <p:nvPr/>
        </p:nvSpPr>
        <p:spPr>
          <a:xfrm>
            <a:off x="4642992" y="1123352"/>
            <a:ext cx="1169036" cy="458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吸嘴取膜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0-label-3"/>
          <p:cNvSpPr>
            <a:spLocks noGrp="1"/>
          </p:cNvSpPr>
          <p:nvPr/>
        </p:nvSpPr>
        <p:spPr>
          <a:xfrm>
            <a:off x="6181344" y="1123352"/>
            <a:ext cx="1097280" cy="458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取膜检测</a:t>
            </a:r>
            <a:endParaRPr sz="16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0-label-4"/>
          <p:cNvSpPr>
            <a:spLocks noGrp="1"/>
          </p:cNvSpPr>
          <p:nvPr/>
        </p:nvSpPr>
        <p:spPr>
          <a:xfrm>
            <a:off x="7647940" y="1123352"/>
            <a:ext cx="1240790" cy="458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膜材贴合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0-label-5"/>
          <p:cNvSpPr>
            <a:spLocks noGrp="1"/>
          </p:cNvSpPr>
          <p:nvPr/>
        </p:nvSpPr>
        <p:spPr>
          <a:xfrm>
            <a:off x="9258046" y="1123352"/>
            <a:ext cx="1169035" cy="4585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进入加压</a:t>
            </a:r>
            <a:endParaRPr sz="1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0-task-line"/>
          <p:cNvSpPr>
            <a:spLocks noGrp="1"/>
          </p:cNvSpPr>
          <p:nvPr/>
        </p:nvSpPr>
        <p:spPr>
          <a:xfrm>
            <a:off x="694690" y="4698077"/>
            <a:ext cx="1216" cy="533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s10-task-tag"/>
          <p:cNvSpPr>
            <a:spLocks noGrp="1"/>
          </p:cNvSpPr>
          <p:nvPr/>
        </p:nvSpPr>
        <p:spPr>
          <a:xfrm>
            <a:off x="777240" y="4650740"/>
            <a:ext cx="1060704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参与课题：双角检测动作改造</a:t>
            </a:r>
            <a:endParaRPr sz="16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0-task"/>
          <p:cNvSpPr>
            <a:spLocks noGrp="1"/>
          </p:cNvSpPr>
          <p:nvPr/>
        </p:nvSpPr>
        <p:spPr>
          <a:xfrm>
            <a:off x="777240" y="4943475"/>
            <a:ext cx="10607040" cy="3448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在不新增激光传感器、不改变原主流程的条件下，通过调整机械臂动作，让膜材两个角依次经过同一固定检测点。</a:t>
            </a:r>
            <a:endParaRPr sz="12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ounded Rectangle 25"/>
          <p:cNvSpPr>
            <a:spLocks noGrp="1"/>
          </p:cNvSpPr>
          <p:nvPr/>
        </p:nvSpPr>
        <p:spPr>
          <a:xfrm>
            <a:off x="623570" y="5346700"/>
            <a:ext cx="5111175" cy="955040"/>
          </a:xfrm>
          <a:prstGeom prst="roundRect">
            <a:avLst/>
          </a:prstGeom>
          <a:solidFill>
            <a:srgbClr val="FFE8EC"/>
          </a:solidFill>
          <a:ln w="14288">
            <a:solidFill>
              <a:srgbClr val="F5002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anchor="ctr">
            <a:normAutofit/>
          </a:bodyPr>
          <a:lstStyle/>
          <a:p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现场问题｜单角检测信息有限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75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静电吸附可能造成多张膜叠附，另一侧状态没有被覆盖。</a:t>
            </a:r>
            <a:endParaRPr sz="1275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5951983" y="5348605"/>
            <a:ext cx="5556121" cy="944880"/>
          </a:xfrm>
          <a:prstGeom prst="roundRect">
            <a:avLst/>
          </a:prstGeom>
          <a:solidFill>
            <a:srgbClr val="F4F5F5"/>
          </a:solidFill>
          <a:ln w="14288">
            <a:solidFill>
              <a:srgbClr val="F5002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anchor="ctr">
            <a:normAutofit/>
          </a:bodyPr>
          <a:lstStyle/>
          <a:p>
            <a:r>
              <a:rPr sz="15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我的任务｜用动作扩展检测覆盖</a:t>
            </a:r>
            <a:endParaRPr sz="15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275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在指导下完成点位确认、路径设计、低速调试与原流程衔接。</a:t>
            </a:r>
            <a:endParaRPr sz="1275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我的方案｜一个固定检测点覆盖两个角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11-original-heading"/>
          <p:cNvSpPr>
            <a:spLocks noGrp="1"/>
          </p:cNvSpPr>
          <p:nvPr/>
        </p:nvSpPr>
        <p:spPr>
          <a:xfrm>
            <a:off x="87630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原动作｜单角检测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11-target-heading"/>
          <p:cNvSpPr>
            <a:spLocks noGrp="1"/>
          </p:cNvSpPr>
          <p:nvPr/>
        </p:nvSpPr>
        <p:spPr>
          <a:xfrm>
            <a:off x="6267450" y="11620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我的方案｜双角检测</a:t>
            </a:r>
            <a:endParaRPr sz="1875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1-vline"/>
          <p:cNvSpPr>
            <a:spLocks noGrp="1"/>
          </p:cNvSpPr>
          <p:nvPr/>
        </p:nvSpPr>
        <p:spPr>
          <a:xfrm>
            <a:off x="5905500" y="880110"/>
            <a:ext cx="9525" cy="30480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11-o-arrow-0"/>
          <p:cNvSpPr>
            <a:spLocks noGrp="1"/>
          </p:cNvSpPr>
          <p:nvPr/>
        </p:nvSpPr>
        <p:spPr>
          <a:xfrm>
            <a:off x="19431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1-o-arrow-1"/>
          <p:cNvSpPr>
            <a:spLocks noGrp="1"/>
          </p:cNvSpPr>
          <p:nvPr/>
        </p:nvSpPr>
        <p:spPr>
          <a:xfrm>
            <a:off x="3771900" y="2333625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550" b="1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1-o-node-0"/>
          <p:cNvSpPr>
            <a:spLocks noGrp="1"/>
          </p:cNvSpPr>
          <p:nvPr/>
        </p:nvSpPr>
        <p:spPr>
          <a:xfrm>
            <a:off x="10668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原点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1-o-node-1"/>
          <p:cNvSpPr>
            <a:spLocks noGrp="1"/>
          </p:cNvSpPr>
          <p:nvPr/>
        </p:nvSpPr>
        <p:spPr>
          <a:xfrm>
            <a:off x="28956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右上角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单点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1-o-node-2"/>
          <p:cNvSpPr>
            <a:spLocks noGrp="1"/>
          </p:cNvSpPr>
          <p:nvPr/>
        </p:nvSpPr>
        <p:spPr>
          <a:xfrm>
            <a:off x="4724400" y="2095500"/>
            <a:ext cx="990600" cy="914400"/>
          </a:xfrm>
          <a:prstGeom prst="roundRect">
            <a:avLst>
              <a:gd name="adj" fmla="val 14583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buNone/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1-t-arrow-0"/>
          <p:cNvSpPr>
            <a:spLocks noGrp="1"/>
          </p:cNvSpPr>
          <p:nvPr/>
        </p:nvSpPr>
        <p:spPr>
          <a:xfrm>
            <a:off x="69532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1-t-arrow-1"/>
          <p:cNvSpPr>
            <a:spLocks noGrp="1"/>
          </p:cNvSpPr>
          <p:nvPr/>
        </p:nvSpPr>
        <p:spPr>
          <a:xfrm>
            <a:off x="79819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1-t-arrow-2"/>
          <p:cNvSpPr>
            <a:spLocks noGrp="1"/>
          </p:cNvSpPr>
          <p:nvPr/>
        </p:nvSpPr>
        <p:spPr>
          <a:xfrm>
            <a:off x="90106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1-t-arrow-3"/>
          <p:cNvSpPr>
            <a:spLocks noGrp="1"/>
          </p:cNvSpPr>
          <p:nvPr/>
        </p:nvSpPr>
        <p:spPr>
          <a:xfrm>
            <a:off x="10039350" y="24003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9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1-t-node-0"/>
          <p:cNvSpPr>
            <a:spLocks noGrp="1"/>
          </p:cNvSpPr>
          <p:nvPr/>
        </p:nvSpPr>
        <p:spPr>
          <a:xfrm>
            <a:off x="63055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1-t-node-1"/>
          <p:cNvSpPr>
            <a:spLocks noGrp="1"/>
          </p:cNvSpPr>
          <p:nvPr/>
        </p:nvSpPr>
        <p:spPr>
          <a:xfrm>
            <a:off x="73342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</a:t>
            </a: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上角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1-t-node-2"/>
          <p:cNvSpPr>
            <a:spLocks noGrp="1"/>
          </p:cNvSpPr>
          <p:nvPr/>
        </p:nvSpPr>
        <p:spPr>
          <a:xfrm>
            <a:off x="83629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1-t-node-3"/>
          <p:cNvSpPr>
            <a:spLocks noGrp="1"/>
          </p:cNvSpPr>
          <p:nvPr/>
        </p:nvSpPr>
        <p:spPr>
          <a:xfrm>
            <a:off x="93916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5002F"/>
          </a:solidFill>
          <a:ln w="9525">
            <a:solidFill>
              <a:srgbClr val="F5002F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上角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1-t-node-4"/>
          <p:cNvSpPr>
            <a:spLocks noGrp="1"/>
          </p:cNvSpPr>
          <p:nvPr/>
        </p:nvSpPr>
        <p:spPr>
          <a:xfrm>
            <a:off x="10420350" y="2133600"/>
            <a:ext cx="704850" cy="781050"/>
          </a:xfrm>
          <a:prstGeom prst="roundRect">
            <a:avLst>
              <a:gd name="adj" fmla="val 16216"/>
            </a:avLst>
          </a:prstGeom>
          <a:solidFill>
            <a:srgbClr val="F4F5F5"/>
          </a:solidFill>
          <a:ln w="9525">
            <a:solidFill>
              <a:srgbClr val="D9DDDE"/>
            </a:solidFill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5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11-target-detail"/>
          <p:cNvSpPr>
            <a:spLocks noGrp="1"/>
          </p:cNvSpPr>
          <p:nvPr/>
        </p:nvSpPr>
        <p:spPr>
          <a:xfrm>
            <a:off x="6324600" y="31432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→ P1</a:t>
            </a:r>
            <a:r>
              <a:rPr sz="150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</a:t>
            </a:r>
            <a:r>
              <a:rPr sz="15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上角</a:t>
            </a:r>
            <a:r>
              <a:rPr sz="15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P0 → P2</a:t>
            </a:r>
            <a:r>
              <a:rPr sz="150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5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上角</a:t>
            </a:r>
            <a:endParaRPr sz="150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1-bottom-line"/>
          <p:cNvSpPr>
            <a:spLocks noGrp="1"/>
          </p:cNvSpPr>
          <p:nvPr/>
        </p:nvSpPr>
        <p:spPr>
          <a:xfrm>
            <a:off x="876300" y="39433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s11-bottom-heading"/>
          <p:cNvSpPr>
            <a:spLocks noGrp="1"/>
          </p:cNvSpPr>
          <p:nvPr/>
        </p:nvSpPr>
        <p:spPr>
          <a:xfrm>
            <a:off x="876300" y="41338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贡献点：不增加传感器，只重构机器人的运动路径</a:t>
            </a:r>
            <a:endParaRPr sz="20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11-impact-title-0"/>
          <p:cNvSpPr>
            <a:spLocks noGrp="1"/>
          </p:cNvSpPr>
          <p:nvPr/>
        </p:nvSpPr>
        <p:spPr>
          <a:xfrm>
            <a:off x="89535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信息覆盖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1-impact-detail-0"/>
          <p:cNvSpPr>
            <a:spLocks noGrp="1"/>
          </p:cNvSpPr>
          <p:nvPr/>
        </p:nvSpPr>
        <p:spPr>
          <a:xfrm>
            <a:off x="89535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从单角扩展到双角</a:t>
            </a:r>
            <a:endParaRPr sz="135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11-impact-divider-1"/>
          <p:cNvSpPr>
            <a:spLocks noGrp="1"/>
          </p:cNvSpPr>
          <p:nvPr/>
        </p:nvSpPr>
        <p:spPr>
          <a:xfrm>
            <a:off x="4124326" y="4705350"/>
            <a:ext cx="0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s11-impact-title-1"/>
          <p:cNvSpPr>
            <a:spLocks noGrp="1"/>
          </p:cNvSpPr>
          <p:nvPr/>
        </p:nvSpPr>
        <p:spPr>
          <a:xfrm>
            <a:off x="4371975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统一基准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11-impact-detail-1"/>
          <p:cNvSpPr>
            <a:spLocks noGrp="1"/>
          </p:cNvSpPr>
          <p:nvPr/>
        </p:nvSpPr>
        <p:spPr>
          <a:xfrm>
            <a:off x="4371975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P0作为共同中间位置</a:t>
            </a:r>
            <a:endParaRPr sz="135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s11-impact-divider-2"/>
          <p:cNvSpPr>
            <a:spLocks noGrp="1"/>
          </p:cNvSpPr>
          <p:nvPr/>
        </p:nvSpPr>
        <p:spPr>
          <a:xfrm>
            <a:off x="7600950" y="4705350"/>
            <a:ext cx="1" cy="9906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s11-impact-title-2"/>
          <p:cNvSpPr>
            <a:spLocks noGrp="1"/>
          </p:cNvSpPr>
          <p:nvPr/>
        </p:nvSpPr>
        <p:spPr>
          <a:xfrm>
            <a:off x="7848600" y="4686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流程复用</a:t>
            </a:r>
            <a:endParaRPr sz="16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11-impact-detail-2"/>
          <p:cNvSpPr>
            <a:spLocks noGrp="1"/>
          </p:cNvSpPr>
          <p:nvPr/>
        </p:nvSpPr>
        <p:spPr>
          <a:xfrm>
            <a:off x="7848600" y="5067300"/>
            <a:ext cx="2952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保留原贴膜与加压流程</a:t>
            </a:r>
            <a:endParaRPr sz="135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970" y="916305"/>
            <a:ext cx="8143875" cy="4583430"/>
          </a:xfrm>
          <a:prstGeom prst="rect">
            <a:avLst/>
          </a:prstGeo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动作实现｜P0→P1→P0→P2完成低速贯通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2-bottom-rule"/>
          <p:cNvSpPr>
            <a:spLocks noGrp="1"/>
          </p:cNvSpPr>
          <p:nvPr/>
        </p:nvSpPr>
        <p:spPr>
          <a:xfrm>
            <a:off x="876300" y="5581650"/>
            <a:ext cx="10287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12-bottom"/>
          <p:cNvSpPr>
            <a:spLocks noGrp="1"/>
          </p:cNvSpPr>
          <p:nvPr/>
        </p:nvSpPr>
        <p:spPr>
          <a:xfrm>
            <a:off x="876300" y="56959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传感器固定，移动膜材；P0作为统一中间位置。</a:t>
            </a:r>
            <a:endParaRPr sz="16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成果判断｜完成动作单元，也明确后续验证边界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13-timeline"/>
          <p:cNvSpPr>
            <a:spLocks noGrp="1"/>
          </p:cNvSpPr>
          <p:nvPr/>
        </p:nvSpPr>
        <p:spPr>
          <a:xfrm>
            <a:off x="1257300" y="1371600"/>
            <a:ext cx="9525" cy="3486150"/>
          </a:xfrm>
          <a:prstGeom prst="line">
            <a:avLst/>
          </a:prstGeom>
          <a:noFill/>
          <a:ln w="3810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13-step-0"/>
          <p:cNvSpPr>
            <a:spLocks noGrp="1"/>
          </p:cNvSpPr>
          <p:nvPr/>
        </p:nvSpPr>
        <p:spPr>
          <a:xfrm>
            <a:off x="1047750" y="12001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3-title-0"/>
          <p:cNvSpPr>
            <a:spLocks noGrp="1"/>
          </p:cNvSpPr>
          <p:nvPr/>
        </p:nvSpPr>
        <p:spPr>
          <a:xfrm>
            <a:off x="1714500" y="11811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明确P0 / P1 / P2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13-detail-0"/>
          <p:cNvSpPr>
            <a:spLocks noGrp="1"/>
          </p:cNvSpPr>
          <p:nvPr/>
        </p:nvSpPr>
        <p:spPr>
          <a:xfrm>
            <a:off x="1714500" y="15240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先定义统一原点与两个检测位置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3-step-1"/>
          <p:cNvSpPr>
            <a:spLocks noGrp="1"/>
          </p:cNvSpPr>
          <p:nvPr/>
        </p:nvSpPr>
        <p:spPr>
          <a:xfrm>
            <a:off x="1047750" y="20383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13-title-1"/>
          <p:cNvSpPr>
            <a:spLocks noGrp="1"/>
          </p:cNvSpPr>
          <p:nvPr/>
        </p:nvSpPr>
        <p:spPr>
          <a:xfrm>
            <a:off x="1714500" y="2019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低速确认XYZ与姿态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13-detail-1"/>
          <p:cNvSpPr>
            <a:spLocks noGrp="1"/>
          </p:cNvSpPr>
          <p:nvPr/>
        </p:nvSpPr>
        <p:spPr>
          <a:xfrm>
            <a:off x="1714500" y="23622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使用示教器检查移动方向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13-step-2"/>
          <p:cNvSpPr>
            <a:spLocks noGrp="1"/>
          </p:cNvSpPr>
          <p:nvPr/>
        </p:nvSpPr>
        <p:spPr>
          <a:xfrm>
            <a:off x="1047750" y="28765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3-title-2"/>
          <p:cNvSpPr>
            <a:spLocks noGrp="1"/>
          </p:cNvSpPr>
          <p:nvPr/>
        </p:nvSpPr>
        <p:spPr>
          <a:xfrm>
            <a:off x="1714500" y="28575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逐段验证三段路径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13-detail-2"/>
          <p:cNvSpPr>
            <a:spLocks noGrp="1"/>
          </p:cNvSpPr>
          <p:nvPr/>
        </p:nvSpPr>
        <p:spPr>
          <a:xfrm>
            <a:off x="1714500" y="32004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P0→P1、P1→P0、P0→P2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3-step-3"/>
          <p:cNvSpPr>
            <a:spLocks noGrp="1"/>
          </p:cNvSpPr>
          <p:nvPr/>
        </p:nvSpPr>
        <p:spPr>
          <a:xfrm>
            <a:off x="1047750" y="37147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3-title-3"/>
          <p:cNvSpPr>
            <a:spLocks noGrp="1"/>
          </p:cNvSpPr>
          <p:nvPr/>
        </p:nvSpPr>
        <p:spPr>
          <a:xfrm>
            <a:off x="1714500" y="36957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确认流程衔接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13-detail-3"/>
          <p:cNvSpPr>
            <a:spLocks noGrp="1"/>
          </p:cNvSpPr>
          <p:nvPr/>
        </p:nvSpPr>
        <p:spPr>
          <a:xfrm>
            <a:off x="1714500" y="40386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检测通过后进入原有后续动作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13-step-4"/>
          <p:cNvSpPr>
            <a:spLocks noGrp="1"/>
          </p:cNvSpPr>
          <p:nvPr/>
        </p:nvSpPr>
        <p:spPr>
          <a:xfrm>
            <a:off x="1047750" y="4552950"/>
            <a:ext cx="438150" cy="438150"/>
          </a:xfrm>
          <a:prstGeom prst="ellipse">
            <a:avLst/>
          </a:prstGeom>
          <a:solidFill>
            <a:srgbClr val="F5002F"/>
          </a:solidFill>
          <a:ln w="0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3-title-4"/>
          <p:cNvSpPr>
            <a:spLocks noGrp="1"/>
          </p:cNvSpPr>
          <p:nvPr/>
        </p:nvSpPr>
        <p:spPr>
          <a:xfrm>
            <a:off x="1714500" y="45339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连续观察重复性</a:t>
            </a:r>
            <a:endParaRPr sz="17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13-detail-4"/>
          <p:cNvSpPr>
            <a:spLocks noGrp="1"/>
          </p:cNvSpPr>
          <p:nvPr/>
        </p:nvSpPr>
        <p:spPr>
          <a:xfrm>
            <a:off x="1714500" y="48768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从“能动”走向“稳定可复现”</a:t>
            </a:r>
            <a:endParaRPr sz="127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13-divider"/>
          <p:cNvSpPr>
            <a:spLocks noGrp="1"/>
          </p:cNvSpPr>
          <p:nvPr/>
        </p:nvSpPr>
        <p:spPr>
          <a:xfrm>
            <a:off x="5905500" y="1181100"/>
            <a:ext cx="9525" cy="4457700"/>
          </a:xfrm>
          <a:prstGeom prst="line">
            <a:avLst/>
          </a:prstGeom>
          <a:noFill/>
          <a:ln w="19050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s13-done-tag"/>
          <p:cNvSpPr>
            <a:spLocks noGrp="1"/>
          </p:cNvSpPr>
          <p:nvPr/>
        </p:nvSpPr>
        <p:spPr>
          <a:xfrm>
            <a:off x="6381749" y="1257300"/>
            <a:ext cx="1880997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已经完成</a:t>
            </a:r>
            <a:endParaRPr sz="18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13-done"/>
          <p:cNvSpPr>
            <a:spLocks noGrp="1"/>
          </p:cNvSpPr>
          <p:nvPr/>
        </p:nvSpPr>
        <p:spPr>
          <a:xfrm>
            <a:off x="6381750" y="1733550"/>
            <a:ext cx="36861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双角检测动作序列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/ P1 / P2关键点位定位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与原后续动作衔接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  <a:def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连续多次运行</a:t>
            </a:r>
            <a:endParaRPr sz="18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13-right-mid"/>
          <p:cNvSpPr>
            <a:spLocks noGrp="1"/>
          </p:cNvSpPr>
          <p:nvPr/>
        </p:nvSpPr>
        <p:spPr>
          <a:xfrm>
            <a:off x="6381750" y="3314700"/>
            <a:ext cx="447675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s13-next-tag"/>
          <p:cNvSpPr>
            <a:spLocks noGrp="1"/>
          </p:cNvSpPr>
          <p:nvPr/>
        </p:nvSpPr>
        <p:spPr>
          <a:xfrm>
            <a:off x="6381750" y="35433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仍需继续验证</a:t>
            </a:r>
            <a:endParaRPr sz="1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3-next"/>
          <p:cNvSpPr>
            <a:spLocks noGrp="1"/>
          </p:cNvSpPr>
          <p:nvPr/>
        </p:nvSpPr>
        <p:spPr>
          <a:xfrm>
            <a:off x="6381750" y="4038600"/>
            <a:ext cx="4762500" cy="13136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单张 / 多张样本覆盖</a:t>
            </a:r>
            <a:endParaRPr sz="1575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异常、报警与流程中断记录</a:t>
            </a:r>
            <a:endParaRPr sz="1575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57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节拍影响与成功率数据</a:t>
            </a:r>
            <a:endParaRPr sz="1575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57250" y="5476875"/>
            <a:ext cx="10287000" cy="868680"/>
          </a:xfrm>
        </p:spPr>
        <p:txBody>
          <a:bodyPr>
            <a:normAutofit/>
          </a:bodyPr>
          <a:lstStyle/>
          <a:p>
            <a:r>
              <a:rPr sz="1425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已有经验帮助我更快理解问题，但工艺、安全和设备边界必须重新学习。</a:t>
            </a:r>
            <a:endParaRPr sz="1425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</a:pPr>
            <a:r>
              <a: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能力迁移的结果，不是更快写程序，而是更快形成可验证方案。</a:t>
            </a:r>
            <a:endParaRPr sz="14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已有经历缩短上手时间，现场约束决定最终方案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05-leftbar-0"/>
          <p:cNvSpPr>
            <a:spLocks noGrp="1"/>
          </p:cNvSpPr>
          <p:nvPr/>
        </p:nvSpPr>
        <p:spPr>
          <a:xfrm>
            <a:off x="838200" y="1409700"/>
            <a:ext cx="0" cy="867172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05-source-0"/>
          <p:cNvSpPr>
            <a:spLocks noGrp="1"/>
          </p:cNvSpPr>
          <p:nvPr/>
        </p:nvSpPr>
        <p:spPr>
          <a:xfrm>
            <a:off x="1104900" y="14097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本科PLC毕业设计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5-source-detail-0"/>
          <p:cNvSpPr>
            <a:spLocks noGrp="1"/>
          </p:cNvSpPr>
          <p:nvPr/>
        </p:nvSpPr>
        <p:spPr>
          <a:xfrm>
            <a:off x="1104900" y="18669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紫菜处理与清洗生产线</a:t>
            </a:r>
            <a:endParaRPr sz="142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5-arrow-0"/>
          <p:cNvSpPr>
            <a:spLocks noGrp="1"/>
          </p:cNvSpPr>
          <p:nvPr/>
        </p:nvSpPr>
        <p:spPr>
          <a:xfrm>
            <a:off x="4762500" y="15811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5-output-0"/>
          <p:cNvSpPr>
            <a:spLocks noGrp="1"/>
          </p:cNvSpPr>
          <p:nvPr/>
        </p:nvSpPr>
        <p:spPr>
          <a:xfrm>
            <a:off x="6019800" y="1447800"/>
            <a:ext cx="4953000" cy="723900"/>
          </a:xfrm>
          <a:prstGeom prst="rect">
            <a:avLst/>
          </a:prstGeom>
          <a:solidFill>
            <a:srgbClr val="F4F5F5"/>
          </a:solidFill>
          <a:ln w="14288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快速理解梯形图与顺序控制</a:t>
            </a:r>
            <a:endParaRPr sz="21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5-rowline-0"/>
          <p:cNvSpPr>
            <a:spLocks noGrp="1"/>
          </p:cNvSpPr>
          <p:nvPr/>
        </p:nvSpPr>
        <p:spPr>
          <a:xfrm>
            <a:off x="857250" y="25146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05-leftbar-1"/>
          <p:cNvSpPr>
            <a:spLocks noGrp="1"/>
          </p:cNvSpPr>
          <p:nvPr/>
        </p:nvSpPr>
        <p:spPr>
          <a:xfrm>
            <a:off x="838200" y="2819400"/>
            <a:ext cx="0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05-source-1"/>
          <p:cNvSpPr>
            <a:spLocks noGrp="1"/>
          </p:cNvSpPr>
          <p:nvPr/>
        </p:nvSpPr>
        <p:spPr>
          <a:xfrm>
            <a:off x="1104900" y="28194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硕士期间参与国家级项目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5-source-detail-1"/>
          <p:cNvSpPr>
            <a:spLocks noGrp="1"/>
          </p:cNvSpPr>
          <p:nvPr/>
        </p:nvSpPr>
        <p:spPr>
          <a:xfrm>
            <a:off x="1104900" y="32766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八电机协同控制空间球体</a:t>
            </a:r>
            <a:endParaRPr sz="142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5-arrow-1"/>
          <p:cNvSpPr>
            <a:spLocks noGrp="1"/>
          </p:cNvSpPr>
          <p:nvPr/>
        </p:nvSpPr>
        <p:spPr>
          <a:xfrm>
            <a:off x="4762500" y="29908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5-output-1"/>
          <p:cNvSpPr>
            <a:spLocks noGrp="1"/>
          </p:cNvSpPr>
          <p:nvPr/>
        </p:nvSpPr>
        <p:spPr>
          <a:xfrm>
            <a:off x="6019800" y="2857500"/>
            <a:ext cx="4953000" cy="723900"/>
          </a:xfrm>
          <a:prstGeom prst="rect">
            <a:avLst/>
          </a:prstGeom>
          <a:solidFill>
            <a:srgbClr val="F4F5F5"/>
          </a:solidFill>
          <a:ln w="14288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理解多执行器协同与通信</a:t>
            </a:r>
            <a:endParaRPr sz="21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5-rowline-1"/>
          <p:cNvSpPr>
            <a:spLocks noGrp="1"/>
          </p:cNvSpPr>
          <p:nvPr/>
        </p:nvSpPr>
        <p:spPr>
          <a:xfrm>
            <a:off x="857250" y="39243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05-leftbar-2"/>
          <p:cNvSpPr>
            <a:spLocks noGrp="1"/>
          </p:cNvSpPr>
          <p:nvPr/>
        </p:nvSpPr>
        <p:spPr>
          <a:xfrm flipH="1">
            <a:off x="838199" y="4229100"/>
            <a:ext cx="1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s05-source-2"/>
          <p:cNvSpPr>
            <a:spLocks noGrp="1"/>
          </p:cNvSpPr>
          <p:nvPr/>
        </p:nvSpPr>
        <p:spPr>
          <a:xfrm>
            <a:off x="1104900" y="42291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硕士研究方向：惯性导航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5-source-detail-2"/>
          <p:cNvSpPr>
            <a:spLocks noGrp="1"/>
          </p:cNvSpPr>
          <p:nvPr/>
        </p:nvSpPr>
        <p:spPr>
          <a:xfrm>
            <a:off x="1104900" y="46863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坐标变换与姿态表达</a:t>
            </a:r>
            <a:endParaRPr sz="1425">
              <a:solidFill>
                <a:srgbClr val="7D86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5-arrow-2"/>
          <p:cNvSpPr>
            <a:spLocks noGrp="1"/>
          </p:cNvSpPr>
          <p:nvPr/>
        </p:nvSpPr>
        <p:spPr>
          <a:xfrm>
            <a:off x="4762500" y="44005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5-output-2"/>
          <p:cNvSpPr>
            <a:spLocks noGrp="1"/>
          </p:cNvSpPr>
          <p:nvPr/>
        </p:nvSpPr>
        <p:spPr>
          <a:xfrm>
            <a:off x="6019800" y="4267200"/>
            <a:ext cx="4953000" cy="723900"/>
          </a:xfrm>
          <a:prstGeom prst="rect">
            <a:avLst/>
          </a:prstGeom>
          <a:solidFill>
            <a:srgbClr val="F4F5F5"/>
          </a:solidFill>
          <a:ln w="14288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快速理解TCP</a:t>
            </a:r>
            <a:r>
              <a:rPr sz="21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21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用户坐标系</a:t>
            </a:r>
            <a:endParaRPr sz="21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723900" y="5467350"/>
            <a:ext cx="10744200" cy="514350"/>
          </a:xfrm>
        </p:spPr>
        <p:txBody>
          <a:bodyPr>
            <a:normAutofit fontScale="94136" lnSpcReduction="10000"/>
          </a:bodyPr>
          <a:lstStyle/>
          <a:p>
            <a:r>
              <a:rPr sz="135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认识：制造现场中的每个动作都连接着安全、质量、节拍与协作</a:t>
            </a:r>
            <a:endParaRPr sz="135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35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改变：面对问题时，先理解系统，再动手修改，最后用数据验证</a:t>
            </a:r>
            <a:endParaRPr sz="135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活动收获｜我带走的不是指令，而是三种工作方法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02-days"/>
          <p:cNvSpPr>
            <a:spLocks noGrp="1"/>
          </p:cNvSpPr>
          <p:nvPr/>
        </p:nvSpPr>
        <p:spPr>
          <a:xfrm>
            <a:off x="762000" y="11620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3点</a:t>
            </a:r>
            <a:endParaRPr sz="43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02-date"/>
          <p:cNvSpPr>
            <a:spLocks noGrp="1"/>
          </p:cNvSpPr>
          <p:nvPr/>
        </p:nvSpPr>
        <p:spPr>
          <a:xfrm>
            <a:off x="800100" y="19526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核心收获</a:t>
            </a:r>
            <a:endParaRPr sz="1350" b="1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2-flow-line"/>
          <p:cNvSpPr>
            <a:spLocks noGrp="1"/>
          </p:cNvSpPr>
          <p:nvPr/>
        </p:nvSpPr>
        <p:spPr>
          <a:xfrm>
            <a:off x="2667000" y="2724150"/>
            <a:ext cx="7810500" cy="9525"/>
          </a:xfrm>
          <a:prstGeom prst="line">
            <a:avLst/>
          </a:prstGeom>
          <a:noFill/>
          <a:ln w="28575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s02-01-num"/>
          <p:cNvSpPr>
            <a:spLocks noGrp="1"/>
          </p:cNvSpPr>
          <p:nvPr/>
        </p:nvSpPr>
        <p:spPr>
          <a:xfrm>
            <a:off x="28575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2-01-title"/>
          <p:cNvSpPr>
            <a:spLocks noGrp="1"/>
          </p:cNvSpPr>
          <p:nvPr/>
        </p:nvSpPr>
        <p:spPr>
          <a:xfrm>
            <a:off x="28575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工程意识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2-01-detail"/>
          <p:cNvSpPr>
            <a:spLocks noGrp="1"/>
          </p:cNvSpPr>
          <p:nvPr/>
        </p:nvSpPr>
        <p:spPr>
          <a:xfrm>
            <a:off x="28575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先安全、再动作、后速度</a:t>
            </a:r>
            <a:endParaRPr sz="150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02-02-num"/>
          <p:cNvSpPr>
            <a:spLocks noGrp="1"/>
          </p:cNvSpPr>
          <p:nvPr/>
        </p:nvSpPr>
        <p:spPr>
          <a:xfrm>
            <a:off x="561975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02-02-title"/>
          <p:cNvSpPr>
            <a:spLocks noGrp="1"/>
          </p:cNvSpPr>
          <p:nvPr/>
        </p:nvSpPr>
        <p:spPr>
          <a:xfrm>
            <a:off x="561975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系统视角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2-02-detail"/>
          <p:cNvSpPr>
            <a:spLocks noGrp="1"/>
          </p:cNvSpPr>
          <p:nvPr/>
        </p:nvSpPr>
        <p:spPr>
          <a:xfrm>
            <a:off x="561975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从单机指令到控制链协同</a:t>
            </a:r>
            <a:endParaRPr sz="150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2-03-num"/>
          <p:cNvSpPr>
            <a:spLocks noGrp="1"/>
          </p:cNvSpPr>
          <p:nvPr/>
        </p:nvSpPr>
        <p:spPr>
          <a:xfrm>
            <a:off x="8382000" y="2209800"/>
            <a:ext cx="685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2-03-title"/>
          <p:cNvSpPr>
            <a:spLocks noGrp="1"/>
          </p:cNvSpPr>
          <p:nvPr/>
        </p:nvSpPr>
        <p:spPr>
          <a:xfrm>
            <a:off x="8382000" y="28575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验证习惯</a:t>
            </a:r>
            <a:endParaRPr sz="255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2-03-detail"/>
          <p:cNvSpPr>
            <a:spLocks noGrp="1"/>
          </p:cNvSpPr>
          <p:nvPr/>
        </p:nvSpPr>
        <p:spPr>
          <a:xfrm>
            <a:off x="8382000" y="33909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用边界和数据定义成果</a:t>
            </a:r>
            <a:endParaRPr sz="1500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02-result-rule"/>
          <p:cNvSpPr>
            <a:spLocks noGrp="1"/>
          </p:cNvSpPr>
          <p:nvPr/>
        </p:nvSpPr>
        <p:spPr>
          <a:xfrm>
            <a:off x="762000" y="4629150"/>
            <a:ext cx="10668000" cy="9525"/>
          </a:xfrm>
          <a:prstGeom prst="line">
            <a:avLst/>
          </a:prstGeom>
          <a:noFill/>
          <a:ln w="28575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s02-result"/>
          <p:cNvSpPr>
            <a:spLocks noGrp="1"/>
          </p:cNvSpPr>
          <p:nvPr/>
        </p:nvSpPr>
        <p:spPr>
          <a:xfrm>
            <a:off x="762000" y="4762500"/>
            <a:ext cx="666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从“完成任务”走向“对结果负责”</a:t>
            </a:r>
            <a:endParaRPr sz="25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プレースホルダー 1"/>
          <p:cNvSpPr>
            <a:spLocks noGrp="1"/>
          </p:cNvSpPr>
          <p:nvPr>
            <p:ph type="body" idx="14"/>
          </p:nvPr>
        </p:nvSpPr>
        <p:spPr>
          <a:xfrm>
            <a:off x="857250" y="5476875"/>
            <a:ext cx="10287000" cy="868680"/>
          </a:xfrm>
        </p:spPr>
        <p:txBody>
          <a:bodyPr>
            <a:normAutofit/>
          </a:bodyPr>
          <a:lstStyle/>
          <a:p>
            <a:r>
              <a:rPr sz="1425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如果有机会继续留在村田，我希望从“完成动作”继续走向“稳定设备、改善节拍、沉淀标准”。</a:t>
            </a:r>
            <a:endParaRPr sz="1425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</a:pPr>
            <a:r>
              <a:rPr sz="142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目标：成为能够理解现场、连接系统、推动改善的控制工程人才。</a:t>
            </a:r>
            <a:endParaRPr sz="142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岗位匹配｜把三种能力转化为三类现场价值</a:t>
            </a:r>
            <a:endParaRPr sz="28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05-leftbar-0"/>
          <p:cNvSpPr>
            <a:spLocks noGrp="1"/>
          </p:cNvSpPr>
          <p:nvPr/>
        </p:nvSpPr>
        <p:spPr>
          <a:xfrm>
            <a:off x="838200" y="1409700"/>
            <a:ext cx="0" cy="867172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05-source-0"/>
          <p:cNvSpPr>
            <a:spLocks noGrp="1"/>
          </p:cNvSpPr>
          <p:nvPr/>
        </p:nvSpPr>
        <p:spPr>
          <a:xfrm>
            <a:off x="1104900" y="14097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快速学习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05-source-detail-0"/>
          <p:cNvSpPr>
            <a:spLocks noGrp="1"/>
          </p:cNvSpPr>
          <p:nvPr/>
        </p:nvSpPr>
        <p:spPr>
          <a:xfrm>
            <a:off x="1104900" y="18669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PLC、坐标与通信基础</a:t>
            </a:r>
            <a:endParaRPr sz="1425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05-arrow-0"/>
          <p:cNvSpPr>
            <a:spLocks noGrp="1"/>
          </p:cNvSpPr>
          <p:nvPr/>
        </p:nvSpPr>
        <p:spPr>
          <a:xfrm>
            <a:off x="4762500" y="15811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05-output-0"/>
          <p:cNvSpPr>
            <a:spLocks noGrp="1"/>
          </p:cNvSpPr>
          <p:nvPr/>
        </p:nvSpPr>
        <p:spPr>
          <a:xfrm>
            <a:off x="6019800" y="1447800"/>
            <a:ext cx="4953000" cy="723900"/>
          </a:xfrm>
          <a:prstGeom prst="rect">
            <a:avLst/>
          </a:prstGeom>
          <a:solidFill>
            <a:srgbClr val="F4F5F5"/>
          </a:solidFill>
          <a:ln w="14288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缩短新设备上手时间</a:t>
            </a:r>
            <a:endParaRPr sz="21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05-rowline-0"/>
          <p:cNvSpPr>
            <a:spLocks noGrp="1"/>
          </p:cNvSpPr>
          <p:nvPr/>
        </p:nvSpPr>
        <p:spPr>
          <a:xfrm>
            <a:off x="857250" y="25146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05-leftbar-1"/>
          <p:cNvSpPr>
            <a:spLocks noGrp="1"/>
          </p:cNvSpPr>
          <p:nvPr/>
        </p:nvSpPr>
        <p:spPr>
          <a:xfrm>
            <a:off x="838200" y="2819400"/>
            <a:ext cx="0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s05-source-1"/>
          <p:cNvSpPr>
            <a:spLocks noGrp="1"/>
          </p:cNvSpPr>
          <p:nvPr/>
        </p:nvSpPr>
        <p:spPr>
          <a:xfrm>
            <a:off x="1104900" y="28194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系统思维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05-source-detail-1"/>
          <p:cNvSpPr>
            <a:spLocks noGrp="1"/>
          </p:cNvSpPr>
          <p:nvPr/>
        </p:nvSpPr>
        <p:spPr>
          <a:xfrm>
            <a:off x="1104900" y="32766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理解感知—控制—执行</a:t>
            </a:r>
            <a:endParaRPr sz="1425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05-arrow-1"/>
          <p:cNvSpPr>
            <a:spLocks noGrp="1"/>
          </p:cNvSpPr>
          <p:nvPr/>
        </p:nvSpPr>
        <p:spPr>
          <a:xfrm>
            <a:off x="4762500" y="29908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05-output-1"/>
          <p:cNvSpPr>
            <a:spLocks noGrp="1"/>
          </p:cNvSpPr>
          <p:nvPr/>
        </p:nvSpPr>
        <p:spPr>
          <a:xfrm>
            <a:off x="6019800" y="2857500"/>
            <a:ext cx="4953000" cy="723900"/>
          </a:xfrm>
          <a:prstGeom prst="rect">
            <a:avLst/>
          </a:prstGeom>
          <a:solidFill>
            <a:srgbClr val="F4F5F5"/>
          </a:solidFill>
          <a:ln w="14288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更快定位跨设备问题</a:t>
            </a:r>
            <a:endParaRPr sz="21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05-rowline-1"/>
          <p:cNvSpPr>
            <a:spLocks noGrp="1"/>
          </p:cNvSpPr>
          <p:nvPr/>
        </p:nvSpPr>
        <p:spPr>
          <a:xfrm>
            <a:off x="857250" y="3924300"/>
            <a:ext cx="10096500" cy="9525"/>
          </a:xfrm>
          <a:prstGeom prst="line">
            <a:avLst/>
          </a:prstGeom>
          <a:noFill/>
          <a:ln w="9525">
            <a:solidFill>
              <a:srgbClr val="D9DDDE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s05-leftbar-2"/>
          <p:cNvSpPr>
            <a:spLocks noGrp="1"/>
          </p:cNvSpPr>
          <p:nvPr/>
        </p:nvSpPr>
        <p:spPr>
          <a:xfrm flipH="1">
            <a:off x="838199" y="4229100"/>
            <a:ext cx="1" cy="914400"/>
          </a:xfrm>
          <a:prstGeom prst="line">
            <a:avLst/>
          </a:prstGeom>
          <a:noFill/>
          <a:ln w="57150">
            <a:solidFill>
              <a:srgbClr val="F5002F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s05-source-2"/>
          <p:cNvSpPr>
            <a:spLocks noGrp="1"/>
          </p:cNvSpPr>
          <p:nvPr/>
        </p:nvSpPr>
        <p:spPr>
          <a:xfrm>
            <a:off x="1104900" y="42291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验证意识</a:t>
            </a:r>
            <a:endParaRPr sz="21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05-source-detail-2"/>
          <p:cNvSpPr>
            <a:spLocks noGrp="1"/>
          </p:cNvSpPr>
          <p:nvPr/>
        </p:nvSpPr>
        <p:spPr>
          <a:xfrm>
            <a:off x="1104900" y="46863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>
                <a:solidFill>
                  <a:srgbClr val="7D86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7079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边界、数据与复现</a:t>
            </a:r>
            <a:endParaRPr sz="1425">
              <a:solidFill>
                <a:srgbClr val="7079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05-arrow-2"/>
          <p:cNvSpPr>
            <a:spLocks noGrp="1"/>
          </p:cNvSpPr>
          <p:nvPr/>
        </p:nvSpPr>
        <p:spPr>
          <a:xfrm>
            <a:off x="4762500" y="4400550"/>
            <a:ext cx="85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15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05-output-2"/>
          <p:cNvSpPr>
            <a:spLocks noGrp="1"/>
          </p:cNvSpPr>
          <p:nvPr/>
        </p:nvSpPr>
        <p:spPr>
          <a:xfrm>
            <a:off x="6019800" y="4267200"/>
            <a:ext cx="4953000" cy="723900"/>
          </a:xfrm>
          <a:prstGeom prst="rect">
            <a:avLst/>
          </a:prstGeom>
          <a:solidFill>
            <a:srgbClr val="F4F5F5"/>
          </a:solidFill>
          <a:ln w="14288">
            <a:solidFill>
              <a:srgbClr val="F5002F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75" b="1">
                <a:solidFill>
                  <a:srgbClr val="1D22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推动改善结果可量化</a:t>
            </a:r>
            <a:endParaRPr sz="2175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457200" y="411480"/>
            <a:ext cx="118872" cy="45720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457200" y="6419088"/>
            <a:ext cx="11274552" cy="2794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07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  |  Innovator in Electronics</a:t>
            </a:r>
            <a:endParaRPr sz="900" b="0">
              <a:solidFill>
                <a:srgbClr val="707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4140000" y="3528000"/>
            <a:ext cx="7332000" cy="1557184"/>
          </a:xfrm>
        </p:spPr>
        <p:txBody>
          <a:bodyPr/>
          <a:lstStyle/>
          <a:p>
            <a:r>
              <a:rPr sz="2600" b="1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理解企业 → 扎根现场 → 参与改善</a:t>
            </a:r>
            <a:endParaRPr sz="2600" b="1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5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尊重安全｜理解工艺｜系统思考｜数据验证</a:t>
            </a:r>
            <a:endParaRPr sz="150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5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感谢公司、夏令营团队与部门各位前辈</a:t>
            </a:r>
            <a:endParaRPr sz="150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</a:pPr>
            <a:r>
              <a:rPr sz="1400" b="0">
                <a:solidFill>
                  <a:srgbClr val="525B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期待继续把控制工程能力转化为可量化的现场价值</a:t>
            </a:r>
            <a:endParaRPr sz="1400" b="0">
              <a:solidFill>
                <a:srgbClr val="525B5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500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夏令营结束，但现场价值刚刚开始</a:t>
            </a:r>
            <a:endParaRPr sz="3000" b="1">
              <a:solidFill>
                <a:srgbClr val="F500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7"/>
          <p:cNvPicPr>
            <a:picLocks noChangeAspect="1"/>
          </p:cNvPicPr>
          <p:nvPr/>
        </p:nvPicPr>
        <p:blipFill>
          <a:blip r:embed="rId1"/>
          <a:srcRect l="31851" r="31851"/>
          <a:stretch>
            <a:fillRect/>
          </a:stretch>
        </p:blipFill>
        <p:spPr>
          <a:xfrm>
            <a:off x="0" y="0"/>
            <a:ext cx="3359658" cy="5209223"/>
          </a:xfrm>
          <a:prstGeom prst="rect">
            <a:avLst/>
          </a:prstGeom>
        </p:spPr>
      </p:pic>
      <p:sp>
        <p:nvSpPr>
          <p:cNvPr id="9" name="Rectangle 8"/>
          <p:cNvSpPr>
            <a:spLocks noGrp="1"/>
          </p:cNvSpPr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F50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548640" y="6053328"/>
            <a:ext cx="1808508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muRata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1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Innovator in Electronics · 感谢各位领导与老师</a:t>
            </a:r>
            <a:endParaRPr sz="11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607040" y="6053328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2264</Words>
  <Application>WPS 演示</Application>
  <PresentationFormat>Converted Presentation</PresentationFormat>
  <Paragraphs>360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Confidential</vt:lpstr>
      <vt:lpstr>Standard</vt:lpstr>
      <vt:lpstr>Strictly Confidential</vt:lpstr>
      <vt:lpstr>Limited Disclosure</vt:lpstr>
      <vt:lpstr>从学习参与走向现场价值</vt:lpstr>
      <vt:lpstr>一个月，我完成了三次角色转变</vt:lpstr>
      <vt:lpstr>活动参与｜先理解企业如何把技术变成制造能力</vt:lpstr>
      <vt:lpstr>部门实践把学习广度收敛成一条技术路径</vt:lpstr>
      <vt:lpstr>部门工作不是操作单机，而是维护一条控制链</vt:lpstr>
      <vt:lpstr>参加课题｜利用现有条件提升检测信息覆盖</vt:lpstr>
      <vt:lpstr>我的方案｜一个固定检测点覆盖两个角</vt:lpstr>
      <vt:lpstr>动作实现｜P0→P1→P0→P2完成低速贯通</vt:lpstr>
      <vt:lpstr>成果判断｜完成动作单元，也明确后续验证边界</vt:lpstr>
      <vt:lpstr>已有经历缩短上手时间，现场约束决定最终方案</vt:lpstr>
      <vt:lpstr>活动收获｜我带走的不是指令，而是三种工作方法</vt:lpstr>
      <vt:lpstr>岗位匹配｜把三种能力转化为三类现场价值</vt:lpstr>
      <vt:lpstr>夏令营结束，但现场价值刚刚开始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从学习参与走向现场价值</dc:title>
  <dc:creator>Walnut Exporter</dc:creator>
  <cp:lastModifiedBy>qzuser</cp:lastModifiedBy>
  <cp:revision>1</cp:revision>
  <dcterms:created xsi:type="dcterms:W3CDTF">2026-08-10T10:10:49Z</dcterms:created>
  <dcterms:modified xsi:type="dcterms:W3CDTF">2026-08-10T10:10:49Z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7593F16576A74BDF9A1C0775D7806F07_12</vt:lpwstr>
  </property>
  <property fmtid="{D5CDD505-2E9C-101B-9397-08002B2CF9AE}" pid="3" name="KSOProductBuildVer">
    <vt:lpwstr>2052-12.1.0.23542</vt:lpwstr>
  </property>
</Properties>
</file>