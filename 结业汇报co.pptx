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3.xml" ContentType="application/vnd.openxmlformats-officedocument.theme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9" r:id="rId2"/>
    <p:sldMasterId id="2147483690" r:id="rId3"/>
    <p:sldMasterId id="2147483711" r:id="rId4"/>
  </p:sldMasterIdLst>
  <p:notesMasterIdLst>
    <p:notesMasterId r:id="rId1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817" autoAdjust="0"/>
  </p:normalViewPr>
  <p:slideViewPr>
    <p:cSldViewPr snapToGrid="0">
      <p:cViewPr varScale="1">
        <p:scale>
          <a:sx n="70" d="100"/>
          <a:sy n="70" d="100"/>
        </p:scale>
        <p:origin x="1138" y="43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各位领导、各位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前辈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，大家好，我是南京理工大学控制工程专业的张博。今天我不准备把这一个月讲成一份学习清单，而是想用一个真实的现场动作，说明如何把已有的控制知识转化为产线能够执行的动作。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的核心实践是在不改变原有主流程的前提下，利用同一个固定激光传感器，让机械臂完成膜材左上角和右上角的两次检测。接下来我重点回答三个问题：这一个月完成了什么、为什么这样改、以及目前验证到了哪一步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过渡到下一页：先不展开过程，我先把30天的结果放在前面。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先说结果。30天里，我完成了三个层次的贯通：第一，理解现场的安全要求、工艺流程和设备逻辑；第二，把传感器、PLC、工业通信和机器人理解为一条完整控制链；第三，完成单传感器双角检测动作。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这里我也主动划清成果边界：目前已经完成动作顺序、关键点定位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原流程的衔接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以及连续运行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；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但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节拍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影响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率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和不同样本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覆盖仍然需要进一步量化验证。因此，这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并不是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量产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结果，而是完成了一个边界清晰、可以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优化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验证的动作单元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lang="en-US"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过渡到下一页：这些结果并不是零散学习的叠加，首先来自夏令营对企业整体运行的系统认识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03/14｜整体安排：先建立制造企业的全局视角】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夏令营从7月13日到8月12日，整体安排覆盖企业与安全、产业与技术、团队与交流以及成果输出四个方面。开营介绍、EHS教育、产线参观、智能装备课程和行业讲座，让我先理解一家制造企业为什么这样运转。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对控制工程学生来说，这个视角很重要。技术方案不能只在程序层面成立，还必须服从安全规范、工艺节拍、设备边界和团队协作。夏令营给我的首先是视野广度，让我能够从企业整体运行的角度看待后续部门实践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过渡到下一页：在这层全局视角之下，部门实习计划进一步把学习收敛成一条逐步深入的技术路径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04/14｜部门路径：每一步都为下一步服务】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部门实习计划可以概括为五个阶段：现场认知、PLC与通信、机器人学习、动作实践以及成果沉淀。它不是五项彼此独立的任务，而是一条前后递进的学习链。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先理解设备和工艺，才能知道程序中的变量对应什么；理解PLC与通信，才能看懂状态如何传递；理解机器人坐标系，才能安全、准确地修改动作。最终的双角检测实践，正是前面四个阶段共同支撑的结果。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过渡到下一页：接下来进入本次汇报的核心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——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现场为什么需要增加第二个角点检测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05/14｜问题定义：单角检测只能提供局部信息】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这项任务位于取膜、检测、贴合和加压之间的关键衔接位置。取膜机根据激光测距信息确定取膜高度，通过吸嘴取膜并抖动，尽量避免静电导致的多张吸附；随后机械臂取膜并进行单张检测。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原流程只检测膜材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上角，得到的是局部信息。如果发生多张膜局部叠附，另一侧状态没有被覆盖。因此本次改造的目标不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只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是增加一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动作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而是在保留原工艺主流程的基础上，让膜材两个角依次经过同一个固定检测点，提高检测信息覆盖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过渡到下一页：明确问题之后，动作方案可以浓缩成四个位置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——P0、P1、P0、P2。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06/14｜方案设计：一个固定检测点覆盖两个角】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pPr algn="l"/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原动作是机械臂在P0取膜后，只把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上角移动到固定激光检测点，然后进入后续流程。目标动作则以P0作为统一中间位置：从P0移动到P1，让膜材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上角经过检测点；回到P0后，再移动到P2，让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右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上角经过同一个检测点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这里需要特别强调：P1和P2不是两个传感器位置，而是膜材相对同一传感器的两个检测姿态。这样的设计复用原有传感器和后续流程，只改变机器人的运动序列。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过渡到下一页：下一张图把这条路径直接可视化，也可以配合现场动作视频展示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07/14｜关键动作：传感器固定，膜材移动】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这一页只需要关注一个红色检测点：激光传感器始终固定，移动的是机械臂吸取的膜材。机械臂从P0向右移动到P1，使左上角经过检测点；回到P0，再向左移动到P2，使右上角经过同一个检测点。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P0承担统一中间位置的作用，使两段路径拥有共同基准，也便于逐段低速确认。10到15秒的实际动作视频，让动作路径与图示一一对应。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在调试过程中，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动作能够跑通只是第一步，工程上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应该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还必须明确已经验证了什么、尚未验证什么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08/14｜验证边界：先确认安全与顺序，再讨论速度】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现场调试按照由低风险到高风险的顺序推进：先明确P0、P1和P2，再低速确认XYZ方向和姿态；随后逐段验证P0到P1、P1回P0以及P0到P2；最后确认与原后续流程的衔接。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目前完成的是动作序列、关键点定位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流程衔接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以及多次动作衔接的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下一阶段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则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需要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人为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覆盖单张、多张以及异常中断等情况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  <a:endParaRPr lang="en-US"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lang="en-US"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人为测试极端情况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也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是我在现场学到的一个重要工程习惯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  <a:endParaRPr lang="en-US"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过渡到下一页：能够完成这次动作改造，前提是先把整条产线看成一条完整的控制链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09/14｜现场认知：设备不是零件集合，而是一条控制链】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进入部门后，我首先熟悉SUS合理化线、UV贴膜自动化线、常见电气部品和执行元件。这个阶段让我认识到，现场设备不能只按单个部件理解。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传感器负责感知状态，PLC和程序负责判断，通信负责传递信息，机构与机器人负责执行动作。只有把这些环节放在同一条链上，才能判断一个动作变化会影响哪些上游条件和下游流程。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过渡到下一页：在这条控制链里，PLC首先承担了把现场状态转化为程序逻辑的角色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10/14｜PLC学习：从会写指令到能解释设备状态】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因为本科阶段学习过PLC，并完成过基于PLC的紫菜处理与清洗生产线设计，所以我用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两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天时间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回忆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梯形图基本指令和顺序控制。真正新的学习重点，是把I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/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O映射、ST程序和激光测距信息与现场设备状态对应起来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这一个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输入点不再只是地址，而是能够对应传感器状态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；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一个输出点不再只是线圈，而是能够对应具体执行动作时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所以我在这里总结了一句话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过渡到下一页：但单台PLC只能完成局部判断，要让多台设备协同，还需要工业通信把它们连接起来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11/14｜工业通信：让状态、判断与动作形成协同】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我进一步学习了EtherCAT、EtherNet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/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IP和Modbus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TCP。对这次实践而言，重点不是记住协议名称，而是理解信息在设备之间如何流动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传感器提供状态，PLC完成逻辑判断，工业网络传递指令，机器人执行运动。只有状态、判断和动作在时序上闭合，机械臂才能在收到放膜完成信号后准确进入取膜与检测流程。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过渡到下一页：指令传到机器人之后，还必须用统一坐标基准把‘移动到哪里、以什么姿态移动’描述清楚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12/14｜机器人坐标：让动作能够被准确描述和复现】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机器人动作能够被准确复现，首先取决于坐标基准是否统一。世界坐标系提供整机运动基准，工具坐标系描述吸嘴末端的位置与姿态，用户坐标系则面向PCB工作平面建立局部基准。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我的研究方向是惯性导航，因此对坐标变换和姿态表达比较熟悉，这帮助我快速理解TCP和用户坐标系；现场实践又补充了安全示教、工艺基准和低速确认等工程约束。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过渡到下一页：这种快速进入问题的能力，也来自本科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的学习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硕士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项目和研究方向之间的知识迁移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13/14｜能力迁移：已有知识缩短上手时间，现场约束决定最终方案】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三段既有经历帮助我缩短了上手时间：本科PLC毕业设计帮助我快速恢复梯形图和顺序控制；硕士期间参与八电机协同控制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空间球体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项目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，虽然该项目与车间流程不同，但是他的底层通信使用的是</a:t>
            </a:r>
            <a:r>
              <a:rPr lang="en-US" altLang="zh-CN"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EtherCAT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，帮助我理解多执行器协同与通信；惯性导航研究则帮助我理解坐标变换和姿态表达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但这些经历不能替代现场学习。真正的能力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转移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是把已有知识放进工艺、安全和设备约束中，转化为现场可以执行、可以观察、可以继续验证的动作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14/14｜结尾：从参观者走向参与改进者】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这一个月最重要的收获，不是多学会了几条PLC或机器人指令，而是形成了一套现场工作方法：先理解工艺，再定义状态；先保证安全，再验证动作；先完成贯通，再用数据证明稳定。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我也完成了从参观者、学习者到参与改进者的转变。感谢各位领导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以及我的师傅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和部门前辈的帮助。如果后续还有机会，我希望继续参与设备稳定性和智能化改进，把控制工程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知识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转化为可量化、可复用的现场价值。谢谢大家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83F422D9-218F-4DEE-A31F-C39D2F00675D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C6FA72-5044-4625-B0A1-4EAA6F648FB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FB13C45C-8897-4EA3-BB83-DE07D340D8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994CDCFD-B975-4751-99B8-09FA1E4D8893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44EA38A-A199-4A85-9F82-CA80FF42A8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3758DA18-CABE-4649-B29E-0E4EE46547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5B86C763-08F7-4848-A913-796755590FE5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B5CB17F4-9979-4B13-BB8F-E7C503B3B0C9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18A10E-23A9-4F38-AAC4-4294A3685A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A17841A9-CD92-44A9-8B95-737A579B6F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ACA80842-6648-49F6-B79C-968FCD4125C8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タイトル 18">
            <a:extLst>
              <a:ext uri="{FF2B5EF4-FFF2-40B4-BE49-F238E27FC236}">
                <a16:creationId xmlns:a16="http://schemas.microsoft.com/office/drawing/2014/main" id="{1F723F53-2A13-47C2-A1FB-74BF30538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7686269-B1FC-4A25-9F3F-7E2A707DF00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E8CAEC40-8DDE-4285-BAF1-D61C2DC5A7A0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688F005B-80C8-4714-BB05-9BCC41C6054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85596F4-569E-4F50-864E-E627C2FDD0BC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テキスト プレースホルダー 7">
            <a:extLst>
              <a:ext uri="{FF2B5EF4-FFF2-40B4-BE49-F238E27FC236}">
                <a16:creationId xmlns:a16="http://schemas.microsoft.com/office/drawing/2014/main" id="{C0E09A92-9989-401B-B787-248EB0E2BEB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8F44A177-6392-43CB-96BA-9AFC2FAE53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8EA17C15-308D-4976-BB40-785D0A75F84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5703584-43CB-40AB-9BEB-E6D4498F1F5B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0D98D45E-DE2F-4E14-8A5B-9BF3C447D05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D6D82D5E-B5CD-4CB7-A15B-0501B8402A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3B116C6-BB57-4009-93C0-7EDCBF3FC66C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D8CD4CA-0307-4B88-8B88-F30B11BAEB20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F222E49E-BB12-4C1F-B43D-D9DEFA5E028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2AA8AA1B-10BC-44A0-9737-47B35861AE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97DABEE-98C3-469B-9F56-E8B43D947BB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FC6442C-10E7-47E1-BC3B-599EF858DDE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2BA0583E-CC02-4EEF-A1F9-BC24E31ECEC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14FA603E-5A15-40BF-970A-E72CD694EA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8788025-CBD2-4395-A609-A1669844E66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EE3D772-11B4-48CA-A4DB-BD6F18081170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34FB35C5-9602-4684-A6D0-73A16918DA4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5C395BE5-66E6-4240-8F1D-C6DBBA4CEF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03106F0-9741-4043-8813-9EE1135DFD8F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F00181D-3CB2-451C-B1D9-4550A82352B5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8B0E12CB-DBE3-4DDC-88C3-DEC139AC976E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AD6B13E2-386E-450B-A973-884892F0AA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FCF20D3-5637-4F0C-BE9D-972E3A69853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1144C94-D547-4DF6-AF6B-F207786DE6A6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A40B24F-ADE3-4B32-BD96-CB1B55C1636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0E69CF0-DC65-45ED-BE74-79C487279D2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2F9DEC7-DF53-4708-BB76-6F991AEF164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B018198C-C8FE-42FF-82C2-7E696013A08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6BB9F988-861A-4E58-9F3D-A2A2F6729632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13A55EA3-7418-4981-9D19-791203DD04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B204C470-54BA-4E33-9BEF-CEFD285461D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0EAA9B-A483-4429-A084-C004FF327F5E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1547A460-D598-4995-8053-88D0299A2C6D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AA6751F-FA2B-4139-8BFC-A38FB18FA72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736A460-523B-42B2-9674-FF7A8E482E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0070EEBB-BCA5-461E-B1AF-20E25F8CEBA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6B461EA-B568-44EF-B2F2-C9A21FE710D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B973A119-04A7-4BA0-996B-E0B71F29842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0B3DB25D-C639-4184-9A32-8B959407B045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4B9FF78-8185-4146-AD7A-1808BDD629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58A540DB-F236-4A01-A0D3-36220C3A3F6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4088D11-A2BC-415F-9419-27815770DB0D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13A760E6-8E4F-45A4-BBF9-C13C839DA31E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8F22826-21ED-4F6C-B125-CFAC7A6FBD08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1017C51-48A8-4125-9C4A-1C09A86FE9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1ACEEF61-F04F-41C0-9858-A835552870E3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0C5EB21-CB0B-4646-A41C-F84B939A4911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DA77FBE4-492F-4865-A6E4-C9DA07B4709E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97C1D8D9-2F1B-48AC-AA4E-30A36C2BCE0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7820738-A459-4F58-917F-E9E462700A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C5F7A91B-6C89-49A3-97BA-097F2B8FBA5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8337539-DA06-4844-A9B1-3ADD6A3F6EA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235E3D8D-9086-47D0-87E8-047D9A0C990D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62E2903-A6A0-4FD0-8FFD-67DA2F83CB1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80300B9-53C3-49CA-8512-CF006AE6F0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2ABFC884-F0FC-40BD-AADE-09660657495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4BDCBA6-2431-4B20-8388-B6957621381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F126AC54-8C75-4434-B325-5EB7BBC26637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168E1E2F-797D-405B-9091-1D8149532EA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045FCA7-3CE9-403A-B372-F1A9734FBD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496C79A3-B002-4E69-8B46-F0D30C012D83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A008E4BF-3F57-4850-A119-EF05094E1020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5C59BB3D-D259-4055-B577-7A5575FE4C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9A4CD72F-CFCD-4232-AAE9-5B290EBA585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91DB4D60-F5EF-4C93-BDC0-EC649E463677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A8E907-A511-499B-898F-20B15CDCDC3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5DE38E0D-5FAD-4073-9631-AF26C1717E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41A322F9-E814-4F34-B628-483A7A8574D8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C33E2F-FD02-4563-B45A-AC6A184E79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7E08F1EE-CB48-44D0-8011-66FF045F03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9E7466CC-3097-48DF-A2A3-38E616B5C1C1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261588DB-B59C-40D7-BF0E-DCD3816ADFB7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B104437-90F6-4FB7-80A4-DFE56B4AB2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12E00DF5-2CF5-4EFE-972C-19A45248F0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7D992550-124A-4F0A-885C-75986C4F582B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BB6DDA2-5F3E-4B37-AF5A-B3790B3BED5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D782297E-FC00-4088-BC1F-2C8727A7676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C62FC3C1-91CA-4CCE-A102-80788771FC1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9D05459D-1881-40F0-813B-2578D31E20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82688DB-7ED7-4551-9EC7-25C3CF79EA1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3EE4DE46-FB6A-4FDE-80DA-F69F4B9791CC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44719A15-AF9C-4C3F-B996-5016AA2B9CC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C34C66A3-97CA-46F7-B36B-A598A1F8AB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845ACA1-E8E4-41B0-B0C9-A57484A1F110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6BC612C3-0960-4D0F-BF27-223E29F1763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E5189489-297B-4286-A1AB-A3E877511B13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8EFB00A-D52A-4001-8F25-0749C6039F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DE20962-145F-4136-A9EE-9D10BC1C8AE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CFB75A44-90A5-46F8-99D7-53EAEBD92FA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5146C329-562D-4FAA-B304-BDB7EC5EE1E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AC38A19-34F9-4EC0-BD5F-0EA1D18EBD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123E7C-B564-413E-9C7F-305CEEFC5C6B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455A95CC-5370-4D8B-8D9E-8C91D4CF96A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537FE76C-5752-4E18-A679-254D07B2A5C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AC4F1E8A-1FF3-4C3B-AE27-9743125D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FE437C7-0F76-413F-81A1-C426514E853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303D0828-9331-4DD1-A733-11CAA6F478B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394B8EDF-CAC2-4ABE-929B-84E2268DE91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50940E0-EE96-46FC-92BE-E33F4024C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8AA9F3B-7230-4C3E-9696-6A2024E026A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2AD38F11-019D-4460-89F5-B9F97706734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1091AA4A-A345-4AFE-802D-842B82A7BF1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B832D51-1A5C-4277-81BC-EDA3771A4E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7C0D5D7-3ADC-4A99-A8AE-0CB4A00CC650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552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F999D24-1E3D-480F-B54B-A0AA3154EBB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45C0D87A-726B-4D63-AAE8-59E0716DC29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E94FF62-445E-46BB-A879-0BA36BA427E7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547751C9-DED0-472C-9B5D-D31BE9319B3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531F954D-443D-4459-A971-7D60FAA430B1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48CAF560-CC48-4851-BBD4-7F6B967A14F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F0DB83E6-1609-4704-99E6-79DC8D0570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0F281D22-A2E9-4BE7-925F-62F996F45A6D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972A594-B5C4-4C43-9174-F05D879908C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7C4293BE-F4D5-4483-92B1-C05D65F903C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40214F00-0385-4594-BAB1-0CDDDC1CCED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7FE791C3-2473-4E6D-94C8-39D610292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77676F7-EF71-43D3-A95D-DE998927B6EF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B596D2A-E610-49D2-9053-673F40829F8B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63E9D930-038D-49D2-BE2F-FDD0159CFFE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3ADCD6D1-5797-4469-BE21-992D68BF8A5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CE485C24-F3AC-45DD-A477-6A9385DBE3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C7B64E-80D7-44DE-A8F4-4A094462D743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7358847-A19D-425B-9879-4CC47743317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B30EF570-FBA8-4ED2-9A13-88A3AAEB350F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0D90BA21-DE48-49C0-867C-029434CFA5C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B910790-1B84-4428-A9B0-612E200345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CA7F1F08-FC9B-448A-929F-269FAE78EB32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BCC303A-C1D8-4F90-8611-217588862A6D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2A82523A-B5C8-42E0-9D88-8C81B09A98CA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665CE31E-67AE-4091-95CE-43CE28B7C52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D818086-4698-4A7D-B7D6-CE97A2566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D5455CC5-2FA0-40C0-987E-028DDA49B8B8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E8A788B-6E20-4323-B213-4502902625F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2C877F5C-EBE5-45EA-A3B7-7BCD059A29D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BB46168-2703-4496-AAD7-6EA3F56C9E05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3CE68EE9-14C9-4018-8FB4-74DF0C0A41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5E00E599-5C3B-4EDB-ACA3-365A29CB8F4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81CDAB8-5AD5-4323-A527-6F6ED33624A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80DA7A7D-D341-4F12-8CD1-273F1296DBF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56B40ED2-F3F1-4A1C-BCCD-3B6CBB2DC51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8A3EE32-E174-4414-BE61-08E1A40FD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B86A2B7C-6E31-4EF0-AFAB-A62CBE51EB8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56E35476-EC3F-4A6D-A2DB-6661E0169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3" name="フッター プレースホルダー 3">
            <a:extLst>
              <a:ext uri="{FF2B5EF4-FFF2-40B4-BE49-F238E27FC236}">
                <a16:creationId xmlns:a16="http://schemas.microsoft.com/office/drawing/2014/main" id="{EEDB3866-BE22-44BA-A8B3-E5A5FE0731F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6580F9DD-3E54-45B0-AC81-566C916738C0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A6FC40-4E9F-4768-A70F-21A58EDD97C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751CC426-9946-46E5-BA4A-C130027C89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BD88D004-757F-4D1F-8B32-57B7D61CAE20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061FDA5-5FD9-448F-BF0F-0BEC916769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366F7C5-43F7-4275-8DF3-47FCAE6809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8A4A1359-5C33-4842-AD8A-BF919C76ECC5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281DB56D-6A7F-43EB-928F-6626651D299E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F0F078-4E63-4197-8630-BACD59F75DD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89646B7D-FB11-4B7B-BEAF-090D2A7831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63A43863-E433-49C3-91BA-82884ECC15CF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2A0E0BC-3425-41D1-A25D-1229DC804B1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9945DE09-1FB3-44DF-8ED9-8D91630DAB8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6D7D8201-A745-4329-838F-8B4C6580BF4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1DCA235-0DC4-4E24-82E5-46FE998757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8BFE317-1B50-496C-AF2B-2C7F185C7AC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12D78409-FCC0-419F-A6E6-CE1346E2CB8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87D52615-A3C5-4B3B-998F-B94FC15AE9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4ACB050-B056-42A4-96E7-55CDDD38735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6FBB2BB-7751-48CF-9723-D234E8C53AA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6C0B0BDF-D675-46D1-8E14-75F183E50B5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9B06756-EB43-40DD-9805-581C1D7A3D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08519E1-C2D8-4843-80BA-86EE8CF2D10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782D048-7B3E-4DA8-8DAB-552AEA1E8D9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191391B2-72B7-467B-8B89-E6BCDE4BEE4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943D8865-5AB5-4FBE-BD8B-3AC84DBA87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913FAF9-F78E-4BDF-BFD7-BDFBF537148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9D1CA62-20E2-471E-8FC6-23A913584FB4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9C4C6191-BD98-4A3A-A554-4C3A14E3C9E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7F8B8CA6-07B2-461E-A0E3-357596CF87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0E858E2-9E79-43A3-962F-D8C84F26EDA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E2DEB69-723C-46FD-B4AB-1CF8D1F2942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C97D81E5-B331-4AEA-BB3C-CCDF844B15FB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C0F8E99-7A23-4923-B066-4C79A4B949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17407B3-B6CF-47A1-AB8D-E886BD4FAB9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BF58B2A-5E02-4225-BCED-114BA72DFB4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E0D03C4F-D7C3-404F-AA15-220287426EA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E823C12-2588-48BE-8417-BBC9E4612A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043A4F9-38B8-497B-BBFE-DE2A9AC29A3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210AECD-F66B-48C1-A78B-DDC71BE09D46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4022F91-472C-4B73-AE22-7F27DE882C27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0DC5603-1074-4108-BA09-43C2470F9DD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16630E6-FBA6-4806-9FC5-3BA199E361E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01CEBAD5-99C7-467A-884C-255B9087B3C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C1A56D2F-1F83-4F13-9314-BF3F676AB4A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DE1D6BF-48B4-4A5E-9A90-5303E39AB3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03784CC3-4C68-42D5-8606-19B8EC1C77E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D2FCA89-B610-4329-9134-2AA006FACD4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B41E1F57-F98C-4953-AF4E-5F7387E2749C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FDC93C10-AC5B-4330-A914-0C7F54411F73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7A396A56-E47E-41EB-82DA-4A7E96AFB35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C359EE1-D6E0-4A06-96B7-E765F6920F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559E2C8-5658-4F5A-A611-F45798183D7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90F31537-3A12-4B19-AF62-C47B372C163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198944E5-5D5D-4DDC-9DB0-087115DDA30C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591A20DA-0367-4BB7-B8B0-BE2B398F6332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EDF53796-7598-41E1-8411-F70FCAFA73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A00D7E3-7A1D-4AAA-A854-9514E9637175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E035AB91-7D5C-4527-96C9-F260945A393A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204B80F-0E52-4ED8-959A-FA3E9353E267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27C6834-CA0A-4249-BF2C-B7734D1130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22788B72-4766-4D27-B719-E50C6AA035A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73F03CB-A2A0-4C49-B489-1E2487E49D4C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B8FFB0AF-35EE-4CA6-B9AC-FB5E54684EF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01CDD310-E604-4AB9-9984-A320A893AA0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C83A5519-C6B3-42B7-87C9-698C7403C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AE5EE319-5661-44C0-8254-D378A0AF2D7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6DCB487-69BE-4A8E-80F1-3AC3602B0ECD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2FFE9F37-6998-48CB-9F7D-A6C53AA287A7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3AB4CB99-B06E-4281-8B59-4D2223E2F1A2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D84A8F1-5758-4124-A261-056DEC0397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FCA04BE7-5A64-4F02-A12B-5DE123ADE02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F7B32AC-FEA5-49AC-97D1-F30D401BF87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2DB3948A-87A5-4CD9-834D-CEE540DC9690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0CEFF76-9631-4F31-A1B0-88EEC3ACB63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311AF99-89D9-490D-89F9-C233DF1F0D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BA45713B-90EE-4ACF-8745-CD00BDEE7573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6A6F1F09-F0E3-47CC-96C1-A294BBE3247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95F2127E-B722-42FE-8A67-705164B02F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52DA92EC-5808-47AD-B9F9-2812D9E822F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A3EA6917-2EFB-4253-823F-EE8088C1E0EB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752466-3D0E-41D5-8BBA-B8480DB742D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3C42402D-22B7-4DBC-9DF6-7A2ED7752D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6FB7FFA6-D742-4116-BBEB-02B5F4C117E5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C45E63-408A-4C62-BA70-790DDA0C9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BFA98987-CE85-44E6-89B9-4B44D39C44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273F02F4-4FE2-4365-87ED-92FCC3FCAAAA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18B47C4A-732B-406F-BF7F-26B133FDAE01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F946E52-1E3C-4E05-A64D-E246657504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6EB5F2E-2004-4C4B-86E7-2AAAF10FA9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DBF97967-0B79-4034-B1A5-B8A796F5880C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7DE5AA2-5459-48D4-A055-45434010F51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BE259FDF-42B1-4266-8EE7-55D67D57F84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E4DFDA3F-8408-474E-8E3C-E9E42A1F4EA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9690E95-7846-4AC2-A70D-744B1942D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6FF4DFC-A585-4592-AF15-3DD6FA8BF2C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108AFBEE-46C8-4FFD-BA0B-6391F3FC9F3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23475132-CF76-4862-859A-B32F9DFFC7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FBC610F-5D26-45C1-BF29-A983E8DE6B8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D8146B1-6A88-401A-8DC7-9EAF94666B9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1551DC8D-680B-4E90-B32F-3A5EBCC3401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2E542700-8CDC-43A0-B6AB-591197E113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932C8C6-DACC-427C-84B8-FA0C6A8D650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F8BCB0D-2F33-4CA7-8DEB-F703286A96C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3E2D1B36-1D6F-41E9-A7E6-79BCB20EB4A1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E4454CE-5D06-478C-96AE-16629917CF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6F78084-F023-4074-AB8E-812166569BE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A6792E0-0E77-4DF9-8CE7-DBC22C274D1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AB91B7B8-CE51-45E6-97B0-A6924F98ED8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F3303DA-D45A-4B08-9637-7C48138CFB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34DF48F-E431-4436-81CB-B33A1C38C93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D6FE6E8-E84F-4CBF-BB3D-5F21160CC00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82B3CE6F-64F7-4470-B827-DFF44D396E4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E6D08994-7206-48A3-8EE1-1EBC5D13F1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0976ED8-0A29-433E-9606-1173BD2C0A5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2A4D199-54A1-476A-8A14-95BE666AEAB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2908F9E5-57C2-4C99-86FB-B4D1142F926B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AA15E83F-2DCF-4148-87B5-9C0EBCD26F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CC60FD7-DC27-4FDF-A26B-9148EBDB72F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56D9101-C642-44C4-A0CB-BBAEBA1A6001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020548A-04CD-4B4F-94E4-D27B3DE0B1FF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3959AC3-A85D-4362-9FDF-9A75F00122E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CE0C353-E2C1-4FF1-AA3D-BBDFA8EACED1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20D46DAA-CE5B-45B6-ACC1-0710068A56C3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C2FDAFD-A3ED-4333-9BCC-2D2C321B8CC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788C98F-60C5-437F-AA6D-AB29E33368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0B4F5917-D910-4841-9DD3-EC9CA8AE5FF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C6306D7-0EA5-4709-850D-3CF73286E14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EFE02765-6105-47D2-9E40-EEDA421AA6FC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62A80C73-6B85-4A00-890E-5871E95A505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F5E274D-6215-4D3B-B7F6-0E4F00EBAF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A84E929B-26BA-4D08-9C61-2F73C1F9C0E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AA7E800-E674-482E-B38D-74AAA8605D1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210400A-4EC0-4ED3-8B11-9D58E8E193C8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3120E8B4-5E7C-41C9-93C2-AEA605A5AED8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5EBF605F-39F0-4FAB-AA5A-933D15D0FA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246E81A8-5C83-41FC-B4EC-C4D2CDE7F7D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6D7D1B5-72D8-4C0E-AA56-065CB9024B57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AE0CC2A5-BE2E-4666-A9C9-EAEF058E0C42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2B750C15-526B-48D8-B353-A8E8FCD6258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902441F-5129-448F-AF87-EE496C6275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DD53BB84-CFFA-4960-BB5A-9AF79AE7646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012600A-6D8E-4858-8A88-5F38CEB6615C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E62B4823-1D95-4A48-AFAD-0D7957A5B525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0BBAB8BC-9B77-4BB5-B8C5-DF8096F5157E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2074A657-D690-417E-B7E6-83865EBFEA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AC878A82-D987-4C6F-921E-C5EDA56A491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A0E8A03-4C5F-4A0E-84CC-4A5C6838B30E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ABC51F9-1321-4335-B9B3-77F3126A2CE1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CAE73DA-8D65-4A0E-AB44-89C2C6F71D2A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E764FC0-1708-486A-9526-9D6DD191BB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B8EC5B2C-19F8-4373-9F22-0354176D228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F6D76D3-D284-464A-86FF-85ABBAA6FB7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8DFA79D0-B903-4831-9987-B82B61159CDA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F14AD355-3B85-4F08-8C2F-CB2286D1359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03ED4979-9806-412A-AE70-F8900313FD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3" name="フッター プレースホルダー 3">
            <a:extLst>
              <a:ext uri="{FF2B5EF4-FFF2-40B4-BE49-F238E27FC236}">
                <a16:creationId xmlns:a16="http://schemas.microsoft.com/office/drawing/2014/main" id="{F668D2C4-451A-4725-BD03-43C590B79DB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975E1650-4ECE-4CE0-9A24-DE4C5828F89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8D25BBCA-9EAF-4BEB-9D20-4DAAF7DEC6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78D9BC86-36D3-404E-A3E7-2975F7894D6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1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1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8.xml"/><Relationship Id="rId3" Type="http://schemas.openxmlformats.org/officeDocument/2006/relationships/slideLayout" Target="../slideLayouts/slideLayout43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slideLayout" Target="../slideLayouts/slideLayout60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slideLayout" Target="../slideLayouts/slideLayout59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73.xml"/><Relationship Id="rId18" Type="http://schemas.openxmlformats.org/officeDocument/2006/relationships/slideLayout" Target="../slideLayouts/slideLayout78.xml"/><Relationship Id="rId3" Type="http://schemas.openxmlformats.org/officeDocument/2006/relationships/slideLayout" Target="../slideLayouts/slideLayout63.xml"/><Relationship Id="rId21" Type="http://schemas.openxmlformats.org/officeDocument/2006/relationships/theme" Target="../theme/theme4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17" Type="http://schemas.openxmlformats.org/officeDocument/2006/relationships/slideLayout" Target="../slideLayouts/slideLayout77.xml"/><Relationship Id="rId2" Type="http://schemas.openxmlformats.org/officeDocument/2006/relationships/slideLayout" Target="../slideLayouts/slideLayout62.xml"/><Relationship Id="rId16" Type="http://schemas.openxmlformats.org/officeDocument/2006/relationships/slideLayout" Target="../slideLayouts/slideLayout76.xml"/><Relationship Id="rId20" Type="http://schemas.openxmlformats.org/officeDocument/2006/relationships/slideLayout" Target="../slideLayouts/slideLayout80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5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9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67DF5AF-003B-4F36-8F16-89DAF8E8F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0BFA9D4-1C81-44A4-8DAE-6E9712D257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A472252-2DE7-4FDB-B36C-78A15CCEA64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028BDA2-C802-4263-BB91-2097A58215CD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F49411-4AFC-4B25-BE74-3EACE4961FC9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D419E07-7879-47C3-B058-48FDCB2DD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64EEC6F-9B61-4904-829E-695A4C63BA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9242E0-6220-49AC-B89B-A8E790A56BF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ECC91C-20D2-4D47-8B8C-84AFAD083E1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3C6658-9BD0-4253-A84D-A477F2598D75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D8785C7-DBF7-4B10-A4A2-586C0BC3A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41FA0EF-ADEE-4356-AA2E-A452BCC85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6166CC4-4E27-4418-AFA1-827B76580B63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264A661-35BC-4ADE-A533-3613C122DCF2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DD596D-DE00-413F-8293-BE417F81E75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  <p:sldLayoutId id="2147483708" r:id="rId18"/>
    <p:sldLayoutId id="2147483709" r:id="rId19"/>
    <p:sldLayoutId id="2147483710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FA9B052-FBD7-4D84-930C-F2D55942B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7A7917-60A8-47F2-B9D9-AD856FCCF5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A267A1-403B-4287-87F8-722C147FEF46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0815AE-A5DC-492B-85FC-94A57C23A425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887261-557E-4027-A4BC-7F93F28E29B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  <p:sldLayoutId id="2147483728" r:id="rId17"/>
    <p:sldLayoutId id="2147483729" r:id="rId18"/>
    <p:sldLayoutId id="2147483730" r:id="rId19"/>
    <p:sldLayoutId id="2147483731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Relationship Id="rId4" Type="http://schemas.openxmlformats.org/officeDocument/2006/relationships/hyperlink" Target="file:///C:\Users\WME20901\Desktop\ZBPLC_Projects\WIN_20260722_13_09_46_Pro.mp4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6EBC3680-493D-4BD9-993E-C8D8F1F497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40000" y="3528000"/>
            <a:ext cx="7332000" cy="1413168"/>
          </a:xfrm>
        </p:spPr>
        <p:txBody>
          <a:bodyPr/>
          <a:lstStyle/>
          <a:p>
            <a:r>
              <a:rPr sz="2600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单传感器双角检测动作改造</a:t>
            </a:r>
            <a:endParaRPr sz="2600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张博｜南京理工大学</a:t>
            </a:r>
            <a:r>
              <a:rPr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控制工程</a:t>
            </a:r>
            <a:endParaRPr sz="15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2026.07.13—2026.08.12</a:t>
            </a:r>
          </a:p>
          <a:p>
            <a:pPr algn="l">
              <a:buNone/>
            </a:pPr>
            <a:r>
              <a:rPr sz="14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无锡村田电子</a:t>
            </a:r>
            <a:r>
              <a:rPr sz="14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· 村田二场｜2026暑期夏令营结业汇报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633AFEB0-1D75-4B99-8558-2FAE7D9FF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把控制知识变成现场动作</a:t>
            </a:r>
          </a:p>
        </p:txBody>
      </p:sp>
      <p:pic>
        <p:nvPicPr>
          <p:cNvPr id="15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0353E20-70AA-4995-96B0-1903B72BD290}"/>
              </a:ext>
            </a:extLst>
          </p:cNvPr>
          <p:cNvSpPr>
            <a:spLocks noGrp="1"/>
          </p:cNvSpPr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9133B5-6B31-487D-B453-1F98B1CEB1F1}"/>
              </a:ext>
            </a:extLst>
          </p:cNvPr>
          <p:cNvSpPr>
            <a:spLocks noGrp="1"/>
          </p:cNvSpPr>
          <p:nvPr/>
        </p:nvSpPr>
        <p:spPr>
          <a:xfrm>
            <a:off x="548640" y="605332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muRata</a:t>
            </a:r>
          </a:p>
          <a:p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Innovator in Electronics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BDFFBB-3603-47DA-A97C-C5A5F8EF1F41}"/>
              </a:ext>
            </a:extLst>
          </p:cNvPr>
          <p:cNvSpPr>
            <a:spLocks noGrp="1"/>
          </p:cNvSpPr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 / 14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5963886-0283-4857-92EF-B1B249E8E097}"/>
              </a:ext>
            </a:extLst>
          </p:cNvPr>
          <p:cNvSpPr txBox="1"/>
          <p:nvPr/>
        </p:nvSpPr>
        <p:spPr>
          <a:xfrm>
            <a:off x="6984365" y="5612765"/>
            <a:ext cx="5085715" cy="3035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2000" b="1" dirty="0">
                <a:solidFill>
                  <a:srgbClr val="F5002F"/>
                </a:solidFill>
                <a:latin typeface="微软雅黑" panose="020B0503020204020204" charset="-122"/>
              </a:rPr>
              <a:t>本报告中部分示意图、效果图由</a:t>
            </a:r>
            <a:r>
              <a:rPr lang="en-US" altLang="zh-CN" sz="2000" b="1" dirty="0">
                <a:solidFill>
                  <a:srgbClr val="F5002F"/>
                </a:solidFill>
                <a:latin typeface="微软雅黑" panose="020B0503020204020204" charset="-122"/>
              </a:rPr>
              <a:t>AI</a:t>
            </a:r>
            <a:r>
              <a:rPr lang="zh-CN" altLang="en-US" sz="2000" b="1" dirty="0">
                <a:solidFill>
                  <a:srgbClr val="F5002F"/>
                </a:solidFill>
                <a:latin typeface="微软雅黑" panose="020B0503020204020204" charset="-122"/>
              </a:rPr>
              <a:t>辅助生成</a:t>
            </a:r>
          </a:p>
        </p:txBody>
      </p:sp>
    </p:spTree>
    <p:extLst>
      <p:ext uri="{BB962C8B-B14F-4D97-AF65-F5344CB8AC3E}">
        <p14:creationId xmlns:p14="http://schemas.microsoft.com/office/powerpoint/2010/main" val="2296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3699EB0-EE50-463E-8C19-A30CB978BDB2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723900" y="5467350"/>
            <a:ext cx="10744200" cy="514350"/>
          </a:xfrm>
        </p:spPr>
        <p:txBody>
          <a:bodyPr>
            <a:normAutofit fontScale="94136" lnSpcReduction="10000"/>
          </a:bodyPr>
          <a:lstStyle/>
          <a:p>
            <a:r>
              <a:rPr sz="135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已完成：低速动作贯通、关键点定位、流程衔接</a:t>
            </a:r>
            <a:r>
              <a:rPr lang="zh-CN" altLang="en-US" sz="135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lang="ja-JP" altLang="en-US" sz="135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连续运行</a:t>
            </a:r>
            <a:endParaRPr sz="135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35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待验证：节拍影响、样本覆盖</a:t>
            </a:r>
            <a:endParaRPr sz="135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9E16F8D1-33F3-4CB8-BAB7-8720901EA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先说结果：30天，我完成了从理解设备到动作贯通的闭环</a:t>
            </a:r>
          </a:p>
        </p:txBody>
      </p:sp>
      <p:sp>
        <p:nvSpPr>
          <p:cNvPr id="4" name="s02-days">
            <a:extLst>
              <a:ext uri="{FF2B5EF4-FFF2-40B4-BE49-F238E27FC236}">
                <a16:creationId xmlns:a16="http://schemas.microsoft.com/office/drawing/2014/main" id="{89E6B26D-26ED-4B44-9492-79DB89ACA7AE}"/>
              </a:ext>
            </a:extLst>
          </p:cNvPr>
          <p:cNvSpPr>
            <a:spLocks noGrp="1"/>
          </p:cNvSpPr>
          <p:nvPr/>
        </p:nvSpPr>
        <p:spPr>
          <a:xfrm>
            <a:off x="762000" y="1162050"/>
            <a:ext cx="171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4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4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30天</a:t>
            </a:r>
          </a:p>
        </p:txBody>
      </p:sp>
      <p:sp>
        <p:nvSpPr>
          <p:cNvPr id="5" name="s02-date">
            <a:extLst>
              <a:ext uri="{FF2B5EF4-FFF2-40B4-BE49-F238E27FC236}">
                <a16:creationId xmlns:a16="http://schemas.microsoft.com/office/drawing/2014/main" id="{D055CD43-BD02-43CC-8DD4-D1B8A630379E}"/>
              </a:ext>
            </a:extLst>
          </p:cNvPr>
          <p:cNvSpPr>
            <a:spLocks noGrp="1"/>
          </p:cNvSpPr>
          <p:nvPr/>
        </p:nvSpPr>
        <p:spPr>
          <a:xfrm>
            <a:off x="800100" y="1952625"/>
            <a:ext cx="180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7.13—8.12</a:t>
            </a:r>
          </a:p>
        </p:txBody>
      </p:sp>
      <p:sp>
        <p:nvSpPr>
          <p:cNvPr id="6" name="s02-flow-line">
            <a:extLst>
              <a:ext uri="{FF2B5EF4-FFF2-40B4-BE49-F238E27FC236}">
                <a16:creationId xmlns:a16="http://schemas.microsoft.com/office/drawing/2014/main" id="{4B206CB7-BE6A-4FF9-B767-2C8934854171}"/>
              </a:ext>
            </a:extLst>
          </p:cNvPr>
          <p:cNvSpPr>
            <a:spLocks noGrp="1"/>
          </p:cNvSpPr>
          <p:nvPr/>
        </p:nvSpPr>
        <p:spPr>
          <a:xfrm>
            <a:off x="2667000" y="272415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02-01-num">
            <a:extLst>
              <a:ext uri="{FF2B5EF4-FFF2-40B4-BE49-F238E27FC236}">
                <a16:creationId xmlns:a16="http://schemas.microsoft.com/office/drawing/2014/main" id="{EA91CBCA-58A5-4C95-9E5E-86B1EFADF509}"/>
              </a:ext>
            </a:extLst>
          </p:cNvPr>
          <p:cNvSpPr>
            <a:spLocks noGrp="1"/>
          </p:cNvSpPr>
          <p:nvPr/>
        </p:nvSpPr>
        <p:spPr>
          <a:xfrm>
            <a:off x="28575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s02-01-title">
            <a:extLst>
              <a:ext uri="{FF2B5EF4-FFF2-40B4-BE49-F238E27FC236}">
                <a16:creationId xmlns:a16="http://schemas.microsoft.com/office/drawing/2014/main" id="{C269618D-D4EC-4953-B872-9A2562DB31FF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理解现场</a:t>
            </a:r>
          </a:p>
        </p:txBody>
      </p:sp>
      <p:sp>
        <p:nvSpPr>
          <p:cNvPr id="9" name="s02-01-detail">
            <a:extLst>
              <a:ext uri="{FF2B5EF4-FFF2-40B4-BE49-F238E27FC236}">
                <a16:creationId xmlns:a16="http://schemas.microsoft.com/office/drawing/2014/main" id="{525C14FC-E108-459E-8B95-EF07109FF68A}"/>
              </a:ext>
            </a:extLst>
          </p:cNvPr>
          <p:cNvSpPr>
            <a:spLocks noGrp="1"/>
          </p:cNvSpPr>
          <p:nvPr/>
        </p:nvSpPr>
        <p:spPr>
          <a:xfrm>
            <a:off x="28575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安全、工艺与设备逻辑</a:t>
            </a:r>
          </a:p>
        </p:txBody>
      </p:sp>
      <p:sp>
        <p:nvSpPr>
          <p:cNvPr id="10" name="s02-02-num">
            <a:extLst>
              <a:ext uri="{FF2B5EF4-FFF2-40B4-BE49-F238E27FC236}">
                <a16:creationId xmlns:a16="http://schemas.microsoft.com/office/drawing/2014/main" id="{4F3C1CC5-33A8-47EE-8D7D-A2C5A4EADF25}"/>
              </a:ext>
            </a:extLst>
          </p:cNvPr>
          <p:cNvSpPr>
            <a:spLocks noGrp="1"/>
          </p:cNvSpPr>
          <p:nvPr/>
        </p:nvSpPr>
        <p:spPr>
          <a:xfrm>
            <a:off x="561975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s02-02-title">
            <a:extLst>
              <a:ext uri="{FF2B5EF4-FFF2-40B4-BE49-F238E27FC236}">
                <a16:creationId xmlns:a16="http://schemas.microsoft.com/office/drawing/2014/main" id="{9D54631F-0173-4820-A476-78A064246038}"/>
              </a:ext>
            </a:extLst>
          </p:cNvPr>
          <p:cNvSpPr>
            <a:spLocks noGrp="1"/>
          </p:cNvSpPr>
          <p:nvPr/>
        </p:nvSpPr>
        <p:spPr>
          <a:xfrm>
            <a:off x="561975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打通控制链</a:t>
            </a:r>
          </a:p>
        </p:txBody>
      </p:sp>
      <p:sp>
        <p:nvSpPr>
          <p:cNvPr id="12" name="s02-02-detail">
            <a:extLst>
              <a:ext uri="{FF2B5EF4-FFF2-40B4-BE49-F238E27FC236}">
                <a16:creationId xmlns:a16="http://schemas.microsoft.com/office/drawing/2014/main" id="{6DF15355-31DC-4FDE-A456-7373A244D8F9}"/>
              </a:ext>
            </a:extLst>
          </p:cNvPr>
          <p:cNvSpPr>
            <a:spLocks noGrp="1"/>
          </p:cNvSpPr>
          <p:nvPr/>
        </p:nvSpPr>
        <p:spPr>
          <a:xfrm>
            <a:off x="561975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传感器—PLC—通信—机器人</a:t>
            </a:r>
          </a:p>
        </p:txBody>
      </p:sp>
      <p:sp>
        <p:nvSpPr>
          <p:cNvPr id="13" name="s02-03-num">
            <a:extLst>
              <a:ext uri="{FF2B5EF4-FFF2-40B4-BE49-F238E27FC236}">
                <a16:creationId xmlns:a16="http://schemas.microsoft.com/office/drawing/2014/main" id="{42FA4FA6-86F7-4B10-BA2B-B521B5E2AA05}"/>
              </a:ext>
            </a:extLst>
          </p:cNvPr>
          <p:cNvSpPr>
            <a:spLocks noGrp="1"/>
          </p:cNvSpPr>
          <p:nvPr/>
        </p:nvSpPr>
        <p:spPr>
          <a:xfrm>
            <a:off x="83820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s02-03-title">
            <a:extLst>
              <a:ext uri="{FF2B5EF4-FFF2-40B4-BE49-F238E27FC236}">
                <a16:creationId xmlns:a16="http://schemas.microsoft.com/office/drawing/2014/main" id="{E83F2C97-5B72-4E73-971D-86BBF84501A3}"/>
              </a:ext>
            </a:extLst>
          </p:cNvPr>
          <p:cNvSpPr>
            <a:spLocks noGrp="1"/>
          </p:cNvSpPr>
          <p:nvPr/>
        </p:nvSpPr>
        <p:spPr>
          <a:xfrm>
            <a:off x="83820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完成动作贯通</a:t>
            </a:r>
          </a:p>
        </p:txBody>
      </p:sp>
      <p:sp>
        <p:nvSpPr>
          <p:cNvPr id="15" name="s02-03-detail">
            <a:extLst>
              <a:ext uri="{FF2B5EF4-FFF2-40B4-BE49-F238E27FC236}">
                <a16:creationId xmlns:a16="http://schemas.microsoft.com/office/drawing/2014/main" id="{1EDFD9C0-3488-4DEF-AF85-7596620B8F4E}"/>
              </a:ext>
            </a:extLst>
          </p:cNvPr>
          <p:cNvSpPr>
            <a:spLocks noGrp="1"/>
          </p:cNvSpPr>
          <p:nvPr/>
        </p:nvSpPr>
        <p:spPr>
          <a:xfrm>
            <a:off x="83820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单传感器双角检测动作序列</a:t>
            </a:r>
          </a:p>
        </p:txBody>
      </p:sp>
      <p:sp>
        <p:nvSpPr>
          <p:cNvPr id="16" name="s02-result-rule">
            <a:extLst>
              <a:ext uri="{FF2B5EF4-FFF2-40B4-BE49-F238E27FC236}">
                <a16:creationId xmlns:a16="http://schemas.microsoft.com/office/drawing/2014/main" id="{BC35C705-3908-4208-8978-97CB240BF498}"/>
              </a:ext>
            </a:extLst>
          </p:cNvPr>
          <p:cNvSpPr>
            <a:spLocks noGrp="1"/>
          </p:cNvSpPr>
          <p:nvPr/>
        </p:nvSpPr>
        <p:spPr>
          <a:xfrm>
            <a:off x="762000" y="4629150"/>
            <a:ext cx="10668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02-result">
            <a:extLst>
              <a:ext uri="{FF2B5EF4-FFF2-40B4-BE49-F238E27FC236}">
                <a16:creationId xmlns:a16="http://schemas.microsoft.com/office/drawing/2014/main" id="{30E73E34-1342-4BF5-BDA1-70750442B062}"/>
              </a:ext>
            </a:extLst>
          </p:cNvPr>
          <p:cNvSpPr>
            <a:spLocks noGrp="1"/>
          </p:cNvSpPr>
          <p:nvPr/>
        </p:nvSpPr>
        <p:spPr>
          <a:xfrm>
            <a:off x="762000" y="4762500"/>
            <a:ext cx="666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1条控制链 · 1个动作单元 · 1条清晰验证边界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421629-E77E-4A1B-B902-33489989916C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8B7737E-70F6-4EBD-9DB0-F887E34C508D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2EA85D-7F89-4F7A-AD34-3C2A59FB022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549984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EDD3489-34C7-4ED1-BDE7-CECD08380462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090535" y="1556792"/>
            <a:ext cx="3333750" cy="257683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企业与安全</a:t>
            </a:r>
          </a:p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产业与技术</a:t>
            </a:r>
          </a:p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团队与交流</a:t>
            </a:r>
          </a:p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成果输出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1B557AA0-9AB8-4B01-BD05-F2E89D3F7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夏令营整体安排｜先建立企业视野</a:t>
            </a:r>
          </a:p>
        </p:txBody>
      </p:sp>
      <p:sp>
        <p:nvSpPr>
          <p:cNvPr id="6" name="s03-tag">
            <a:extLst>
              <a:ext uri="{FF2B5EF4-FFF2-40B4-BE49-F238E27FC236}">
                <a16:creationId xmlns:a16="http://schemas.microsoft.com/office/drawing/2014/main" id="{31AFB780-AE73-4A45-A2AA-F97E8A4C1175}"/>
              </a:ext>
            </a:extLst>
          </p:cNvPr>
          <p:cNvSpPr>
            <a:spLocks noGrp="1"/>
          </p:cNvSpPr>
          <p:nvPr/>
        </p:nvSpPr>
        <p:spPr>
          <a:xfrm>
            <a:off x="7810500" y="1123950"/>
            <a:ext cx="3614092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夏令营｜视野广度</a:t>
            </a:r>
          </a:p>
        </p:txBody>
      </p:sp>
      <p:sp>
        <p:nvSpPr>
          <p:cNvPr id="7" name="s03-dot-1">
            <a:extLst>
              <a:ext uri="{FF2B5EF4-FFF2-40B4-BE49-F238E27FC236}">
                <a16:creationId xmlns:a16="http://schemas.microsoft.com/office/drawing/2014/main" id="{50EC0C05-B123-4C20-9D63-068938B3CDB0}"/>
              </a:ext>
            </a:extLst>
          </p:cNvPr>
          <p:cNvSpPr>
            <a:spLocks noGrp="1"/>
          </p:cNvSpPr>
          <p:nvPr/>
        </p:nvSpPr>
        <p:spPr>
          <a:xfrm>
            <a:off x="7739608" y="1777797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s03-dot-2">
            <a:extLst>
              <a:ext uri="{FF2B5EF4-FFF2-40B4-BE49-F238E27FC236}">
                <a16:creationId xmlns:a16="http://schemas.microsoft.com/office/drawing/2014/main" id="{602B39AA-F5D0-42C6-94D4-6190C8EC0937}"/>
              </a:ext>
            </a:extLst>
          </p:cNvPr>
          <p:cNvSpPr>
            <a:spLocks noGrp="1"/>
          </p:cNvSpPr>
          <p:nvPr/>
        </p:nvSpPr>
        <p:spPr>
          <a:xfrm>
            <a:off x="7739608" y="2480320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s03-dot-3">
            <a:extLst>
              <a:ext uri="{FF2B5EF4-FFF2-40B4-BE49-F238E27FC236}">
                <a16:creationId xmlns:a16="http://schemas.microsoft.com/office/drawing/2014/main" id="{0C9256AB-B583-4E4E-A878-596C4BD69E68}"/>
              </a:ext>
            </a:extLst>
          </p:cNvPr>
          <p:cNvSpPr>
            <a:spLocks noGrp="1"/>
          </p:cNvSpPr>
          <p:nvPr/>
        </p:nvSpPr>
        <p:spPr>
          <a:xfrm>
            <a:off x="7752184" y="3145949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0" name="s03-dot-4">
            <a:extLst>
              <a:ext uri="{FF2B5EF4-FFF2-40B4-BE49-F238E27FC236}">
                <a16:creationId xmlns:a16="http://schemas.microsoft.com/office/drawing/2014/main" id="{A45460B6-A92E-4A77-B038-71C36B09CEEF}"/>
              </a:ext>
            </a:extLst>
          </p:cNvPr>
          <p:cNvSpPr>
            <a:spLocks noGrp="1"/>
          </p:cNvSpPr>
          <p:nvPr/>
        </p:nvSpPr>
        <p:spPr>
          <a:xfrm>
            <a:off x="7752184" y="3794021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1" name="s03-callout-line">
            <a:extLst>
              <a:ext uri="{FF2B5EF4-FFF2-40B4-BE49-F238E27FC236}">
                <a16:creationId xmlns:a16="http://schemas.microsoft.com/office/drawing/2014/main" id="{11656130-9628-4475-8866-00CEA69C76A8}"/>
              </a:ext>
            </a:extLst>
          </p:cNvPr>
          <p:cNvSpPr>
            <a:spLocks noGrp="1"/>
          </p:cNvSpPr>
          <p:nvPr/>
        </p:nvSpPr>
        <p:spPr>
          <a:xfrm>
            <a:off x="7810500" y="4673282"/>
            <a:ext cx="0" cy="9906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03-callout">
            <a:extLst>
              <a:ext uri="{FF2B5EF4-FFF2-40B4-BE49-F238E27FC236}">
                <a16:creationId xmlns:a16="http://schemas.microsoft.com/office/drawing/2014/main" id="{5246712E-8159-440F-A0CD-E0DF6AB93619}"/>
              </a:ext>
            </a:extLst>
          </p:cNvPr>
          <p:cNvSpPr>
            <a:spLocks noGrp="1"/>
          </p:cNvSpPr>
          <p:nvPr/>
        </p:nvSpPr>
        <p:spPr>
          <a:xfrm>
            <a:off x="8039100" y="4610824"/>
            <a:ext cx="3429000" cy="1554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课程让我先理解一家制造企业为什么这样运转，再思考控制工程可以在哪些环节创造价值。</a:t>
            </a:r>
          </a:p>
          <a:p>
            <a:pPr algn="l">
              <a:buNone/>
            </a:pPr>
            <a:r>
              <a:rPr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夏令营以开营讲座、产线参观、跨部门交流等形式，建立对企业整体运转的认知。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579E46-B951-4986-A39B-D267C19E62D0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8CB16F-0405-4DB5-9627-9053FB064391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48FAEF-2324-4667-84B0-A57FBCB17C7A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pic>
        <p:nvPicPr>
          <p:cNvPr id="33" name="图片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390" y="825500"/>
            <a:ext cx="6943090" cy="559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76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6D093A4-FFCB-4AB1-B558-7D583F1BB28C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76300" y="5102696"/>
            <a:ext cx="4476750" cy="990600"/>
          </a:xfrm>
        </p:spPr>
        <p:txBody>
          <a:bodyPr>
            <a:normAutofit/>
          </a:bodyPr>
          <a:lstStyle/>
          <a:p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每一步都为下一步服务：</a:t>
            </a:r>
          </a:p>
          <a:p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先理解设备，才能安全、准确地修改动作。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0111A67-EA45-4B7D-832F-543CA23DA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部门实习计划｜从现场认知走向动作实践</a:t>
            </a:r>
          </a:p>
        </p:txBody>
      </p:sp>
      <p:sp>
        <p:nvSpPr>
          <p:cNvPr id="4" name="s04-stage-line">
            <a:extLst>
              <a:ext uri="{FF2B5EF4-FFF2-40B4-BE49-F238E27FC236}">
                <a16:creationId xmlns:a16="http://schemas.microsoft.com/office/drawing/2014/main" id="{8DFF65D1-F91F-48D1-B633-FF46CD264B66}"/>
              </a:ext>
            </a:extLst>
          </p:cNvPr>
          <p:cNvSpPr>
            <a:spLocks noGrp="1"/>
          </p:cNvSpPr>
          <p:nvPr/>
        </p:nvSpPr>
        <p:spPr>
          <a:xfrm>
            <a:off x="1114425" y="1458094"/>
            <a:ext cx="13023" cy="2769096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04-stage-1">
            <a:extLst>
              <a:ext uri="{FF2B5EF4-FFF2-40B4-BE49-F238E27FC236}">
                <a16:creationId xmlns:a16="http://schemas.microsoft.com/office/drawing/2014/main" id="{AF768CC4-F6B2-4F4F-8C5D-C7E4F5B83D1E}"/>
              </a:ext>
            </a:extLst>
          </p:cNvPr>
          <p:cNvSpPr>
            <a:spLocks noGrp="1"/>
          </p:cNvSpPr>
          <p:nvPr/>
        </p:nvSpPr>
        <p:spPr>
          <a:xfrm>
            <a:off x="904875" y="126876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s04-title-1">
            <a:extLst>
              <a:ext uri="{FF2B5EF4-FFF2-40B4-BE49-F238E27FC236}">
                <a16:creationId xmlns:a16="http://schemas.microsoft.com/office/drawing/2014/main" id="{E0308B80-4C79-40EA-BB39-0E26B12210C1}"/>
              </a:ext>
            </a:extLst>
          </p:cNvPr>
          <p:cNvSpPr>
            <a:spLocks noGrp="1"/>
          </p:cNvSpPr>
          <p:nvPr/>
        </p:nvSpPr>
        <p:spPr>
          <a:xfrm>
            <a:off x="1524000" y="1276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现场认知</a:t>
            </a:r>
          </a:p>
        </p:txBody>
      </p:sp>
      <p:sp>
        <p:nvSpPr>
          <p:cNvPr id="7" name="s04-detail-1">
            <a:extLst>
              <a:ext uri="{FF2B5EF4-FFF2-40B4-BE49-F238E27FC236}">
                <a16:creationId xmlns:a16="http://schemas.microsoft.com/office/drawing/2014/main" id="{C74DE680-390A-4F4F-A4C8-D9E9191C3CC4}"/>
              </a:ext>
            </a:extLst>
          </p:cNvPr>
          <p:cNvSpPr>
            <a:spLocks noGrp="1"/>
          </p:cNvSpPr>
          <p:nvPr/>
        </p:nvSpPr>
        <p:spPr>
          <a:xfrm>
            <a:off x="1524000" y="1581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安全意识｜SUS合理化线｜UV贴膜线</a:t>
            </a:r>
          </a:p>
        </p:txBody>
      </p:sp>
      <p:sp>
        <p:nvSpPr>
          <p:cNvPr id="8" name="s04-stage-2">
            <a:extLst>
              <a:ext uri="{FF2B5EF4-FFF2-40B4-BE49-F238E27FC236}">
                <a16:creationId xmlns:a16="http://schemas.microsoft.com/office/drawing/2014/main" id="{1FD54F8A-CEF5-462E-B5BF-B12C62B8107D}"/>
              </a:ext>
            </a:extLst>
          </p:cNvPr>
          <p:cNvSpPr>
            <a:spLocks noGrp="1"/>
          </p:cNvSpPr>
          <p:nvPr/>
        </p:nvSpPr>
        <p:spPr>
          <a:xfrm>
            <a:off x="904875" y="1982738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s04-title-2">
            <a:extLst>
              <a:ext uri="{FF2B5EF4-FFF2-40B4-BE49-F238E27FC236}">
                <a16:creationId xmlns:a16="http://schemas.microsoft.com/office/drawing/2014/main" id="{28173F88-8279-4CFB-89D6-BDFF0A3FF590}"/>
              </a:ext>
            </a:extLst>
          </p:cNvPr>
          <p:cNvSpPr>
            <a:spLocks noGrp="1"/>
          </p:cNvSpPr>
          <p:nvPr/>
        </p:nvSpPr>
        <p:spPr>
          <a:xfrm>
            <a:off x="1524000" y="19431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PLC与通信</a:t>
            </a:r>
          </a:p>
        </p:txBody>
      </p:sp>
      <p:sp>
        <p:nvSpPr>
          <p:cNvPr id="10" name="s04-detail-2">
            <a:extLst>
              <a:ext uri="{FF2B5EF4-FFF2-40B4-BE49-F238E27FC236}">
                <a16:creationId xmlns:a16="http://schemas.microsoft.com/office/drawing/2014/main" id="{39D06B6B-76C6-4D5B-9301-EA87FBD6DD90}"/>
              </a:ext>
            </a:extLst>
          </p:cNvPr>
          <p:cNvSpPr>
            <a:spLocks noGrp="1"/>
          </p:cNvSpPr>
          <p:nvPr/>
        </p:nvSpPr>
        <p:spPr>
          <a:xfrm>
            <a:off x="1524000" y="22479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梯形图｜I/O映射｜ST｜工业以太网</a:t>
            </a:r>
          </a:p>
        </p:txBody>
      </p:sp>
      <p:sp>
        <p:nvSpPr>
          <p:cNvPr id="11" name="s04-stage-3">
            <a:extLst>
              <a:ext uri="{FF2B5EF4-FFF2-40B4-BE49-F238E27FC236}">
                <a16:creationId xmlns:a16="http://schemas.microsoft.com/office/drawing/2014/main" id="{03AC4263-4ADB-4372-A81A-B86D477EBF60}"/>
              </a:ext>
            </a:extLst>
          </p:cNvPr>
          <p:cNvSpPr>
            <a:spLocks noGrp="1"/>
          </p:cNvSpPr>
          <p:nvPr/>
        </p:nvSpPr>
        <p:spPr>
          <a:xfrm>
            <a:off x="904875" y="263081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s04-title-3">
            <a:extLst>
              <a:ext uri="{FF2B5EF4-FFF2-40B4-BE49-F238E27FC236}">
                <a16:creationId xmlns:a16="http://schemas.microsoft.com/office/drawing/2014/main" id="{F42303EA-610A-4E0B-8E29-3181D7900437}"/>
              </a:ext>
            </a:extLst>
          </p:cNvPr>
          <p:cNvSpPr>
            <a:spLocks noGrp="1"/>
          </p:cNvSpPr>
          <p:nvPr/>
        </p:nvSpPr>
        <p:spPr>
          <a:xfrm>
            <a:off x="1524000" y="26098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机器人</a:t>
            </a:r>
          </a:p>
        </p:txBody>
      </p:sp>
      <p:sp>
        <p:nvSpPr>
          <p:cNvPr id="13" name="s04-detail-3">
            <a:extLst>
              <a:ext uri="{FF2B5EF4-FFF2-40B4-BE49-F238E27FC236}">
                <a16:creationId xmlns:a16="http://schemas.microsoft.com/office/drawing/2014/main" id="{07ACDB5D-33CA-4E84-AC67-BAF6B3FD9B05}"/>
              </a:ext>
            </a:extLst>
          </p:cNvPr>
          <p:cNvSpPr>
            <a:spLocks noGrp="1"/>
          </p:cNvSpPr>
          <p:nvPr/>
        </p:nvSpPr>
        <p:spPr>
          <a:xfrm>
            <a:off x="1524000" y="2927226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示教器｜坐标系｜低速手动操作</a:t>
            </a:r>
          </a:p>
        </p:txBody>
      </p:sp>
      <p:sp>
        <p:nvSpPr>
          <p:cNvPr id="14" name="s04-stage-4">
            <a:extLst>
              <a:ext uri="{FF2B5EF4-FFF2-40B4-BE49-F238E27FC236}">
                <a16:creationId xmlns:a16="http://schemas.microsoft.com/office/drawing/2014/main" id="{B68DBB41-E37D-4086-8DA5-AC0788336B7B}"/>
              </a:ext>
            </a:extLst>
          </p:cNvPr>
          <p:cNvSpPr>
            <a:spLocks noGrp="1"/>
          </p:cNvSpPr>
          <p:nvPr/>
        </p:nvSpPr>
        <p:spPr>
          <a:xfrm>
            <a:off x="904875" y="3278882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5" name="s04-title-4">
            <a:extLst>
              <a:ext uri="{FF2B5EF4-FFF2-40B4-BE49-F238E27FC236}">
                <a16:creationId xmlns:a16="http://schemas.microsoft.com/office/drawing/2014/main" id="{AAE0F51E-36F2-415C-AD7B-77C13B28E9A7}"/>
              </a:ext>
            </a:extLst>
          </p:cNvPr>
          <p:cNvSpPr>
            <a:spLocks noGrp="1"/>
          </p:cNvSpPr>
          <p:nvPr/>
        </p:nvSpPr>
        <p:spPr>
          <a:xfrm>
            <a:off x="1524000" y="32766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实践</a:t>
            </a:r>
          </a:p>
        </p:txBody>
      </p:sp>
      <p:sp>
        <p:nvSpPr>
          <p:cNvPr id="16" name="s04-detail-4">
            <a:extLst>
              <a:ext uri="{FF2B5EF4-FFF2-40B4-BE49-F238E27FC236}">
                <a16:creationId xmlns:a16="http://schemas.microsoft.com/office/drawing/2014/main" id="{A56ADACD-EC63-4420-AC7C-3EADEF431086}"/>
              </a:ext>
            </a:extLst>
          </p:cNvPr>
          <p:cNvSpPr>
            <a:spLocks noGrp="1"/>
          </p:cNvSpPr>
          <p:nvPr/>
        </p:nvSpPr>
        <p:spPr>
          <a:xfrm>
            <a:off x="1524000" y="35814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吸取、检测与动作衔接</a:t>
            </a:r>
          </a:p>
        </p:txBody>
      </p:sp>
      <p:sp>
        <p:nvSpPr>
          <p:cNvPr id="17" name="s04-stage-5">
            <a:extLst>
              <a:ext uri="{FF2B5EF4-FFF2-40B4-BE49-F238E27FC236}">
                <a16:creationId xmlns:a16="http://schemas.microsoft.com/office/drawing/2014/main" id="{27E0F03E-9E2A-4B2D-941A-A1F0E0ECD8F4}"/>
              </a:ext>
            </a:extLst>
          </p:cNvPr>
          <p:cNvSpPr>
            <a:spLocks noGrp="1"/>
          </p:cNvSpPr>
          <p:nvPr/>
        </p:nvSpPr>
        <p:spPr>
          <a:xfrm>
            <a:off x="904875" y="3933056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" name="s04-title-5">
            <a:extLst>
              <a:ext uri="{FF2B5EF4-FFF2-40B4-BE49-F238E27FC236}">
                <a16:creationId xmlns:a16="http://schemas.microsoft.com/office/drawing/2014/main" id="{497F84A0-3C9F-470A-932D-3D5275E3E6EE}"/>
              </a:ext>
            </a:extLst>
          </p:cNvPr>
          <p:cNvSpPr>
            <a:spLocks noGrp="1"/>
          </p:cNvSpPr>
          <p:nvPr/>
        </p:nvSpPr>
        <p:spPr>
          <a:xfrm>
            <a:off x="1524000" y="3943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成果沉淀</a:t>
            </a:r>
          </a:p>
        </p:txBody>
      </p:sp>
      <p:sp>
        <p:nvSpPr>
          <p:cNvPr id="19" name="s04-detail-5">
            <a:extLst>
              <a:ext uri="{FF2B5EF4-FFF2-40B4-BE49-F238E27FC236}">
                <a16:creationId xmlns:a16="http://schemas.microsoft.com/office/drawing/2014/main" id="{C5F21E82-F307-494E-B81C-2D7C5267EAC1}"/>
              </a:ext>
            </a:extLst>
          </p:cNvPr>
          <p:cNvSpPr>
            <a:spLocks noGrp="1"/>
          </p:cNvSpPr>
          <p:nvPr/>
        </p:nvSpPr>
        <p:spPr>
          <a:xfrm>
            <a:off x="1524000" y="4248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资料整理与结业汇报</a:t>
            </a:r>
          </a:p>
        </p:txBody>
      </p:sp>
      <p:sp>
        <p:nvSpPr>
          <p:cNvPr id="20" name="s04-plan-frame">
            <a:extLst>
              <a:ext uri="{FF2B5EF4-FFF2-40B4-BE49-F238E27FC236}">
                <a16:creationId xmlns:a16="http://schemas.microsoft.com/office/drawing/2014/main" id="{39B11C89-990A-406D-B3FC-6EF9CD20D72D}"/>
              </a:ext>
            </a:extLst>
          </p:cNvPr>
          <p:cNvSpPr>
            <a:spLocks noGrp="1"/>
          </p:cNvSpPr>
          <p:nvPr/>
        </p:nvSpPr>
        <p:spPr>
          <a:xfrm>
            <a:off x="5810250" y="1123950"/>
            <a:ext cx="5657850" cy="4533900"/>
          </a:xfrm>
          <a:prstGeom prst="rect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04-image-tag">
            <a:extLst>
              <a:ext uri="{FF2B5EF4-FFF2-40B4-BE49-F238E27FC236}">
                <a16:creationId xmlns:a16="http://schemas.microsoft.com/office/drawing/2014/main" id="{526B017A-C222-4EBF-919D-3053D854270A}"/>
              </a:ext>
            </a:extLst>
          </p:cNvPr>
          <p:cNvSpPr>
            <a:spLocks noGrp="1"/>
          </p:cNvSpPr>
          <p:nvPr/>
        </p:nvSpPr>
        <p:spPr>
          <a:xfrm>
            <a:off x="6191250" y="12573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部门实习计划｜技术深度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3B2A550-1D44-41A7-97F8-C5C0919CF02C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757866A-E21C-4909-9B39-29B887332725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4D12388-F56C-48D1-B158-B0900503EB6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pic>
        <p:nvPicPr>
          <p:cNvPr id="70" name="图片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525" y="765175"/>
            <a:ext cx="6499225" cy="553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382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175" y="191135"/>
            <a:ext cx="9435465" cy="5303520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7371EE46-49B1-4FB1-8EB0-AC7281781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为什么改：单点检测只能提供局部信息</a:t>
            </a:r>
          </a:p>
        </p:txBody>
      </p:sp>
      <p:sp>
        <p:nvSpPr>
          <p:cNvPr id="4" name="s10-label-0">
            <a:extLst>
              <a:ext uri="{FF2B5EF4-FFF2-40B4-BE49-F238E27FC236}">
                <a16:creationId xmlns:a16="http://schemas.microsoft.com/office/drawing/2014/main" id="{9E12DEBA-7E8D-450D-8D4A-3AFE762A550A}"/>
              </a:ext>
            </a:extLst>
          </p:cNvPr>
          <p:cNvSpPr>
            <a:spLocks noGrp="1"/>
          </p:cNvSpPr>
          <p:nvPr/>
        </p:nvSpPr>
        <p:spPr>
          <a:xfrm>
            <a:off x="1273175" y="1123352"/>
            <a:ext cx="1462151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1  贴片完成</a:t>
            </a:r>
          </a:p>
        </p:txBody>
      </p:sp>
      <p:sp>
        <p:nvSpPr>
          <p:cNvPr id="5" name="s10-label-1">
            <a:extLst>
              <a:ext uri="{FF2B5EF4-FFF2-40B4-BE49-F238E27FC236}">
                <a16:creationId xmlns:a16="http://schemas.microsoft.com/office/drawing/2014/main" id="{66733096-43BC-4F2F-8F9A-96CE70173D04}"/>
              </a:ext>
            </a:extLst>
          </p:cNvPr>
          <p:cNvSpPr>
            <a:spLocks noGrp="1"/>
          </p:cNvSpPr>
          <p:nvPr/>
        </p:nvSpPr>
        <p:spPr>
          <a:xfrm>
            <a:off x="3104642" y="1123352"/>
            <a:ext cx="1169034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2  激光测高</a:t>
            </a:r>
          </a:p>
        </p:txBody>
      </p:sp>
      <p:sp>
        <p:nvSpPr>
          <p:cNvPr id="6" name="s10-label-2">
            <a:extLst>
              <a:ext uri="{FF2B5EF4-FFF2-40B4-BE49-F238E27FC236}">
                <a16:creationId xmlns:a16="http://schemas.microsoft.com/office/drawing/2014/main" id="{709EB27B-4E09-4254-8436-A63EC0C1C316}"/>
              </a:ext>
            </a:extLst>
          </p:cNvPr>
          <p:cNvSpPr>
            <a:spLocks noGrp="1"/>
          </p:cNvSpPr>
          <p:nvPr/>
        </p:nvSpPr>
        <p:spPr>
          <a:xfrm>
            <a:off x="4642992" y="1123352"/>
            <a:ext cx="1169036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3  吸嘴取膜</a:t>
            </a:r>
          </a:p>
        </p:txBody>
      </p:sp>
      <p:sp>
        <p:nvSpPr>
          <p:cNvPr id="7" name="s10-label-3">
            <a:extLst>
              <a:ext uri="{FF2B5EF4-FFF2-40B4-BE49-F238E27FC236}">
                <a16:creationId xmlns:a16="http://schemas.microsoft.com/office/drawing/2014/main" id="{7183C157-2261-4579-986C-20A7215C00AD}"/>
              </a:ext>
            </a:extLst>
          </p:cNvPr>
          <p:cNvSpPr>
            <a:spLocks noGrp="1"/>
          </p:cNvSpPr>
          <p:nvPr/>
        </p:nvSpPr>
        <p:spPr>
          <a:xfrm>
            <a:off x="6181344" y="1123352"/>
            <a:ext cx="1097280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4  取膜检测</a:t>
            </a:r>
          </a:p>
        </p:txBody>
      </p:sp>
      <p:sp>
        <p:nvSpPr>
          <p:cNvPr id="8" name="s10-label-4">
            <a:extLst>
              <a:ext uri="{FF2B5EF4-FFF2-40B4-BE49-F238E27FC236}">
                <a16:creationId xmlns:a16="http://schemas.microsoft.com/office/drawing/2014/main" id="{583F1956-63C9-4385-B139-41B8B29F68C7}"/>
              </a:ext>
            </a:extLst>
          </p:cNvPr>
          <p:cNvSpPr>
            <a:spLocks noGrp="1"/>
          </p:cNvSpPr>
          <p:nvPr/>
        </p:nvSpPr>
        <p:spPr>
          <a:xfrm>
            <a:off x="7647940" y="1123352"/>
            <a:ext cx="1240790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5  膜材贴合</a:t>
            </a:r>
          </a:p>
        </p:txBody>
      </p:sp>
      <p:sp>
        <p:nvSpPr>
          <p:cNvPr id="9" name="s10-label-5">
            <a:extLst>
              <a:ext uri="{FF2B5EF4-FFF2-40B4-BE49-F238E27FC236}">
                <a16:creationId xmlns:a16="http://schemas.microsoft.com/office/drawing/2014/main" id="{30D6DC24-B1E5-4D1C-90D5-670FB180315C}"/>
              </a:ext>
            </a:extLst>
          </p:cNvPr>
          <p:cNvSpPr>
            <a:spLocks noGrp="1"/>
          </p:cNvSpPr>
          <p:nvPr/>
        </p:nvSpPr>
        <p:spPr>
          <a:xfrm>
            <a:off x="9258046" y="1123352"/>
            <a:ext cx="1169035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6  进入加压</a:t>
            </a:r>
          </a:p>
        </p:txBody>
      </p:sp>
      <p:sp>
        <p:nvSpPr>
          <p:cNvPr id="11" name="s10-task-line">
            <a:extLst>
              <a:ext uri="{FF2B5EF4-FFF2-40B4-BE49-F238E27FC236}">
                <a16:creationId xmlns:a16="http://schemas.microsoft.com/office/drawing/2014/main" id="{0CF7D829-D339-4AF2-9D3B-56D2D5CEFE99}"/>
              </a:ext>
            </a:extLst>
          </p:cNvPr>
          <p:cNvSpPr>
            <a:spLocks noGrp="1"/>
          </p:cNvSpPr>
          <p:nvPr/>
        </p:nvSpPr>
        <p:spPr>
          <a:xfrm>
            <a:off x="694690" y="4698077"/>
            <a:ext cx="1216" cy="533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10-task-tag">
            <a:extLst>
              <a:ext uri="{FF2B5EF4-FFF2-40B4-BE49-F238E27FC236}">
                <a16:creationId xmlns:a16="http://schemas.microsoft.com/office/drawing/2014/main" id="{080442F6-63EA-42D8-AFD8-3C3863775678}"/>
              </a:ext>
            </a:extLst>
          </p:cNvPr>
          <p:cNvSpPr>
            <a:spLocks noGrp="1"/>
          </p:cNvSpPr>
          <p:nvPr/>
        </p:nvSpPr>
        <p:spPr>
          <a:xfrm>
            <a:off x="777240" y="4650740"/>
            <a:ext cx="106070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改造目标：单点 → 双角检测</a:t>
            </a:r>
          </a:p>
        </p:txBody>
      </p:sp>
      <p:sp>
        <p:nvSpPr>
          <p:cNvPr id="13" name="s10-task">
            <a:extLst>
              <a:ext uri="{FF2B5EF4-FFF2-40B4-BE49-F238E27FC236}">
                <a16:creationId xmlns:a16="http://schemas.microsoft.com/office/drawing/2014/main" id="{B50B25D1-F1FD-450B-8F9F-AA78D9707D58}"/>
              </a:ext>
            </a:extLst>
          </p:cNvPr>
          <p:cNvSpPr>
            <a:spLocks noGrp="1"/>
          </p:cNvSpPr>
          <p:nvPr/>
        </p:nvSpPr>
        <p:spPr>
          <a:xfrm>
            <a:off x="777240" y="4943475"/>
            <a:ext cx="10607040" cy="3448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让膜材两个角依次经过同一固定激光检测点，提高检测覆盖，并保持与原贴膜、加压流程的顺序衔接。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C5845B-BDFD-4361-9BCC-B553778AEC67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AC9299C-B7F4-4B69-8A0E-4B07F1D61CCE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9EB830-9F5A-4690-BE25-E4367982149E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sp>
        <p:nvSpPr>
          <p:cNvPr id="2" name="Rounded Rectangle 25">
            <a:extLst>
              <a:ext uri="{FF2B5EF4-FFF2-40B4-BE49-F238E27FC236}">
                <a16:creationId xmlns:a16="http://schemas.microsoft.com/office/drawing/2014/main" id="{FD27C657-DCA8-4DEC-91C3-C6A6A8A26D3D}"/>
              </a:ext>
            </a:extLst>
          </p:cNvPr>
          <p:cNvSpPr>
            <a:spLocks noGrp="1"/>
          </p:cNvSpPr>
          <p:nvPr/>
        </p:nvSpPr>
        <p:spPr>
          <a:xfrm>
            <a:off x="623570" y="5346700"/>
            <a:ext cx="5111175" cy="955040"/>
          </a:xfrm>
          <a:prstGeom prst="roundRect">
            <a:avLst/>
          </a:prstGeom>
          <a:solidFill>
            <a:srgbClr val="FFE8EC"/>
          </a:solidFill>
          <a:ln w="14288">
            <a:solidFill>
              <a:srgbClr val="F5002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anchor="ctr">
            <a:normAutofit/>
          </a:bodyPr>
          <a:lstStyle/>
          <a:p>
            <a:r>
              <a:rPr sz="1500" b="1" dirty="0" err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问题｜原流程只检测</a:t>
            </a:r>
            <a:r>
              <a:rPr lang="zh-CN" altLang="en-US" sz="1500" b="1" dirty="0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500" b="1" dirty="0" err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500" b="1" dirty="0">
              <a:solidFill>
                <a:srgbClr val="F500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75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静电吸附可能导致多张膜叠附，单角信息无法覆盖另一侧状态</a:t>
            </a:r>
            <a:r>
              <a:rPr sz="1275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372D21D1-EE68-4B69-A118-134406A1A5AB}"/>
              </a:ext>
            </a:extLst>
          </p:cNvPr>
          <p:cNvSpPr>
            <a:spLocks noGrp="1"/>
          </p:cNvSpPr>
          <p:nvPr/>
        </p:nvSpPr>
        <p:spPr>
          <a:xfrm>
            <a:off x="5951983" y="5348605"/>
            <a:ext cx="5556121" cy="944880"/>
          </a:xfrm>
          <a:prstGeom prst="round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anchor="ctr">
            <a:normAutofit/>
          </a:bodyPr>
          <a:lstStyle/>
          <a:p>
            <a:r>
              <a:rPr sz="1500" b="1" dirty="0" err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目标｜同一传感器检测两个角</a:t>
            </a:r>
            <a:endParaRPr sz="1500" b="1" dirty="0">
              <a:solidFill>
                <a:srgbClr val="F500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75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新增左上角检测，提高双角信息覆盖</a:t>
            </a:r>
            <a:r>
              <a:rPr sz="1275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；</a:t>
            </a:r>
            <a:r>
              <a:rPr lang="zh-CN" altLang="en-US" sz="1275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改善生产质量，避免由于静电导致多张模吸附。</a:t>
            </a:r>
            <a:endParaRPr sz="1275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563211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AB4A703B-DA3E-408E-8B91-05C3005D8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怎么改：一个固定检测点，两个角依次经过</a:t>
            </a:r>
          </a:p>
        </p:txBody>
      </p:sp>
      <p:sp>
        <p:nvSpPr>
          <p:cNvPr id="4" name="s11-original-heading">
            <a:extLst>
              <a:ext uri="{FF2B5EF4-FFF2-40B4-BE49-F238E27FC236}">
                <a16:creationId xmlns:a16="http://schemas.microsoft.com/office/drawing/2014/main" id="{46A22ECF-750D-4FBA-8B75-E0ECA849E090}"/>
              </a:ext>
            </a:extLst>
          </p:cNvPr>
          <p:cNvSpPr>
            <a:spLocks noGrp="1"/>
          </p:cNvSpPr>
          <p:nvPr/>
        </p:nvSpPr>
        <p:spPr>
          <a:xfrm>
            <a:off x="87630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原流程｜右上角单点检测</a:t>
            </a:r>
          </a:p>
        </p:txBody>
      </p:sp>
      <p:sp>
        <p:nvSpPr>
          <p:cNvPr id="5" name="s11-target-heading">
            <a:extLst>
              <a:ext uri="{FF2B5EF4-FFF2-40B4-BE49-F238E27FC236}">
                <a16:creationId xmlns:a16="http://schemas.microsoft.com/office/drawing/2014/main" id="{D9951BBD-F1EA-4302-904F-8F180604075D}"/>
              </a:ext>
            </a:extLst>
          </p:cNvPr>
          <p:cNvSpPr>
            <a:spLocks noGrp="1"/>
          </p:cNvSpPr>
          <p:nvPr/>
        </p:nvSpPr>
        <p:spPr>
          <a:xfrm>
            <a:off x="626745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目标流程｜同一传感器双角检测</a:t>
            </a:r>
          </a:p>
        </p:txBody>
      </p:sp>
      <p:sp>
        <p:nvSpPr>
          <p:cNvPr id="6" name="s11-vline">
            <a:extLst>
              <a:ext uri="{FF2B5EF4-FFF2-40B4-BE49-F238E27FC236}">
                <a16:creationId xmlns:a16="http://schemas.microsoft.com/office/drawing/2014/main" id="{EAEABE4F-1B10-450D-8BC2-37733DC7577B}"/>
              </a:ext>
            </a:extLst>
          </p:cNvPr>
          <p:cNvSpPr>
            <a:spLocks noGrp="1"/>
          </p:cNvSpPr>
          <p:nvPr/>
        </p:nvSpPr>
        <p:spPr>
          <a:xfrm>
            <a:off x="5905500" y="880110"/>
            <a:ext cx="9525" cy="30480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11-o-arrow-0">
            <a:extLst>
              <a:ext uri="{FF2B5EF4-FFF2-40B4-BE49-F238E27FC236}">
                <a16:creationId xmlns:a16="http://schemas.microsoft.com/office/drawing/2014/main" id="{9B978002-CBD2-4E77-8E3E-6C251C8A5A99}"/>
              </a:ext>
            </a:extLst>
          </p:cNvPr>
          <p:cNvSpPr>
            <a:spLocks noGrp="1"/>
          </p:cNvSpPr>
          <p:nvPr/>
        </p:nvSpPr>
        <p:spPr>
          <a:xfrm>
            <a:off x="19431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s11-o-arrow-1">
            <a:extLst>
              <a:ext uri="{FF2B5EF4-FFF2-40B4-BE49-F238E27FC236}">
                <a16:creationId xmlns:a16="http://schemas.microsoft.com/office/drawing/2014/main" id="{FE4DC33D-A7F5-4EA5-B1C2-57411F98EB64}"/>
              </a:ext>
            </a:extLst>
          </p:cNvPr>
          <p:cNvSpPr>
            <a:spLocks noGrp="1"/>
          </p:cNvSpPr>
          <p:nvPr/>
        </p:nvSpPr>
        <p:spPr>
          <a:xfrm>
            <a:off x="37719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s11-o-node-0">
            <a:extLst>
              <a:ext uri="{FF2B5EF4-FFF2-40B4-BE49-F238E27FC236}">
                <a16:creationId xmlns:a16="http://schemas.microsoft.com/office/drawing/2014/main" id="{C592A4C8-8AC8-48AB-BC08-136273ED97CC}"/>
              </a:ext>
            </a:extLst>
          </p:cNvPr>
          <p:cNvSpPr>
            <a:spLocks noGrp="1"/>
          </p:cNvSpPr>
          <p:nvPr/>
        </p:nvSpPr>
        <p:spPr>
          <a:xfrm>
            <a:off x="10668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</a:t>
            </a:r>
          </a:p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原点</a:t>
            </a:r>
          </a:p>
        </p:txBody>
      </p:sp>
      <p:sp>
        <p:nvSpPr>
          <p:cNvPr id="10" name="s11-o-node-1">
            <a:extLst>
              <a:ext uri="{FF2B5EF4-FFF2-40B4-BE49-F238E27FC236}">
                <a16:creationId xmlns:a16="http://schemas.microsoft.com/office/drawing/2014/main" id="{12899EB3-0DA1-4746-B43C-27508882E3ED}"/>
              </a:ext>
            </a:extLst>
          </p:cNvPr>
          <p:cNvSpPr>
            <a:spLocks noGrp="1"/>
          </p:cNvSpPr>
          <p:nvPr/>
        </p:nvSpPr>
        <p:spPr>
          <a:xfrm>
            <a:off x="28956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右上角</a:t>
            </a:r>
          </a:p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单点</a:t>
            </a:r>
          </a:p>
        </p:txBody>
      </p:sp>
      <p:sp>
        <p:nvSpPr>
          <p:cNvPr id="11" name="s11-o-node-2">
            <a:extLst>
              <a:ext uri="{FF2B5EF4-FFF2-40B4-BE49-F238E27FC236}">
                <a16:creationId xmlns:a16="http://schemas.microsoft.com/office/drawing/2014/main" id="{7C45E4CD-605B-48B1-9455-F3707608CE09}"/>
              </a:ext>
            </a:extLst>
          </p:cNvPr>
          <p:cNvSpPr>
            <a:spLocks noGrp="1"/>
          </p:cNvSpPr>
          <p:nvPr/>
        </p:nvSpPr>
        <p:spPr>
          <a:xfrm>
            <a:off x="47244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后续</a:t>
            </a:r>
          </a:p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2" name="s11-t-arrow-0">
            <a:extLst>
              <a:ext uri="{FF2B5EF4-FFF2-40B4-BE49-F238E27FC236}">
                <a16:creationId xmlns:a16="http://schemas.microsoft.com/office/drawing/2014/main" id="{5682C040-1675-45AB-BC1C-560C1A4D6FCF}"/>
              </a:ext>
            </a:extLst>
          </p:cNvPr>
          <p:cNvSpPr>
            <a:spLocks noGrp="1"/>
          </p:cNvSpPr>
          <p:nvPr/>
        </p:nvSpPr>
        <p:spPr>
          <a:xfrm>
            <a:off x="69532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s11-t-arrow-1">
            <a:extLst>
              <a:ext uri="{FF2B5EF4-FFF2-40B4-BE49-F238E27FC236}">
                <a16:creationId xmlns:a16="http://schemas.microsoft.com/office/drawing/2014/main" id="{3EC57614-B0DF-4C99-B1E9-D657E5B336D4}"/>
              </a:ext>
            </a:extLst>
          </p:cNvPr>
          <p:cNvSpPr>
            <a:spLocks noGrp="1"/>
          </p:cNvSpPr>
          <p:nvPr/>
        </p:nvSpPr>
        <p:spPr>
          <a:xfrm>
            <a:off x="79819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s11-t-arrow-2">
            <a:extLst>
              <a:ext uri="{FF2B5EF4-FFF2-40B4-BE49-F238E27FC236}">
                <a16:creationId xmlns:a16="http://schemas.microsoft.com/office/drawing/2014/main" id="{3FFEA0E6-9439-40D8-BC11-24C99AB6F97F}"/>
              </a:ext>
            </a:extLst>
          </p:cNvPr>
          <p:cNvSpPr>
            <a:spLocks noGrp="1"/>
          </p:cNvSpPr>
          <p:nvPr/>
        </p:nvSpPr>
        <p:spPr>
          <a:xfrm>
            <a:off x="90106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s11-t-arrow-3">
            <a:extLst>
              <a:ext uri="{FF2B5EF4-FFF2-40B4-BE49-F238E27FC236}">
                <a16:creationId xmlns:a16="http://schemas.microsoft.com/office/drawing/2014/main" id="{5057A4D7-AF02-4105-9F85-BA0C0C57CC3A}"/>
              </a:ext>
            </a:extLst>
          </p:cNvPr>
          <p:cNvSpPr>
            <a:spLocks noGrp="1"/>
          </p:cNvSpPr>
          <p:nvPr/>
        </p:nvSpPr>
        <p:spPr>
          <a:xfrm>
            <a:off x="100393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s11-t-node-0">
            <a:extLst>
              <a:ext uri="{FF2B5EF4-FFF2-40B4-BE49-F238E27FC236}">
                <a16:creationId xmlns:a16="http://schemas.microsoft.com/office/drawing/2014/main" id="{F4000FA2-4499-47C7-9072-7AC0A18985B1}"/>
              </a:ext>
            </a:extLst>
          </p:cNvPr>
          <p:cNvSpPr>
            <a:spLocks noGrp="1"/>
          </p:cNvSpPr>
          <p:nvPr/>
        </p:nvSpPr>
        <p:spPr>
          <a:xfrm>
            <a:off x="63055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</a:t>
            </a:r>
          </a:p>
        </p:txBody>
      </p:sp>
      <p:sp>
        <p:nvSpPr>
          <p:cNvPr id="17" name="s11-t-node-1">
            <a:extLst>
              <a:ext uri="{FF2B5EF4-FFF2-40B4-BE49-F238E27FC236}">
                <a16:creationId xmlns:a16="http://schemas.microsoft.com/office/drawing/2014/main" id="{A11C2054-8E84-4987-AC44-D159AAC84902}"/>
              </a:ext>
            </a:extLst>
          </p:cNvPr>
          <p:cNvSpPr>
            <a:spLocks noGrp="1"/>
          </p:cNvSpPr>
          <p:nvPr/>
        </p:nvSpPr>
        <p:spPr>
          <a:xfrm>
            <a:off x="73342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P1</a:t>
            </a:r>
          </a:p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altLang="en-US" sz="1275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75" b="1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275" b="1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s11-t-node-2">
            <a:extLst>
              <a:ext uri="{FF2B5EF4-FFF2-40B4-BE49-F238E27FC236}">
                <a16:creationId xmlns:a16="http://schemas.microsoft.com/office/drawing/2014/main" id="{2E3A1B86-2F1B-415B-ADCA-CF660FADFF49}"/>
              </a:ext>
            </a:extLst>
          </p:cNvPr>
          <p:cNvSpPr>
            <a:spLocks noGrp="1"/>
          </p:cNvSpPr>
          <p:nvPr/>
        </p:nvSpPr>
        <p:spPr>
          <a:xfrm>
            <a:off x="83629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</a:t>
            </a:r>
          </a:p>
        </p:txBody>
      </p:sp>
      <p:sp>
        <p:nvSpPr>
          <p:cNvPr id="19" name="s11-t-node-3">
            <a:extLst>
              <a:ext uri="{FF2B5EF4-FFF2-40B4-BE49-F238E27FC236}">
                <a16:creationId xmlns:a16="http://schemas.microsoft.com/office/drawing/2014/main" id="{26E11EDB-7B3F-4D94-ADAE-ECD79284658C}"/>
              </a:ext>
            </a:extLst>
          </p:cNvPr>
          <p:cNvSpPr>
            <a:spLocks noGrp="1"/>
          </p:cNvSpPr>
          <p:nvPr/>
        </p:nvSpPr>
        <p:spPr>
          <a:xfrm>
            <a:off x="93916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P2</a:t>
            </a:r>
          </a:p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altLang="en-US" sz="1275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右</a:t>
            </a:r>
            <a:r>
              <a:rPr sz="1275" b="1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275" b="1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s11-t-node-4">
            <a:extLst>
              <a:ext uri="{FF2B5EF4-FFF2-40B4-BE49-F238E27FC236}">
                <a16:creationId xmlns:a16="http://schemas.microsoft.com/office/drawing/2014/main" id="{29075DAE-DBDD-4041-9EB4-97F0DBA7A693}"/>
              </a:ext>
            </a:extLst>
          </p:cNvPr>
          <p:cNvSpPr>
            <a:spLocks noGrp="1"/>
          </p:cNvSpPr>
          <p:nvPr/>
        </p:nvSpPr>
        <p:spPr>
          <a:xfrm>
            <a:off x="104203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后续</a:t>
            </a:r>
          </a:p>
        </p:txBody>
      </p:sp>
      <p:sp>
        <p:nvSpPr>
          <p:cNvPr id="21" name="s11-target-detail">
            <a:extLst>
              <a:ext uri="{FF2B5EF4-FFF2-40B4-BE49-F238E27FC236}">
                <a16:creationId xmlns:a16="http://schemas.microsoft.com/office/drawing/2014/main" id="{08F5FF9D-F471-4FA1-A78F-8801E44DEF9B}"/>
              </a:ext>
            </a:extLst>
          </p:cNvPr>
          <p:cNvSpPr>
            <a:spLocks noGrp="1"/>
          </p:cNvSpPr>
          <p:nvPr/>
        </p:nvSpPr>
        <p:spPr>
          <a:xfrm>
            <a:off x="6324600" y="3143250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 → P1</a:t>
            </a:r>
            <a:r>
              <a:rPr lang="zh-CN" altLang="en-US" sz="150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上角</a:t>
            </a:r>
            <a:r>
              <a:rPr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→ P0 → P2</a:t>
            </a:r>
            <a:r>
              <a:rPr lang="zh-CN" altLang="en-US" sz="150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右</a:t>
            </a:r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5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s11-bottom-line">
            <a:extLst>
              <a:ext uri="{FF2B5EF4-FFF2-40B4-BE49-F238E27FC236}">
                <a16:creationId xmlns:a16="http://schemas.microsoft.com/office/drawing/2014/main" id="{C5F9C7CB-685F-4FA6-89C5-B617BAAA6D38}"/>
              </a:ext>
            </a:extLst>
          </p:cNvPr>
          <p:cNvSpPr>
            <a:spLocks noGrp="1"/>
          </p:cNvSpPr>
          <p:nvPr/>
        </p:nvSpPr>
        <p:spPr>
          <a:xfrm>
            <a:off x="876300" y="39433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11-bottom-heading">
            <a:extLst>
              <a:ext uri="{FF2B5EF4-FFF2-40B4-BE49-F238E27FC236}">
                <a16:creationId xmlns:a16="http://schemas.microsoft.com/office/drawing/2014/main" id="{736EC8CB-AEF7-4E1E-8D11-4A53B34F2DB2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666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改造核心不是增加传感器，而是让膜材经过同一检测点</a:t>
            </a:r>
          </a:p>
        </p:txBody>
      </p:sp>
      <p:sp>
        <p:nvSpPr>
          <p:cNvPr id="24" name="s11-impact-title-0">
            <a:extLst>
              <a:ext uri="{FF2B5EF4-FFF2-40B4-BE49-F238E27FC236}">
                <a16:creationId xmlns:a16="http://schemas.microsoft.com/office/drawing/2014/main" id="{7F7A8607-C58B-4812-A67E-29FEA94B1467}"/>
              </a:ext>
            </a:extLst>
          </p:cNvPr>
          <p:cNvSpPr>
            <a:spLocks noGrp="1"/>
          </p:cNvSpPr>
          <p:nvPr/>
        </p:nvSpPr>
        <p:spPr>
          <a:xfrm>
            <a:off x="89535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检测覆盖</a:t>
            </a:r>
          </a:p>
        </p:txBody>
      </p:sp>
      <p:sp>
        <p:nvSpPr>
          <p:cNvPr id="25" name="s11-impact-detail-0">
            <a:extLst>
              <a:ext uri="{FF2B5EF4-FFF2-40B4-BE49-F238E27FC236}">
                <a16:creationId xmlns:a16="http://schemas.microsoft.com/office/drawing/2014/main" id="{F0E72F52-CAF9-4D81-B4F9-3D78161987C2}"/>
              </a:ext>
            </a:extLst>
          </p:cNvPr>
          <p:cNvSpPr>
            <a:spLocks noGrp="1"/>
          </p:cNvSpPr>
          <p:nvPr/>
        </p:nvSpPr>
        <p:spPr>
          <a:xfrm>
            <a:off x="89535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由单角信息扩展为双角信息</a:t>
            </a:r>
          </a:p>
        </p:txBody>
      </p:sp>
      <p:sp>
        <p:nvSpPr>
          <p:cNvPr id="26" name="s11-impact-divider-1">
            <a:extLst>
              <a:ext uri="{FF2B5EF4-FFF2-40B4-BE49-F238E27FC236}">
                <a16:creationId xmlns:a16="http://schemas.microsoft.com/office/drawing/2014/main" id="{B89E1C20-68D5-4206-9A13-6309554EF351}"/>
              </a:ext>
            </a:extLst>
          </p:cNvPr>
          <p:cNvSpPr>
            <a:spLocks noGrp="1"/>
          </p:cNvSpPr>
          <p:nvPr/>
        </p:nvSpPr>
        <p:spPr>
          <a:xfrm>
            <a:off x="4124326" y="4705350"/>
            <a:ext cx="0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11-impact-title-1">
            <a:extLst>
              <a:ext uri="{FF2B5EF4-FFF2-40B4-BE49-F238E27FC236}">
                <a16:creationId xmlns:a16="http://schemas.microsoft.com/office/drawing/2014/main" id="{E1FE044B-AA37-40D2-8BB3-E2A2F9AD7465}"/>
              </a:ext>
            </a:extLst>
          </p:cNvPr>
          <p:cNvSpPr>
            <a:spLocks noGrp="1"/>
          </p:cNvSpPr>
          <p:nvPr/>
        </p:nvSpPr>
        <p:spPr>
          <a:xfrm>
            <a:off x="4371975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路径复现</a:t>
            </a:r>
          </a:p>
        </p:txBody>
      </p:sp>
      <p:sp>
        <p:nvSpPr>
          <p:cNvPr id="28" name="s11-impact-detail-1">
            <a:extLst>
              <a:ext uri="{FF2B5EF4-FFF2-40B4-BE49-F238E27FC236}">
                <a16:creationId xmlns:a16="http://schemas.microsoft.com/office/drawing/2014/main" id="{4F613B28-E910-4F1B-9A49-57EFDCDB7323}"/>
              </a:ext>
            </a:extLst>
          </p:cNvPr>
          <p:cNvSpPr>
            <a:spLocks noGrp="1"/>
          </p:cNvSpPr>
          <p:nvPr/>
        </p:nvSpPr>
        <p:spPr>
          <a:xfrm>
            <a:off x="4371975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以P0作为统一中间位置</a:t>
            </a:r>
          </a:p>
        </p:txBody>
      </p:sp>
      <p:sp>
        <p:nvSpPr>
          <p:cNvPr id="29" name="s11-impact-divider-2">
            <a:extLst>
              <a:ext uri="{FF2B5EF4-FFF2-40B4-BE49-F238E27FC236}">
                <a16:creationId xmlns:a16="http://schemas.microsoft.com/office/drawing/2014/main" id="{C6B53014-7898-4BB6-B8A2-243A1378BA86}"/>
              </a:ext>
            </a:extLst>
          </p:cNvPr>
          <p:cNvSpPr>
            <a:spLocks noGrp="1"/>
          </p:cNvSpPr>
          <p:nvPr/>
        </p:nvSpPr>
        <p:spPr>
          <a:xfrm>
            <a:off x="7600950" y="4705350"/>
            <a:ext cx="1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11-impact-title-2">
            <a:extLst>
              <a:ext uri="{FF2B5EF4-FFF2-40B4-BE49-F238E27FC236}">
                <a16:creationId xmlns:a16="http://schemas.microsoft.com/office/drawing/2014/main" id="{D79F77A2-2819-4E6C-8D39-583CD7630A0E}"/>
              </a:ext>
            </a:extLst>
          </p:cNvPr>
          <p:cNvSpPr>
            <a:spLocks noGrp="1"/>
          </p:cNvSpPr>
          <p:nvPr/>
        </p:nvSpPr>
        <p:spPr>
          <a:xfrm>
            <a:off x="784860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流程衔接</a:t>
            </a:r>
          </a:p>
        </p:txBody>
      </p:sp>
      <p:sp>
        <p:nvSpPr>
          <p:cNvPr id="31" name="s11-impact-detail-2">
            <a:extLst>
              <a:ext uri="{FF2B5EF4-FFF2-40B4-BE49-F238E27FC236}">
                <a16:creationId xmlns:a16="http://schemas.microsoft.com/office/drawing/2014/main" id="{A377C7DF-67FE-4F11-A1AE-026AEAA8F4C4}"/>
              </a:ext>
            </a:extLst>
          </p:cNvPr>
          <p:cNvSpPr>
            <a:spLocks noGrp="1"/>
          </p:cNvSpPr>
          <p:nvPr/>
        </p:nvSpPr>
        <p:spPr>
          <a:xfrm>
            <a:off x="784860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复用原后续贴膜与加压流程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C50B82D-D08A-4572-9C6A-0FBDE5656C6A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A90827C-B22A-4906-915F-E82114C00C73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FE74AA-7481-46FB-9DA7-6124333B6BD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105623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970" y="916305"/>
            <a:ext cx="8143875" cy="4583430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275B0905-1A79-4BE0-8FDD-791C872B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关键动作：传感器不动，膜材依次经过同一检测点</a:t>
            </a:r>
          </a:p>
        </p:txBody>
      </p:sp>
      <p:sp>
        <p:nvSpPr>
          <p:cNvPr id="8" name="s12-bottom-rule">
            <a:extLst>
              <a:ext uri="{FF2B5EF4-FFF2-40B4-BE49-F238E27FC236}">
                <a16:creationId xmlns:a16="http://schemas.microsoft.com/office/drawing/2014/main" id="{2887D4B9-9E99-4626-94BB-932333B2338C}"/>
              </a:ext>
            </a:extLst>
          </p:cNvPr>
          <p:cNvSpPr>
            <a:spLocks noGrp="1"/>
          </p:cNvSpPr>
          <p:nvPr/>
        </p:nvSpPr>
        <p:spPr>
          <a:xfrm>
            <a:off x="876300" y="55816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12-bottom">
            <a:extLst>
              <a:ext uri="{FF2B5EF4-FFF2-40B4-BE49-F238E27FC236}">
                <a16:creationId xmlns:a16="http://schemas.microsoft.com/office/drawing/2014/main" id="{A03B2C73-B216-4366-AEC7-58D81DF04DD3}"/>
              </a:ext>
            </a:extLst>
          </p:cNvPr>
          <p:cNvSpPr>
            <a:spLocks noGrp="1"/>
          </p:cNvSpPr>
          <p:nvPr/>
        </p:nvSpPr>
        <p:spPr>
          <a:xfrm>
            <a:off x="876300" y="5695950"/>
            <a:ext cx="1028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6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P0是统一中间位置；同一传感器完成两个角点检测。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E39C01-523E-462B-A0AA-9025C7BEC59A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90A97D-4CB1-4711-97F9-344CA7D69AF7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EDB21B-C73D-4081-88BE-E413CFF328DE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sp>
        <p:nvSpPr>
          <p:cNvPr id="14" name="Rounded Rectangle 13">
            <a:hlinkClick r:id="rId4" action="ppaction://hlinkfile"/>
            <a:extLst>
              <a:ext uri="{FF2B5EF4-FFF2-40B4-BE49-F238E27FC236}">
                <a16:creationId xmlns:a16="http://schemas.microsoft.com/office/drawing/2014/main" id="{9FFC53D6-4408-465A-B6D7-50A8AF201A19}"/>
              </a:ext>
            </a:extLst>
          </p:cNvPr>
          <p:cNvSpPr>
            <a:spLocks noGrp="1"/>
          </p:cNvSpPr>
          <p:nvPr/>
        </p:nvSpPr>
        <p:spPr>
          <a:xfrm>
            <a:off x="9646920" y="1051560"/>
            <a:ext cx="2331720" cy="1051560"/>
          </a:xfrm>
          <a:prstGeom prst="roundRect">
            <a:avLst/>
          </a:prstGeom>
          <a:solidFill>
            <a:srgbClr val="FFE3E8"/>
          </a:solidFill>
          <a:ln w="15875">
            <a:solidFill>
              <a:srgbClr val="F50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anchor="ctr">
            <a:normAutofit/>
          </a:bodyPr>
          <a:lstStyle/>
          <a:p>
            <a:pPr algn="ctr">
              <a:buNone/>
            </a:pPr>
            <a:r>
              <a:rPr sz="12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▶ 现场动作视频</a:t>
            </a:r>
          </a:p>
          <a:p>
            <a:pPr algn="ctr">
              <a:buNone/>
            </a:pPr>
            <a:r>
              <a:rPr sz="12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单传感器双角检测</a:t>
            </a:r>
          </a:p>
          <a:p>
            <a:pPr algn="ctr">
              <a:buNone/>
            </a:pPr>
            <a:r>
              <a:rPr sz="12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低速动作演示</a:t>
            </a:r>
          </a:p>
        </p:txBody>
      </p:sp>
    </p:spTree>
    <p:extLst>
      <p:ext uri="{BB962C8B-B14F-4D97-AF65-F5344CB8AC3E}">
        <p14:creationId xmlns:p14="http://schemas.microsoft.com/office/powerpoint/2010/main" val="2019207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863390EB-1789-443B-97FC-C42000425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工程边界：先确认安全、位置与顺序，再谈速度</a:t>
            </a:r>
          </a:p>
        </p:txBody>
      </p:sp>
      <p:sp>
        <p:nvSpPr>
          <p:cNvPr id="4" name="s13-timeline">
            <a:extLst>
              <a:ext uri="{FF2B5EF4-FFF2-40B4-BE49-F238E27FC236}">
                <a16:creationId xmlns:a16="http://schemas.microsoft.com/office/drawing/2014/main" id="{83158873-FFC5-413B-92E5-7D7DFFDA91C2}"/>
              </a:ext>
            </a:extLst>
          </p:cNvPr>
          <p:cNvSpPr>
            <a:spLocks noGrp="1"/>
          </p:cNvSpPr>
          <p:nvPr/>
        </p:nvSpPr>
        <p:spPr>
          <a:xfrm>
            <a:off x="1257300" y="1371600"/>
            <a:ext cx="9525" cy="3486150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13-step-0">
            <a:extLst>
              <a:ext uri="{FF2B5EF4-FFF2-40B4-BE49-F238E27FC236}">
                <a16:creationId xmlns:a16="http://schemas.microsoft.com/office/drawing/2014/main" id="{85B8430F-409D-45CE-A99A-D08DB2E4D9F8}"/>
              </a:ext>
            </a:extLst>
          </p:cNvPr>
          <p:cNvSpPr>
            <a:spLocks noGrp="1"/>
          </p:cNvSpPr>
          <p:nvPr/>
        </p:nvSpPr>
        <p:spPr>
          <a:xfrm>
            <a:off x="1047750" y="12001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s13-title-0">
            <a:extLst>
              <a:ext uri="{FF2B5EF4-FFF2-40B4-BE49-F238E27FC236}">
                <a16:creationId xmlns:a16="http://schemas.microsoft.com/office/drawing/2014/main" id="{E1BF1FFE-9642-4966-BF99-562483350F51}"/>
              </a:ext>
            </a:extLst>
          </p:cNvPr>
          <p:cNvSpPr>
            <a:spLocks noGrp="1"/>
          </p:cNvSpPr>
          <p:nvPr/>
        </p:nvSpPr>
        <p:spPr>
          <a:xfrm>
            <a:off x="1714500" y="11811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明确P0 / P1 / P2</a:t>
            </a:r>
          </a:p>
        </p:txBody>
      </p:sp>
      <p:sp>
        <p:nvSpPr>
          <p:cNvPr id="7" name="s13-detail-0">
            <a:extLst>
              <a:ext uri="{FF2B5EF4-FFF2-40B4-BE49-F238E27FC236}">
                <a16:creationId xmlns:a16="http://schemas.microsoft.com/office/drawing/2014/main" id="{286EB0DE-3742-4AD1-82A4-CA57A294C6B2}"/>
              </a:ext>
            </a:extLst>
          </p:cNvPr>
          <p:cNvSpPr>
            <a:spLocks noGrp="1"/>
          </p:cNvSpPr>
          <p:nvPr/>
        </p:nvSpPr>
        <p:spPr>
          <a:xfrm>
            <a:off x="1714500" y="15240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先定义统一原点与两个检测位置</a:t>
            </a:r>
          </a:p>
        </p:txBody>
      </p:sp>
      <p:sp>
        <p:nvSpPr>
          <p:cNvPr id="8" name="s13-step-1">
            <a:extLst>
              <a:ext uri="{FF2B5EF4-FFF2-40B4-BE49-F238E27FC236}">
                <a16:creationId xmlns:a16="http://schemas.microsoft.com/office/drawing/2014/main" id="{9B42B709-FD2A-484E-853A-79203473AAB5}"/>
              </a:ext>
            </a:extLst>
          </p:cNvPr>
          <p:cNvSpPr>
            <a:spLocks noGrp="1"/>
          </p:cNvSpPr>
          <p:nvPr/>
        </p:nvSpPr>
        <p:spPr>
          <a:xfrm>
            <a:off x="1047750" y="20383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s13-title-1">
            <a:extLst>
              <a:ext uri="{FF2B5EF4-FFF2-40B4-BE49-F238E27FC236}">
                <a16:creationId xmlns:a16="http://schemas.microsoft.com/office/drawing/2014/main" id="{8E62BF3D-7140-4A5C-965B-E413CF2EED44}"/>
              </a:ext>
            </a:extLst>
          </p:cNvPr>
          <p:cNvSpPr>
            <a:spLocks noGrp="1"/>
          </p:cNvSpPr>
          <p:nvPr/>
        </p:nvSpPr>
        <p:spPr>
          <a:xfrm>
            <a:off x="1714500" y="20193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低速确认XYZ与姿态</a:t>
            </a:r>
          </a:p>
        </p:txBody>
      </p:sp>
      <p:sp>
        <p:nvSpPr>
          <p:cNvPr id="10" name="s13-detail-1">
            <a:extLst>
              <a:ext uri="{FF2B5EF4-FFF2-40B4-BE49-F238E27FC236}">
                <a16:creationId xmlns:a16="http://schemas.microsoft.com/office/drawing/2014/main" id="{299C76EF-237C-428D-9369-141A2865129D}"/>
              </a:ext>
            </a:extLst>
          </p:cNvPr>
          <p:cNvSpPr>
            <a:spLocks noGrp="1"/>
          </p:cNvSpPr>
          <p:nvPr/>
        </p:nvSpPr>
        <p:spPr>
          <a:xfrm>
            <a:off x="1714500" y="23622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使用示教器检查移动方向</a:t>
            </a:r>
          </a:p>
        </p:txBody>
      </p:sp>
      <p:sp>
        <p:nvSpPr>
          <p:cNvPr id="11" name="s13-step-2">
            <a:extLst>
              <a:ext uri="{FF2B5EF4-FFF2-40B4-BE49-F238E27FC236}">
                <a16:creationId xmlns:a16="http://schemas.microsoft.com/office/drawing/2014/main" id="{8A4BC691-4C3F-49A5-B56F-CE6CBB7C0423}"/>
              </a:ext>
            </a:extLst>
          </p:cNvPr>
          <p:cNvSpPr>
            <a:spLocks noGrp="1"/>
          </p:cNvSpPr>
          <p:nvPr/>
        </p:nvSpPr>
        <p:spPr>
          <a:xfrm>
            <a:off x="1047750" y="28765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s13-title-2">
            <a:extLst>
              <a:ext uri="{FF2B5EF4-FFF2-40B4-BE49-F238E27FC236}">
                <a16:creationId xmlns:a16="http://schemas.microsoft.com/office/drawing/2014/main" id="{6A79B4A3-D6EB-4DF3-864A-74B3E6440B4A}"/>
              </a:ext>
            </a:extLst>
          </p:cNvPr>
          <p:cNvSpPr>
            <a:spLocks noGrp="1"/>
          </p:cNvSpPr>
          <p:nvPr/>
        </p:nvSpPr>
        <p:spPr>
          <a:xfrm>
            <a:off x="1714500" y="28575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逐段验证三段路径</a:t>
            </a:r>
          </a:p>
        </p:txBody>
      </p:sp>
      <p:sp>
        <p:nvSpPr>
          <p:cNvPr id="13" name="s13-detail-2">
            <a:extLst>
              <a:ext uri="{FF2B5EF4-FFF2-40B4-BE49-F238E27FC236}">
                <a16:creationId xmlns:a16="http://schemas.microsoft.com/office/drawing/2014/main" id="{823FB12F-79D5-46E9-8AE0-CE1A232B68E1}"/>
              </a:ext>
            </a:extLst>
          </p:cNvPr>
          <p:cNvSpPr>
            <a:spLocks noGrp="1"/>
          </p:cNvSpPr>
          <p:nvPr/>
        </p:nvSpPr>
        <p:spPr>
          <a:xfrm>
            <a:off x="1714500" y="32004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P0→P1、P1→P0、P0→P2</a:t>
            </a:r>
          </a:p>
        </p:txBody>
      </p:sp>
      <p:sp>
        <p:nvSpPr>
          <p:cNvPr id="14" name="s13-step-3">
            <a:extLst>
              <a:ext uri="{FF2B5EF4-FFF2-40B4-BE49-F238E27FC236}">
                <a16:creationId xmlns:a16="http://schemas.microsoft.com/office/drawing/2014/main" id="{8B0E3577-F464-4BC9-ACE1-B2DD8241C98E}"/>
              </a:ext>
            </a:extLst>
          </p:cNvPr>
          <p:cNvSpPr>
            <a:spLocks noGrp="1"/>
          </p:cNvSpPr>
          <p:nvPr/>
        </p:nvSpPr>
        <p:spPr>
          <a:xfrm>
            <a:off x="1047750" y="37147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5" name="s13-title-3">
            <a:extLst>
              <a:ext uri="{FF2B5EF4-FFF2-40B4-BE49-F238E27FC236}">
                <a16:creationId xmlns:a16="http://schemas.microsoft.com/office/drawing/2014/main" id="{C799C5AB-F57D-4ED9-9942-0D27B971E2D1}"/>
              </a:ext>
            </a:extLst>
          </p:cNvPr>
          <p:cNvSpPr>
            <a:spLocks noGrp="1"/>
          </p:cNvSpPr>
          <p:nvPr/>
        </p:nvSpPr>
        <p:spPr>
          <a:xfrm>
            <a:off x="1714500" y="36957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确认流程衔接</a:t>
            </a:r>
          </a:p>
        </p:txBody>
      </p:sp>
      <p:sp>
        <p:nvSpPr>
          <p:cNvPr id="16" name="s13-detail-3">
            <a:extLst>
              <a:ext uri="{FF2B5EF4-FFF2-40B4-BE49-F238E27FC236}">
                <a16:creationId xmlns:a16="http://schemas.microsoft.com/office/drawing/2014/main" id="{AC3CA438-F5DD-4DCA-A626-2ABA98A546ED}"/>
              </a:ext>
            </a:extLst>
          </p:cNvPr>
          <p:cNvSpPr>
            <a:spLocks noGrp="1"/>
          </p:cNvSpPr>
          <p:nvPr/>
        </p:nvSpPr>
        <p:spPr>
          <a:xfrm>
            <a:off x="1714500" y="40386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检测通过后进入原有后续动作</a:t>
            </a:r>
          </a:p>
        </p:txBody>
      </p:sp>
      <p:sp>
        <p:nvSpPr>
          <p:cNvPr id="17" name="s13-step-4">
            <a:extLst>
              <a:ext uri="{FF2B5EF4-FFF2-40B4-BE49-F238E27FC236}">
                <a16:creationId xmlns:a16="http://schemas.microsoft.com/office/drawing/2014/main" id="{0AE9EB18-064D-487B-9445-E990CBA7CD78}"/>
              </a:ext>
            </a:extLst>
          </p:cNvPr>
          <p:cNvSpPr>
            <a:spLocks noGrp="1"/>
          </p:cNvSpPr>
          <p:nvPr/>
        </p:nvSpPr>
        <p:spPr>
          <a:xfrm>
            <a:off x="1047750" y="45529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" name="s13-title-4">
            <a:extLst>
              <a:ext uri="{FF2B5EF4-FFF2-40B4-BE49-F238E27FC236}">
                <a16:creationId xmlns:a16="http://schemas.microsoft.com/office/drawing/2014/main" id="{5F64E5E4-866E-4ED3-B547-3A190B036948}"/>
              </a:ext>
            </a:extLst>
          </p:cNvPr>
          <p:cNvSpPr>
            <a:spLocks noGrp="1"/>
          </p:cNvSpPr>
          <p:nvPr/>
        </p:nvSpPr>
        <p:spPr>
          <a:xfrm>
            <a:off x="1714500" y="45339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连续观察重复性</a:t>
            </a:r>
          </a:p>
        </p:txBody>
      </p:sp>
      <p:sp>
        <p:nvSpPr>
          <p:cNvPr id="19" name="s13-detail-4">
            <a:extLst>
              <a:ext uri="{FF2B5EF4-FFF2-40B4-BE49-F238E27FC236}">
                <a16:creationId xmlns:a16="http://schemas.microsoft.com/office/drawing/2014/main" id="{EA26E0C6-4CAE-4FA7-BDE6-5EC536449BB5}"/>
              </a:ext>
            </a:extLst>
          </p:cNvPr>
          <p:cNvSpPr>
            <a:spLocks noGrp="1"/>
          </p:cNvSpPr>
          <p:nvPr/>
        </p:nvSpPr>
        <p:spPr>
          <a:xfrm>
            <a:off x="1714500" y="48768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从“能动”走向“稳定可复现”</a:t>
            </a:r>
          </a:p>
        </p:txBody>
      </p:sp>
      <p:sp>
        <p:nvSpPr>
          <p:cNvPr id="20" name="s13-divider">
            <a:extLst>
              <a:ext uri="{FF2B5EF4-FFF2-40B4-BE49-F238E27FC236}">
                <a16:creationId xmlns:a16="http://schemas.microsoft.com/office/drawing/2014/main" id="{A3FF8E39-EF1F-4A71-8B7A-19E2F7B9F062}"/>
              </a:ext>
            </a:extLst>
          </p:cNvPr>
          <p:cNvSpPr>
            <a:spLocks noGrp="1"/>
          </p:cNvSpPr>
          <p:nvPr/>
        </p:nvSpPr>
        <p:spPr>
          <a:xfrm>
            <a:off x="5905500" y="1181100"/>
            <a:ext cx="9525" cy="44577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13-done-tag">
            <a:extLst>
              <a:ext uri="{FF2B5EF4-FFF2-40B4-BE49-F238E27FC236}">
                <a16:creationId xmlns:a16="http://schemas.microsoft.com/office/drawing/2014/main" id="{53540D54-E25E-4A0A-A85D-5EF6D15CE64B}"/>
              </a:ext>
            </a:extLst>
          </p:cNvPr>
          <p:cNvSpPr>
            <a:spLocks noGrp="1"/>
          </p:cNvSpPr>
          <p:nvPr/>
        </p:nvSpPr>
        <p:spPr>
          <a:xfrm>
            <a:off x="6381749" y="1257300"/>
            <a:ext cx="1880997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8685"/>
          </a:bodyPr>
          <a:lstStyle/>
          <a:p>
            <a:pPr algn="l">
              <a:buNone/>
              <a:defRPr sz="18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 dirty="0" err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当前已完成</a:t>
            </a:r>
            <a:endParaRPr sz="1800" b="1" dirty="0">
              <a:solidFill>
                <a:srgbClr val="F5002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s13-done">
            <a:extLst>
              <a:ext uri="{FF2B5EF4-FFF2-40B4-BE49-F238E27FC236}">
                <a16:creationId xmlns:a16="http://schemas.microsoft.com/office/drawing/2014/main" id="{EB764F9E-E10D-4C1B-96CD-22B47CCCF23D}"/>
              </a:ext>
            </a:extLst>
          </p:cNvPr>
          <p:cNvSpPr>
            <a:spLocks noGrp="1"/>
          </p:cNvSpPr>
          <p:nvPr/>
        </p:nvSpPr>
        <p:spPr>
          <a:xfrm>
            <a:off x="6381750" y="1733550"/>
            <a:ext cx="36861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1.</a:t>
            </a:r>
            <a:r>
              <a:rPr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双角检测动作序列</a:t>
            </a:r>
          </a:p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2.</a:t>
            </a:r>
            <a:r>
              <a:rPr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 / P1 / P2关键点位定位</a:t>
            </a:r>
          </a:p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3.</a:t>
            </a:r>
            <a:r>
              <a:rPr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与原后续动作衔接</a:t>
            </a:r>
            <a:endParaRPr lang="en-US" sz="1875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pPr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4.</a:t>
            </a:r>
            <a:r>
              <a:rPr lang="zh-CN" altLang="en-US" sz="1875" b="1" dirty="0">
                <a:solidFill>
                  <a:srgbClr val="525B5C"/>
                </a:solidFill>
                <a:latin typeface="微软雅黑"/>
                <a:ea typeface="微软雅黑"/>
              </a:rPr>
              <a:t>连续多次运行</a:t>
            </a:r>
          </a:p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endParaRPr sz="1875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s13-right-mid">
            <a:extLst>
              <a:ext uri="{FF2B5EF4-FFF2-40B4-BE49-F238E27FC236}">
                <a16:creationId xmlns:a16="http://schemas.microsoft.com/office/drawing/2014/main" id="{17EC687B-38A6-401D-B710-AE884733F133}"/>
              </a:ext>
            </a:extLst>
          </p:cNvPr>
          <p:cNvSpPr>
            <a:spLocks noGrp="1"/>
          </p:cNvSpPr>
          <p:nvPr/>
        </p:nvSpPr>
        <p:spPr>
          <a:xfrm>
            <a:off x="6381750" y="3314700"/>
            <a:ext cx="44767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13-next-tag">
            <a:extLst>
              <a:ext uri="{FF2B5EF4-FFF2-40B4-BE49-F238E27FC236}">
                <a16:creationId xmlns:a16="http://schemas.microsoft.com/office/drawing/2014/main" id="{1593BA60-B780-4AAB-BF03-7655ABEB5125}"/>
              </a:ext>
            </a:extLst>
          </p:cNvPr>
          <p:cNvSpPr>
            <a:spLocks noGrp="1"/>
          </p:cNvSpPr>
          <p:nvPr/>
        </p:nvSpPr>
        <p:spPr>
          <a:xfrm>
            <a:off x="6381750" y="3543300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下一步量化验证</a:t>
            </a:r>
          </a:p>
        </p:txBody>
      </p:sp>
      <p:sp>
        <p:nvSpPr>
          <p:cNvPr id="25" name="s13-next">
            <a:extLst>
              <a:ext uri="{FF2B5EF4-FFF2-40B4-BE49-F238E27FC236}">
                <a16:creationId xmlns:a16="http://schemas.microsoft.com/office/drawing/2014/main" id="{323FADD8-89CE-4076-BEE0-71CE96EF8385}"/>
              </a:ext>
            </a:extLst>
          </p:cNvPr>
          <p:cNvSpPr>
            <a:spLocks noGrp="1"/>
          </p:cNvSpPr>
          <p:nvPr/>
        </p:nvSpPr>
        <p:spPr>
          <a:xfrm>
            <a:off x="6381750" y="4038600"/>
            <a:ext cx="4762500" cy="131368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575" dirty="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1.</a:t>
            </a:r>
            <a:r>
              <a:rPr sz="1575" dirty="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单张 / </a:t>
            </a:r>
            <a:r>
              <a:rPr sz="1575" dirty="0" err="1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多张样本验证</a:t>
            </a:r>
            <a:endParaRPr sz="1575" dirty="0">
              <a:solidFill>
                <a:srgbClr val="70797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buNone/>
              <a:defRPr sz="15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575" dirty="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1.</a:t>
            </a:r>
            <a:r>
              <a:rPr sz="1575" dirty="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异常、报警与流程中断记录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39671F6-831D-45A0-A037-7F472614216E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38B5387-1068-4B51-BA23-29DF62C3D32E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A00380-1D89-4FBE-BAEA-F3CAAF3BB49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768252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E663931-12F0-490D-9E17-906E632A8DDE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38200" y="1714500"/>
            <a:ext cx="2809528" cy="2476500"/>
          </a:xfrm>
        </p:spPr>
        <p:txBody>
          <a:bodyPr>
            <a:normAutofit fontScale="95486"/>
          </a:bodyPr>
          <a:lstStyle/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SUS合理化线</a:t>
            </a:r>
          </a:p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UV贴膜自动化线</a:t>
            </a:r>
          </a:p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常见电气部品</a:t>
            </a:r>
          </a:p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生产线执行元件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FE5F6DB0-201A-4323-8782-B48F8E3D6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先看懂产线：设备不是零件集合，而是一条控制链</a:t>
            </a:r>
          </a:p>
        </p:txBody>
      </p:sp>
      <p:sp>
        <p:nvSpPr>
          <p:cNvPr id="4" name="s06-tag">
            <a:extLst>
              <a:ext uri="{FF2B5EF4-FFF2-40B4-BE49-F238E27FC236}">
                <a16:creationId xmlns:a16="http://schemas.microsoft.com/office/drawing/2014/main" id="{609D746A-5E53-4035-841A-53992615087D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280952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现场认知</a:t>
            </a:r>
          </a:p>
        </p:txBody>
      </p:sp>
      <p:sp>
        <p:nvSpPr>
          <p:cNvPr id="5" name="s06-chain-line">
            <a:extLst>
              <a:ext uri="{FF2B5EF4-FFF2-40B4-BE49-F238E27FC236}">
                <a16:creationId xmlns:a16="http://schemas.microsoft.com/office/drawing/2014/main" id="{4B86A38C-60BE-48B0-A9C7-E6883BCFE58A}"/>
              </a:ext>
            </a:extLst>
          </p:cNvPr>
          <p:cNvSpPr>
            <a:spLocks noGrp="1"/>
          </p:cNvSpPr>
          <p:nvPr/>
        </p:nvSpPr>
        <p:spPr>
          <a:xfrm>
            <a:off x="876300" y="4686300"/>
            <a:ext cx="32004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06-chain">
            <a:extLst>
              <a:ext uri="{FF2B5EF4-FFF2-40B4-BE49-F238E27FC236}">
                <a16:creationId xmlns:a16="http://schemas.microsoft.com/office/drawing/2014/main" id="{A0EF044D-212E-4A19-95BE-51BD0FACD878}"/>
              </a:ext>
            </a:extLst>
          </p:cNvPr>
          <p:cNvSpPr>
            <a:spLocks noGrp="1"/>
          </p:cNvSpPr>
          <p:nvPr/>
        </p:nvSpPr>
        <p:spPr>
          <a:xfrm>
            <a:off x="838200" y="4857750"/>
            <a:ext cx="3524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感知  →  控制  →  执行</a:t>
            </a:r>
          </a:p>
        </p:txBody>
      </p:sp>
      <p:sp>
        <p:nvSpPr>
          <p:cNvPr id="7" name="s06-chain-detail">
            <a:extLst>
              <a:ext uri="{FF2B5EF4-FFF2-40B4-BE49-F238E27FC236}">
                <a16:creationId xmlns:a16="http://schemas.microsoft.com/office/drawing/2014/main" id="{11681902-F459-4A7C-AC20-C3C1128F4FFC}"/>
              </a:ext>
            </a:extLst>
          </p:cNvPr>
          <p:cNvSpPr>
            <a:spLocks noGrp="1"/>
          </p:cNvSpPr>
          <p:nvPr/>
        </p:nvSpPr>
        <p:spPr>
          <a:xfrm>
            <a:off x="576072" y="5314950"/>
            <a:ext cx="4223784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60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   传感器      PLC/程序    机构与机器人</a:t>
            </a:r>
          </a:p>
        </p:txBody>
      </p:sp>
      <p:pic>
        <p:nvPicPr>
          <p:cNvPr id="26" name="图片 14"/>
          <p:cNvPicPr>
            <a:picLocks noChangeAspect="1"/>
          </p:cNvPicPr>
          <p:nvPr/>
        </p:nvPicPr>
        <p:blipFill>
          <a:blip r:embed="rId3"/>
          <a:srcRect l="8881" r="8881"/>
          <a:stretch>
            <a:fillRect/>
          </a:stretch>
        </p:blipFill>
        <p:spPr>
          <a:xfrm>
            <a:off x="4648200" y="1104900"/>
            <a:ext cx="6819900" cy="466725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F7BD282F-343F-40CB-A847-E859A4ED6AE8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D7E6DA7-82F7-418F-A87C-078F4D76B6AA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A29E0D-D973-4ABF-90D9-20CC4269E6C3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9196881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096B426-2BAA-412E-9BF8-757ADE764CC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38200" y="5467350"/>
            <a:ext cx="10287000" cy="457200"/>
          </a:xfrm>
        </p:spPr>
        <p:txBody>
          <a:bodyPr>
            <a:norm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当</a:t>
            </a:r>
            <a:r>
              <a:rPr sz="2400" b="1" dirty="0" err="1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变量能够对应设备状态</a:t>
            </a:r>
            <a:r>
              <a:rPr lang="zh-CN" altLang="en-US" sz="2400" b="1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的时候</a:t>
            </a:r>
            <a:r>
              <a:rPr sz="2400" b="1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2400" b="1" dirty="0" err="1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程序才成为产线行为的说明书</a:t>
            </a:r>
            <a:r>
              <a:rPr sz="2400" b="1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5A7F9EF5-A2A5-48E5-9562-C2793BCB7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PLC学习的转变：从会写指令，到能解释设备状态</a:t>
            </a:r>
          </a:p>
        </p:txBody>
      </p:sp>
      <p:sp>
        <p:nvSpPr>
          <p:cNvPr id="4" name="s07-day">
            <a:extLst>
              <a:ext uri="{FF2B5EF4-FFF2-40B4-BE49-F238E27FC236}">
                <a16:creationId xmlns:a16="http://schemas.microsoft.com/office/drawing/2014/main" id="{AE56E8FE-F840-44B3-B876-441AA6C7ADE1}"/>
              </a:ext>
            </a:extLst>
          </p:cNvPr>
          <p:cNvSpPr>
            <a:spLocks noGrp="1"/>
          </p:cNvSpPr>
          <p:nvPr/>
        </p:nvSpPr>
        <p:spPr>
          <a:xfrm>
            <a:off x="857250" y="1257300"/>
            <a:ext cx="1714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4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4350" b="1" dirty="0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sz="4350" b="1" dirty="0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天</a:t>
            </a:r>
          </a:p>
        </p:txBody>
      </p:sp>
      <p:sp>
        <p:nvSpPr>
          <p:cNvPr id="5" name="s07-day-detail">
            <a:extLst>
              <a:ext uri="{FF2B5EF4-FFF2-40B4-BE49-F238E27FC236}">
                <a16:creationId xmlns:a16="http://schemas.microsoft.com/office/drawing/2014/main" id="{258A6616-4418-4B36-8718-109EC3AF9277}"/>
              </a:ext>
            </a:extLst>
          </p:cNvPr>
          <p:cNvSpPr>
            <a:spLocks noGrp="1"/>
          </p:cNvSpPr>
          <p:nvPr/>
        </p:nvSpPr>
        <p:spPr>
          <a:xfrm>
            <a:off x="876300" y="20764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完成梯形图基础回顾</a:t>
            </a:r>
          </a:p>
        </p:txBody>
      </p:sp>
      <p:sp>
        <p:nvSpPr>
          <p:cNvPr id="6" name="s07-flow">
            <a:extLst>
              <a:ext uri="{FF2B5EF4-FFF2-40B4-BE49-F238E27FC236}">
                <a16:creationId xmlns:a16="http://schemas.microsoft.com/office/drawing/2014/main" id="{FA063361-E2B7-4A08-8E59-FAC9AB49C36E}"/>
              </a:ext>
            </a:extLst>
          </p:cNvPr>
          <p:cNvSpPr>
            <a:spLocks noGrp="1"/>
          </p:cNvSpPr>
          <p:nvPr/>
        </p:nvSpPr>
        <p:spPr>
          <a:xfrm>
            <a:off x="2667000" y="285750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07-num-0">
            <a:extLst>
              <a:ext uri="{FF2B5EF4-FFF2-40B4-BE49-F238E27FC236}">
                <a16:creationId xmlns:a16="http://schemas.microsoft.com/office/drawing/2014/main" id="{58F11872-6B33-48B2-8CDD-FC6AEB21F0C1}"/>
              </a:ext>
            </a:extLst>
          </p:cNvPr>
          <p:cNvSpPr>
            <a:spLocks noGrp="1"/>
          </p:cNvSpPr>
          <p:nvPr/>
        </p:nvSpPr>
        <p:spPr>
          <a:xfrm>
            <a:off x="266700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s07-title-0">
            <a:extLst>
              <a:ext uri="{FF2B5EF4-FFF2-40B4-BE49-F238E27FC236}">
                <a16:creationId xmlns:a16="http://schemas.microsoft.com/office/drawing/2014/main" id="{10F11E9D-46D9-4EA3-A9D9-6017FB51EB45}"/>
              </a:ext>
            </a:extLst>
          </p:cNvPr>
          <p:cNvSpPr>
            <a:spLocks noGrp="1"/>
          </p:cNvSpPr>
          <p:nvPr/>
        </p:nvSpPr>
        <p:spPr>
          <a:xfrm>
            <a:off x="266700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梯形图回顾</a:t>
            </a:r>
          </a:p>
        </p:txBody>
      </p:sp>
      <p:sp>
        <p:nvSpPr>
          <p:cNvPr id="9" name="s07-detail-0">
            <a:extLst>
              <a:ext uri="{FF2B5EF4-FFF2-40B4-BE49-F238E27FC236}">
                <a16:creationId xmlns:a16="http://schemas.microsoft.com/office/drawing/2014/main" id="{7379D9A5-6019-4244-913B-F5F090CBE637}"/>
              </a:ext>
            </a:extLst>
          </p:cNvPr>
          <p:cNvSpPr>
            <a:spLocks noGrp="1"/>
          </p:cNvSpPr>
          <p:nvPr/>
        </p:nvSpPr>
        <p:spPr>
          <a:xfrm>
            <a:off x="266700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快速恢复顺序控制语感</a:t>
            </a:r>
          </a:p>
        </p:txBody>
      </p:sp>
      <p:sp>
        <p:nvSpPr>
          <p:cNvPr id="10" name="s07-num-1">
            <a:extLst>
              <a:ext uri="{FF2B5EF4-FFF2-40B4-BE49-F238E27FC236}">
                <a16:creationId xmlns:a16="http://schemas.microsoft.com/office/drawing/2014/main" id="{9E26BFFA-4B2F-49E6-BB90-1FC7756CD3E3}"/>
              </a:ext>
            </a:extLst>
          </p:cNvPr>
          <p:cNvSpPr>
            <a:spLocks noGrp="1"/>
          </p:cNvSpPr>
          <p:nvPr/>
        </p:nvSpPr>
        <p:spPr>
          <a:xfrm>
            <a:off x="481012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s07-title-1">
            <a:extLst>
              <a:ext uri="{FF2B5EF4-FFF2-40B4-BE49-F238E27FC236}">
                <a16:creationId xmlns:a16="http://schemas.microsoft.com/office/drawing/2014/main" id="{02B9E949-E367-4C52-AB76-DD6703675ED4}"/>
              </a:ext>
            </a:extLst>
          </p:cNvPr>
          <p:cNvSpPr>
            <a:spLocks noGrp="1"/>
          </p:cNvSpPr>
          <p:nvPr/>
        </p:nvSpPr>
        <p:spPr>
          <a:xfrm>
            <a:off x="481012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I/O映射</a:t>
            </a:r>
          </a:p>
        </p:txBody>
      </p:sp>
      <p:sp>
        <p:nvSpPr>
          <p:cNvPr id="12" name="s07-detail-1">
            <a:extLst>
              <a:ext uri="{FF2B5EF4-FFF2-40B4-BE49-F238E27FC236}">
                <a16:creationId xmlns:a16="http://schemas.microsoft.com/office/drawing/2014/main" id="{D05B5FC2-7D09-4B38-9EBB-966E5C45059E}"/>
              </a:ext>
            </a:extLst>
          </p:cNvPr>
          <p:cNvSpPr>
            <a:spLocks noGrp="1"/>
          </p:cNvSpPr>
          <p:nvPr/>
        </p:nvSpPr>
        <p:spPr>
          <a:xfrm>
            <a:off x="481012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变量与真实设备一一对应</a:t>
            </a:r>
          </a:p>
        </p:txBody>
      </p:sp>
      <p:sp>
        <p:nvSpPr>
          <p:cNvPr id="13" name="s07-num-2">
            <a:extLst>
              <a:ext uri="{FF2B5EF4-FFF2-40B4-BE49-F238E27FC236}">
                <a16:creationId xmlns:a16="http://schemas.microsoft.com/office/drawing/2014/main" id="{370C3D19-F848-47B1-9079-78CEBCCCD659}"/>
              </a:ext>
            </a:extLst>
          </p:cNvPr>
          <p:cNvSpPr>
            <a:spLocks noGrp="1"/>
          </p:cNvSpPr>
          <p:nvPr/>
        </p:nvSpPr>
        <p:spPr>
          <a:xfrm>
            <a:off x="695325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s07-title-2">
            <a:extLst>
              <a:ext uri="{FF2B5EF4-FFF2-40B4-BE49-F238E27FC236}">
                <a16:creationId xmlns:a16="http://schemas.microsoft.com/office/drawing/2014/main" id="{B785ED04-FEF5-476F-B481-BFFFA92362A5}"/>
              </a:ext>
            </a:extLst>
          </p:cNvPr>
          <p:cNvSpPr>
            <a:spLocks noGrp="1"/>
          </p:cNvSpPr>
          <p:nvPr/>
        </p:nvSpPr>
        <p:spPr>
          <a:xfrm>
            <a:off x="695325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ST编程</a:t>
            </a:r>
          </a:p>
        </p:txBody>
      </p:sp>
      <p:sp>
        <p:nvSpPr>
          <p:cNvPr id="15" name="s07-detail-2">
            <a:extLst>
              <a:ext uri="{FF2B5EF4-FFF2-40B4-BE49-F238E27FC236}">
                <a16:creationId xmlns:a16="http://schemas.microsoft.com/office/drawing/2014/main" id="{BEB77ABC-5473-40FD-BA2A-D1FC382B241C}"/>
              </a:ext>
            </a:extLst>
          </p:cNvPr>
          <p:cNvSpPr>
            <a:spLocks noGrp="1"/>
          </p:cNvSpPr>
          <p:nvPr/>
        </p:nvSpPr>
        <p:spPr>
          <a:xfrm>
            <a:off x="695325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结构化表达复杂逻辑</a:t>
            </a:r>
          </a:p>
        </p:txBody>
      </p:sp>
      <p:sp>
        <p:nvSpPr>
          <p:cNvPr id="16" name="s07-num-3">
            <a:extLst>
              <a:ext uri="{FF2B5EF4-FFF2-40B4-BE49-F238E27FC236}">
                <a16:creationId xmlns:a16="http://schemas.microsoft.com/office/drawing/2014/main" id="{D55804F0-9AB0-49AB-9C18-78F144096307}"/>
              </a:ext>
            </a:extLst>
          </p:cNvPr>
          <p:cNvSpPr>
            <a:spLocks noGrp="1"/>
          </p:cNvSpPr>
          <p:nvPr/>
        </p:nvSpPr>
        <p:spPr>
          <a:xfrm>
            <a:off x="909637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s07-title-3">
            <a:extLst>
              <a:ext uri="{FF2B5EF4-FFF2-40B4-BE49-F238E27FC236}">
                <a16:creationId xmlns:a16="http://schemas.microsoft.com/office/drawing/2014/main" id="{0576ED96-5755-4115-84F7-DB7C18880402}"/>
              </a:ext>
            </a:extLst>
          </p:cNvPr>
          <p:cNvSpPr>
            <a:spLocks noGrp="1"/>
          </p:cNvSpPr>
          <p:nvPr/>
        </p:nvSpPr>
        <p:spPr>
          <a:xfrm>
            <a:off x="909637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激光测距读取</a:t>
            </a:r>
          </a:p>
        </p:txBody>
      </p:sp>
      <p:sp>
        <p:nvSpPr>
          <p:cNvPr id="18" name="s07-detail-3">
            <a:extLst>
              <a:ext uri="{FF2B5EF4-FFF2-40B4-BE49-F238E27FC236}">
                <a16:creationId xmlns:a16="http://schemas.microsoft.com/office/drawing/2014/main" id="{A2458B1E-C6DF-4348-A79D-F1C702A01BF4}"/>
              </a:ext>
            </a:extLst>
          </p:cNvPr>
          <p:cNvSpPr>
            <a:spLocks noGrp="1"/>
          </p:cNvSpPr>
          <p:nvPr/>
        </p:nvSpPr>
        <p:spPr>
          <a:xfrm>
            <a:off x="909637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让传感信息成为动作依据</a:t>
            </a:r>
          </a:p>
        </p:txBody>
      </p:sp>
      <p:sp>
        <p:nvSpPr>
          <p:cNvPr id="19" name="s07-result-line">
            <a:extLst>
              <a:ext uri="{FF2B5EF4-FFF2-40B4-BE49-F238E27FC236}">
                <a16:creationId xmlns:a16="http://schemas.microsoft.com/office/drawing/2014/main" id="{B8FF297F-6D94-4120-94CE-C9C0E667027F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8B2E7-B443-4600-87F2-3021C9466362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6E6D545-5C06-4E13-B09A-0134D624D9E9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F8D2B8-6C5D-4F7A-B096-F566124AE17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6038713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536" y="1124744"/>
            <a:ext cx="7896225" cy="4444365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8F1B2597-7837-4A75-BED2-7360139C2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工业通信把单机控制连接成设备协同</a:t>
            </a:r>
          </a:p>
        </p:txBody>
      </p:sp>
      <p:sp>
        <p:nvSpPr>
          <p:cNvPr id="4" name="s08-p1">
            <a:extLst>
              <a:ext uri="{FF2B5EF4-FFF2-40B4-BE49-F238E27FC236}">
                <a16:creationId xmlns:a16="http://schemas.microsoft.com/office/drawing/2014/main" id="{6571269C-7271-4812-9A25-ADF96CEB1BF2}"/>
              </a:ext>
            </a:extLst>
          </p:cNvPr>
          <p:cNvSpPr>
            <a:spLocks noGrp="1"/>
          </p:cNvSpPr>
          <p:nvPr/>
        </p:nvSpPr>
        <p:spPr>
          <a:xfrm>
            <a:off x="1562100" y="1028699"/>
            <a:ext cx="2517676" cy="78590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EtherCAT</a:t>
            </a:r>
          </a:p>
        </p:txBody>
      </p:sp>
      <p:sp>
        <p:nvSpPr>
          <p:cNvPr id="5" name="s08-p2">
            <a:extLst>
              <a:ext uri="{FF2B5EF4-FFF2-40B4-BE49-F238E27FC236}">
                <a16:creationId xmlns:a16="http://schemas.microsoft.com/office/drawing/2014/main" id="{E5FFDC1E-7DF2-4ED2-AE1D-458614D944C9}"/>
              </a:ext>
            </a:extLst>
          </p:cNvPr>
          <p:cNvSpPr>
            <a:spLocks noGrp="1"/>
          </p:cNvSpPr>
          <p:nvPr/>
        </p:nvSpPr>
        <p:spPr>
          <a:xfrm>
            <a:off x="4572000" y="1028700"/>
            <a:ext cx="2244080" cy="7859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EtherNet/IP</a:t>
            </a:r>
          </a:p>
        </p:txBody>
      </p:sp>
      <p:sp>
        <p:nvSpPr>
          <p:cNvPr id="6" name="s08-p3">
            <a:extLst>
              <a:ext uri="{FF2B5EF4-FFF2-40B4-BE49-F238E27FC236}">
                <a16:creationId xmlns:a16="http://schemas.microsoft.com/office/drawing/2014/main" id="{28938669-62F3-4FE7-8FD4-20A93D83935C}"/>
              </a:ext>
            </a:extLst>
          </p:cNvPr>
          <p:cNvSpPr>
            <a:spLocks noGrp="1"/>
          </p:cNvSpPr>
          <p:nvPr/>
        </p:nvSpPr>
        <p:spPr>
          <a:xfrm>
            <a:off x="7639049" y="1028699"/>
            <a:ext cx="2176711" cy="785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Modbus </a:t>
            </a:r>
            <a:r>
              <a:rPr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TCP</a:t>
            </a:r>
          </a:p>
        </p:txBody>
      </p:sp>
      <p:sp>
        <p:nvSpPr>
          <p:cNvPr id="8" name="s08-result-line">
            <a:extLst>
              <a:ext uri="{FF2B5EF4-FFF2-40B4-BE49-F238E27FC236}">
                <a16:creationId xmlns:a16="http://schemas.microsoft.com/office/drawing/2014/main" id="{6059CB67-8EC2-49CD-AC96-F613AE25844D}"/>
              </a:ext>
            </a:extLst>
          </p:cNvPr>
          <p:cNvSpPr>
            <a:spLocks noGrp="1"/>
          </p:cNvSpPr>
          <p:nvPr/>
        </p:nvSpPr>
        <p:spPr>
          <a:xfrm>
            <a:off x="876300" y="5257800"/>
            <a:ext cx="103822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08-result">
            <a:extLst>
              <a:ext uri="{FF2B5EF4-FFF2-40B4-BE49-F238E27FC236}">
                <a16:creationId xmlns:a16="http://schemas.microsoft.com/office/drawing/2014/main" id="{DA6F50FD-BA1D-44D7-8C21-959B0F5E30AF}"/>
              </a:ext>
            </a:extLst>
          </p:cNvPr>
          <p:cNvSpPr>
            <a:spLocks noGrp="1"/>
          </p:cNvSpPr>
          <p:nvPr/>
        </p:nvSpPr>
        <p:spPr>
          <a:xfrm>
            <a:off x="876300" y="54102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传感器给状态，PLC做判断，网络传指令，机器人完成动作。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BFA1C7-67F9-4FA5-913D-6F9259B1E6E1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1F158B-F762-4799-9013-08D8FEB5CF44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3A708D-DE33-4D3A-A619-BA065AA850A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87054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C03A3A3-CA11-44A8-834B-7B3260A33755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239125" y="1428750"/>
            <a:ext cx="3105150" cy="3333750"/>
          </a:xfrm>
        </p:spPr>
        <p:txBody>
          <a:bodyPr/>
          <a:lstStyle/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世界坐标系</a:t>
            </a: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整机运动的统一基准</a:t>
            </a:r>
          </a:p>
          <a:p>
            <a:endParaRPr sz="140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工具坐标系（TCP）</a:t>
            </a: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吸嘴末端的位置与姿态</a:t>
            </a:r>
          </a:p>
          <a:p>
            <a:endParaRPr sz="140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用户坐标系</a:t>
            </a: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面向PCB工作平面的局部基准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6F9456F1-A1EF-4632-86DD-DE170B058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坐标统一后，机器人的动作才能被准确描述</a:t>
            </a:r>
          </a:p>
        </p:txBody>
      </p:sp>
      <p:pic>
        <p:nvPicPr>
          <p:cNvPr id="16" name="图片 8"/>
          <p:cNvPicPr>
            <a:picLocks noChangeAspect="1"/>
          </p:cNvPicPr>
          <p:nvPr/>
        </p:nvPicPr>
        <p:blipFill>
          <a:blip r:embed="rId3"/>
          <a:srcRect l="5780" r="5780"/>
          <a:stretch>
            <a:fillRect/>
          </a:stretch>
        </p:blipFill>
        <p:spPr>
          <a:xfrm>
            <a:off x="723900" y="1143000"/>
            <a:ext cx="7124700" cy="4533900"/>
          </a:xfrm>
          <a:prstGeom prst="rect">
            <a:avLst/>
          </a:prstGeom>
        </p:spPr>
      </p:pic>
      <p:sp>
        <p:nvSpPr>
          <p:cNvPr id="5" name="s09-callout-line">
            <a:extLst>
              <a:ext uri="{FF2B5EF4-FFF2-40B4-BE49-F238E27FC236}">
                <a16:creationId xmlns:a16="http://schemas.microsoft.com/office/drawing/2014/main" id="{3E4B4512-6B0F-4A77-9C77-6A4C9456C97A}"/>
              </a:ext>
            </a:extLst>
          </p:cNvPr>
          <p:cNvSpPr>
            <a:spLocks noGrp="1"/>
          </p:cNvSpPr>
          <p:nvPr/>
        </p:nvSpPr>
        <p:spPr>
          <a:xfrm>
            <a:off x="8239125" y="4884390"/>
            <a:ext cx="0" cy="70485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09-callout">
            <a:extLst>
              <a:ext uri="{FF2B5EF4-FFF2-40B4-BE49-F238E27FC236}">
                <a16:creationId xmlns:a16="http://schemas.microsoft.com/office/drawing/2014/main" id="{BDF64A36-04B3-4C99-B4A2-0B21606BD144}"/>
              </a:ext>
            </a:extLst>
          </p:cNvPr>
          <p:cNvSpPr>
            <a:spLocks noGrp="1"/>
          </p:cNvSpPr>
          <p:nvPr/>
        </p:nvSpPr>
        <p:spPr>
          <a:xfrm>
            <a:off x="8439150" y="4972050"/>
            <a:ext cx="2857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惯导研究帮助我快速理解坐标变换；</a:t>
            </a:r>
          </a:p>
          <a:p>
            <a:pPr algn="l">
              <a:buNone/>
              <a:defRPr sz="14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现场实践补齐工艺基准与安全示教。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815C80-8783-4DB0-BEBB-9545B2D26259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9103B3-B56E-4A2C-B8C9-4E9441B868D8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E18B38-86FE-4355-A256-612BFAD1C6E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285571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B617BF8-8978-4C25-9458-26076F1E1325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57250" y="5476875"/>
            <a:ext cx="10287000" cy="868680"/>
          </a:xfrm>
        </p:spPr>
        <p:txBody>
          <a:bodyPr>
            <a:normAutofit/>
          </a:bodyPr>
          <a:lstStyle/>
          <a:p>
            <a:r>
              <a:rPr sz="1425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既有经验缩短了上手时间，但现场工艺、安全和设备约束仍需重新学习。</a:t>
            </a:r>
          </a:p>
          <a:p>
            <a:pPr algn="l">
              <a:buNone/>
            </a:pPr>
            <a:r>
              <a:rPr sz="14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真正的能力迁移，是把过去的知识转化为现场可验证的动作。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92C71D90-C7F5-494D-8BDE-306330D2E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三段既有经历，帮助我更快进入现场问题</a:t>
            </a:r>
          </a:p>
        </p:txBody>
      </p:sp>
      <p:sp>
        <p:nvSpPr>
          <p:cNvPr id="4" name="s05-leftbar-0">
            <a:extLst>
              <a:ext uri="{FF2B5EF4-FFF2-40B4-BE49-F238E27FC236}">
                <a16:creationId xmlns:a16="http://schemas.microsoft.com/office/drawing/2014/main" id="{F505FCEC-0DF4-4258-AFCD-0215CDB310A1}"/>
              </a:ext>
            </a:extLst>
          </p:cNvPr>
          <p:cNvSpPr>
            <a:spLocks noGrp="1"/>
          </p:cNvSpPr>
          <p:nvPr/>
        </p:nvSpPr>
        <p:spPr>
          <a:xfrm>
            <a:off x="838200" y="1409700"/>
            <a:ext cx="0" cy="867172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05-source-0">
            <a:extLst>
              <a:ext uri="{FF2B5EF4-FFF2-40B4-BE49-F238E27FC236}">
                <a16:creationId xmlns:a16="http://schemas.microsoft.com/office/drawing/2014/main" id="{36F27671-21E4-4EC2-A567-54E629E73944}"/>
              </a:ext>
            </a:extLst>
          </p:cNvPr>
          <p:cNvSpPr>
            <a:spLocks noGrp="1"/>
          </p:cNvSpPr>
          <p:nvPr/>
        </p:nvSpPr>
        <p:spPr>
          <a:xfrm>
            <a:off x="1104900" y="14097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本科PLC毕业设计</a:t>
            </a:r>
          </a:p>
        </p:txBody>
      </p:sp>
      <p:sp>
        <p:nvSpPr>
          <p:cNvPr id="6" name="s05-source-detail-0">
            <a:extLst>
              <a:ext uri="{FF2B5EF4-FFF2-40B4-BE49-F238E27FC236}">
                <a16:creationId xmlns:a16="http://schemas.microsoft.com/office/drawing/2014/main" id="{8122DFB0-8636-4B9A-95E3-279334758B06}"/>
              </a:ext>
            </a:extLst>
          </p:cNvPr>
          <p:cNvSpPr>
            <a:spLocks noGrp="1"/>
          </p:cNvSpPr>
          <p:nvPr/>
        </p:nvSpPr>
        <p:spPr>
          <a:xfrm>
            <a:off x="1104900" y="18669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紫菜处理与清洗生产线</a:t>
            </a:r>
          </a:p>
        </p:txBody>
      </p:sp>
      <p:sp>
        <p:nvSpPr>
          <p:cNvPr id="7" name="s05-arrow-0">
            <a:extLst>
              <a:ext uri="{FF2B5EF4-FFF2-40B4-BE49-F238E27FC236}">
                <a16:creationId xmlns:a16="http://schemas.microsoft.com/office/drawing/2014/main" id="{5967F331-546D-4FBF-B1B5-6E45AB2826D1}"/>
              </a:ext>
            </a:extLst>
          </p:cNvPr>
          <p:cNvSpPr>
            <a:spLocks noGrp="1"/>
          </p:cNvSpPr>
          <p:nvPr/>
        </p:nvSpPr>
        <p:spPr>
          <a:xfrm>
            <a:off x="4762500" y="15811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s05-output-0">
            <a:extLst>
              <a:ext uri="{FF2B5EF4-FFF2-40B4-BE49-F238E27FC236}">
                <a16:creationId xmlns:a16="http://schemas.microsoft.com/office/drawing/2014/main" id="{5A52AF35-3B49-4A7B-9EB6-7EED8DF3A749}"/>
              </a:ext>
            </a:extLst>
          </p:cNvPr>
          <p:cNvSpPr>
            <a:spLocks noGrp="1"/>
          </p:cNvSpPr>
          <p:nvPr/>
        </p:nvSpPr>
        <p:spPr>
          <a:xfrm>
            <a:off x="6019800" y="1447800"/>
            <a:ext cx="4953000" cy="723900"/>
          </a:xfrm>
          <a:prstGeom prst="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快速理解梯形图与顺序控制</a:t>
            </a:r>
            <a:endParaRPr sz="2175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s05-rowline-0">
            <a:extLst>
              <a:ext uri="{FF2B5EF4-FFF2-40B4-BE49-F238E27FC236}">
                <a16:creationId xmlns:a16="http://schemas.microsoft.com/office/drawing/2014/main" id="{A0C92D61-3141-4FE9-8FD1-9A3B9AD0CA3F}"/>
              </a:ext>
            </a:extLst>
          </p:cNvPr>
          <p:cNvSpPr>
            <a:spLocks noGrp="1"/>
          </p:cNvSpPr>
          <p:nvPr/>
        </p:nvSpPr>
        <p:spPr>
          <a:xfrm>
            <a:off x="857250" y="25146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05-leftbar-1">
            <a:extLst>
              <a:ext uri="{FF2B5EF4-FFF2-40B4-BE49-F238E27FC236}">
                <a16:creationId xmlns:a16="http://schemas.microsoft.com/office/drawing/2014/main" id="{3D11F44A-B01D-4F4A-9CB3-81D4104687F6}"/>
              </a:ext>
            </a:extLst>
          </p:cNvPr>
          <p:cNvSpPr>
            <a:spLocks noGrp="1"/>
          </p:cNvSpPr>
          <p:nvPr/>
        </p:nvSpPr>
        <p:spPr>
          <a:xfrm>
            <a:off x="838200" y="2819400"/>
            <a:ext cx="0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05-source-1">
            <a:extLst>
              <a:ext uri="{FF2B5EF4-FFF2-40B4-BE49-F238E27FC236}">
                <a16:creationId xmlns:a16="http://schemas.microsoft.com/office/drawing/2014/main" id="{97E4FB00-083B-4EF8-B491-B0AD13B896F2}"/>
              </a:ext>
            </a:extLst>
          </p:cNvPr>
          <p:cNvSpPr>
            <a:spLocks noGrp="1"/>
          </p:cNvSpPr>
          <p:nvPr/>
        </p:nvSpPr>
        <p:spPr>
          <a:xfrm>
            <a:off x="1104900" y="28194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硕士期间参与国家级项目</a:t>
            </a:r>
          </a:p>
        </p:txBody>
      </p:sp>
      <p:sp>
        <p:nvSpPr>
          <p:cNvPr id="12" name="s05-source-detail-1">
            <a:extLst>
              <a:ext uri="{FF2B5EF4-FFF2-40B4-BE49-F238E27FC236}">
                <a16:creationId xmlns:a16="http://schemas.microsoft.com/office/drawing/2014/main" id="{B1BAF53C-B6B6-4BB2-94C0-510C7E2613B5}"/>
              </a:ext>
            </a:extLst>
          </p:cNvPr>
          <p:cNvSpPr>
            <a:spLocks noGrp="1"/>
          </p:cNvSpPr>
          <p:nvPr/>
        </p:nvSpPr>
        <p:spPr>
          <a:xfrm>
            <a:off x="1104900" y="32766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八电机协同控制空间球体</a:t>
            </a:r>
          </a:p>
        </p:txBody>
      </p:sp>
      <p:sp>
        <p:nvSpPr>
          <p:cNvPr id="13" name="s05-arrow-1">
            <a:extLst>
              <a:ext uri="{FF2B5EF4-FFF2-40B4-BE49-F238E27FC236}">
                <a16:creationId xmlns:a16="http://schemas.microsoft.com/office/drawing/2014/main" id="{128252E2-C531-4C68-8578-C83995436BDB}"/>
              </a:ext>
            </a:extLst>
          </p:cNvPr>
          <p:cNvSpPr>
            <a:spLocks noGrp="1"/>
          </p:cNvSpPr>
          <p:nvPr/>
        </p:nvSpPr>
        <p:spPr>
          <a:xfrm>
            <a:off x="4762500" y="29908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s05-output-1">
            <a:extLst>
              <a:ext uri="{FF2B5EF4-FFF2-40B4-BE49-F238E27FC236}">
                <a16:creationId xmlns:a16="http://schemas.microsoft.com/office/drawing/2014/main" id="{084A8508-2628-4DCF-854B-7DD4155D983D}"/>
              </a:ext>
            </a:extLst>
          </p:cNvPr>
          <p:cNvSpPr>
            <a:spLocks noGrp="1"/>
          </p:cNvSpPr>
          <p:nvPr/>
        </p:nvSpPr>
        <p:spPr>
          <a:xfrm>
            <a:off x="6019800" y="2857500"/>
            <a:ext cx="4953000" cy="723900"/>
          </a:xfrm>
          <a:prstGeom prst="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理解多执行器协同与通信</a:t>
            </a:r>
            <a:endParaRPr sz="2175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s05-rowline-1">
            <a:extLst>
              <a:ext uri="{FF2B5EF4-FFF2-40B4-BE49-F238E27FC236}">
                <a16:creationId xmlns:a16="http://schemas.microsoft.com/office/drawing/2014/main" id="{675EB2D2-39F4-474E-9540-975761DEE30D}"/>
              </a:ext>
            </a:extLst>
          </p:cNvPr>
          <p:cNvSpPr>
            <a:spLocks noGrp="1"/>
          </p:cNvSpPr>
          <p:nvPr/>
        </p:nvSpPr>
        <p:spPr>
          <a:xfrm>
            <a:off x="857250" y="39243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05-leftbar-2">
            <a:extLst>
              <a:ext uri="{FF2B5EF4-FFF2-40B4-BE49-F238E27FC236}">
                <a16:creationId xmlns:a16="http://schemas.microsoft.com/office/drawing/2014/main" id="{A42ED452-0FD0-4807-A713-4DC0A0688AD2}"/>
              </a:ext>
            </a:extLst>
          </p:cNvPr>
          <p:cNvSpPr>
            <a:spLocks noGrp="1"/>
          </p:cNvSpPr>
          <p:nvPr/>
        </p:nvSpPr>
        <p:spPr>
          <a:xfrm flipH="1">
            <a:off x="838199" y="4229100"/>
            <a:ext cx="1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05-source-2">
            <a:extLst>
              <a:ext uri="{FF2B5EF4-FFF2-40B4-BE49-F238E27FC236}">
                <a16:creationId xmlns:a16="http://schemas.microsoft.com/office/drawing/2014/main" id="{DFE2ED00-9CCD-4494-B029-DA27944F400B}"/>
              </a:ext>
            </a:extLst>
          </p:cNvPr>
          <p:cNvSpPr>
            <a:spLocks noGrp="1"/>
          </p:cNvSpPr>
          <p:nvPr/>
        </p:nvSpPr>
        <p:spPr>
          <a:xfrm>
            <a:off x="1104900" y="42291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硕士研究方向：惯性导航</a:t>
            </a:r>
          </a:p>
        </p:txBody>
      </p:sp>
      <p:sp>
        <p:nvSpPr>
          <p:cNvPr id="18" name="s05-source-detail-2">
            <a:extLst>
              <a:ext uri="{FF2B5EF4-FFF2-40B4-BE49-F238E27FC236}">
                <a16:creationId xmlns:a16="http://schemas.microsoft.com/office/drawing/2014/main" id="{A59D2A77-1FFA-4F70-AC00-C6FE2DEC95BE}"/>
              </a:ext>
            </a:extLst>
          </p:cNvPr>
          <p:cNvSpPr>
            <a:spLocks noGrp="1"/>
          </p:cNvSpPr>
          <p:nvPr/>
        </p:nvSpPr>
        <p:spPr>
          <a:xfrm>
            <a:off x="1104900" y="46863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坐标变换与姿态表达</a:t>
            </a:r>
          </a:p>
        </p:txBody>
      </p:sp>
      <p:sp>
        <p:nvSpPr>
          <p:cNvPr id="19" name="s05-arrow-2">
            <a:extLst>
              <a:ext uri="{FF2B5EF4-FFF2-40B4-BE49-F238E27FC236}">
                <a16:creationId xmlns:a16="http://schemas.microsoft.com/office/drawing/2014/main" id="{EA6AD8AF-63DA-4E73-A762-3263E1732678}"/>
              </a:ext>
            </a:extLst>
          </p:cNvPr>
          <p:cNvSpPr>
            <a:spLocks noGrp="1"/>
          </p:cNvSpPr>
          <p:nvPr/>
        </p:nvSpPr>
        <p:spPr>
          <a:xfrm>
            <a:off x="4762500" y="44005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s05-output-2">
            <a:extLst>
              <a:ext uri="{FF2B5EF4-FFF2-40B4-BE49-F238E27FC236}">
                <a16:creationId xmlns:a16="http://schemas.microsoft.com/office/drawing/2014/main" id="{0754F45E-01C1-4318-8A0E-EA7D96F190FC}"/>
              </a:ext>
            </a:extLst>
          </p:cNvPr>
          <p:cNvSpPr>
            <a:spLocks noGrp="1"/>
          </p:cNvSpPr>
          <p:nvPr/>
        </p:nvSpPr>
        <p:spPr>
          <a:xfrm>
            <a:off x="6019800" y="4267200"/>
            <a:ext cx="4953000" cy="723900"/>
          </a:xfrm>
          <a:prstGeom prst="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快速理解TCP</a:t>
            </a:r>
            <a:r>
              <a:rPr sz="21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/ </a:t>
            </a:r>
            <a:r>
              <a:rPr sz="2175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用户坐标系</a:t>
            </a:r>
            <a:endParaRPr sz="2175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76A597-8F2D-4C40-9907-4A4D5D136445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889247F-FA30-4495-9528-2CCD4D43C4F7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28EC90-453B-4BF9-9F42-DD4FFB0CEFF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5151626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13C7E69C-024A-4C73-9296-E07C92D026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40000" y="3528000"/>
            <a:ext cx="7332000" cy="1557184"/>
          </a:xfrm>
        </p:spPr>
        <p:txBody>
          <a:bodyPr/>
          <a:lstStyle/>
          <a:p>
            <a:r>
              <a:rPr sz="2600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参观者</a:t>
            </a:r>
            <a:r>
              <a:rPr sz="2600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→ </a:t>
            </a:r>
            <a:r>
              <a:rPr sz="2600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学习者</a:t>
            </a:r>
            <a:r>
              <a:rPr sz="2600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→ </a:t>
            </a:r>
            <a:r>
              <a:rPr sz="2600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参与改进者</a:t>
            </a:r>
            <a:endParaRPr sz="2600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理解工艺｜定义状态｜安全验证｜数据闭环</a:t>
            </a:r>
            <a:endParaRPr sz="15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感谢各位</a:t>
            </a:r>
            <a:r>
              <a:rPr lang="zh-CN" altLang="en-US"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领导、师傅</a:t>
            </a:r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与部门前辈</a:t>
            </a:r>
            <a:endParaRPr sz="15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buNone/>
            </a:pPr>
            <a:r>
              <a:rPr sz="14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希望继续把控制工程能力转化为可量化的现场价值</a:t>
            </a:r>
            <a:endParaRPr sz="14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B3AAF5FC-81D9-4E41-9E9C-8D62C922E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结业，是新的起点</a:t>
            </a:r>
          </a:p>
        </p:txBody>
      </p:sp>
      <p:pic>
        <p:nvPicPr>
          <p:cNvPr id="15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094F27F-3990-4B88-B3EE-7A5705339782}"/>
              </a:ext>
            </a:extLst>
          </p:cNvPr>
          <p:cNvSpPr>
            <a:spLocks noGrp="1"/>
          </p:cNvSpPr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91B30A-2C94-49A7-B12C-3A6672305F61}"/>
              </a:ext>
            </a:extLst>
          </p:cNvPr>
          <p:cNvSpPr>
            <a:spLocks noGrp="1"/>
          </p:cNvSpPr>
          <p:nvPr/>
        </p:nvSpPr>
        <p:spPr>
          <a:xfrm>
            <a:off x="548640" y="6053328"/>
            <a:ext cx="1808508" cy="6001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muRata</a:t>
            </a:r>
            <a:endParaRPr sz="2200" b="1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100" b="0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Innovator in Electronics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0A09F4-584F-4C7D-9B7D-2319BEA91594}"/>
              </a:ext>
            </a:extLst>
          </p:cNvPr>
          <p:cNvSpPr>
            <a:spLocks noGrp="1"/>
          </p:cNvSpPr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 / 14</a:t>
            </a:r>
          </a:p>
        </p:txBody>
      </p:sp>
    </p:spTree>
    <p:extLst>
      <p:ext uri="{BB962C8B-B14F-4D97-AF65-F5344CB8AC3E}">
        <p14:creationId xmlns:p14="http://schemas.microsoft.com/office/powerpoint/2010/main" val="812593996"/>
      </p:ext>
    </p:extLst>
  </p:cSld>
  <p:clrMapOvr>
    <a:masterClrMapping/>
  </p:clrMapOvr>
</p:sld>
</file>

<file path=ppt/theme/theme1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tandard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trictly 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Limited Disclosure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925</TotalTime>
  <Words>1342</Words>
  <Application>Microsoft Office PowerPoint</Application>
  <DocSecurity>0</DocSecurity>
  <PresentationFormat>宽屏</PresentationFormat>
  <Paragraphs>296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微软雅黑</vt:lpstr>
      <vt:lpstr>微软雅黑</vt:lpstr>
      <vt:lpstr>Arial</vt:lpstr>
      <vt:lpstr>Confidential</vt:lpstr>
      <vt:lpstr>Standard</vt:lpstr>
      <vt:lpstr>Strictly Confidential</vt:lpstr>
      <vt:lpstr>Limited Disclosure</vt:lpstr>
      <vt:lpstr>把控制知识变成现场动作</vt:lpstr>
      <vt:lpstr>先说结果：30天，我完成了从理解设备到动作贯通的闭环</vt:lpstr>
      <vt:lpstr>夏令营整体安排｜先建立企业视野</vt:lpstr>
      <vt:lpstr>部门实习计划｜从现场认知走向动作实践</vt:lpstr>
      <vt:lpstr>为什么改：单点检测只能提供局部信息</vt:lpstr>
      <vt:lpstr>怎么改：一个固定检测点，两个角依次经过</vt:lpstr>
      <vt:lpstr>关键动作：传感器不动，膜材依次经过同一检测点</vt:lpstr>
      <vt:lpstr>工程边界：先确认安全、位置与顺序，再谈速度</vt:lpstr>
      <vt:lpstr>先看懂产线：设备不是零件集合，而是一条控制链</vt:lpstr>
      <vt:lpstr>PLC学习的转变：从会写指令，到能解释设备状态</vt:lpstr>
      <vt:lpstr>工业通信把单机控制连接成设备协同</vt:lpstr>
      <vt:lpstr>坐标统一后，机器人的动作才能被准确描述</vt:lpstr>
      <vt:lpstr>三段既有经历，帮助我更快进入现场问题</vt:lpstr>
      <vt:lpstr>结业，是新的起点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meng dai/戴萌</cp:lastModifiedBy>
  <cp:revision>11</cp:revision>
  <dcterms:created xsi:type="dcterms:W3CDTF">2026-08-04T12:55:37Z</dcterms:created>
  <dcterms:modified xsi:type="dcterms:W3CDTF">2026-08-08T08:21:59Z</dcterms:modified>
</cp:coreProperties>
</file>