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90" r:id="rId4"/>
    <p:sldMasterId id="2147483711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2277" autoAdjust="0"/>
  </p:normalViewPr>
  <p:slideViewPr>
    <p:cSldViewPr>
      <p:cViewPr varScale="1">
        <p:scale>
          <a:sx n="82" d="100"/>
          <a:sy n="82" d="100"/>
        </p:scale>
        <p:origin x="691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各位老师、各位同事，大家好。我是张博，南京理工大学控制工程专业硕士研究生。这个暑假，我在无锡村田电子参加了暑期夏令营，并在村田二场完成了为期一个月的部门实习。今天汇报的题目是《从产线认知到机器人双点检测动作改造》——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一句话概括，就是如何把课堂和实验室里学到的控制知识，真正“装进”一条产线里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先说整体。这30天，从7月13号到8月12号，我的角色经历了三次变化：一开始是参观者，看安全、看设备、看生产逻辑；接着是学习者，把PLC、通信和机器人连成一条知识链；最后变成参与者，亲手完成了机械臂的双点检测动作。最后沉淀下来的，是一条控制链、一个真正能在设备上跑起来的动作单元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夏令营的课程给了我视野的广度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——企业与安全、产业与技术、团队与交流、成果输出，让我先理解一家制造企业为什么这样运转；而部门的实践，给了我技术的深度。一句话，课程让我先想清楚“控制工程能在哪些环节创造价值”，再去现场找答案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部门实习的计划，是把学习压缩成一条递进的技术路线，每一步都为下一步服务。先认知现场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——安全意识和两条产线；再学PLC与通信；然后是机器人；接着做实践，把吸取、检测、动作衔接起来；最后沉淀资料、做汇报。先理解设备，才能安全、准确地去改动作，这个顺序很重要。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我想特别说一句：我不是从零开始的。本科毕业设计做了一条紫菜处理与清洗的PLC生产线，让我一天就找回了梯形图和顺序控制的语感；硕士期间参与的国家级项目，用八个电机协同控制空间里的球体，让我天然理解多执行器协同和通信；而我的研究方向惯性导航，恰恰是坐标变换和姿态表达，所以后面理解机器人的世界坐标系、工具坐标系、用户坐标系特别快。过去的知识没有给我标准答案，但让我更快提出了正确的问题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第一步是现场认知。在SUS合理化线、UV贴膜自动化线，还有各种电气部品和产线执行元件里，我看到的不是零散的零件，而是一条清晰的链：感知——控制——执行。传感器采集状态，PLC做判断，机构和机器人去执行。后面所有的动作，都建立在这根链条上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PLC这一块，重点从我“会写指令”转到了“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看懂设备状态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”。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一天回顾梯形图，然后做I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O映射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——让程序里的每一个变量，都对应到真实设备的一个状态；再学ST结构化编程表达复杂逻辑；最后用PLC读取激光传感器的测距信息，让传感数据真正成为动作的依据。当变量能对上设备状态，程序才真正成为产线行为的说明书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通信让我从“单机控制”走到了“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设备协同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”。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EtherCAT、EtherNet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IP、Modbus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TCP——这三种工业以太网协议，把传感器、PLC、机器人连成一张网。一句话总结这条链路：传感器给状态，PLC做判断，网络传指令，机器人完成动作。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到了机器人，最关键的是坐标系。世界坐标系是整机的统一基准，工具坐标系TCP是吸嘴末端的位置和姿态，用户坐标系是面向PCB工作平面的局部基准。坐标系一旦统一，机器人的动作才能被准确描述。这里要再次感谢我的惯性导航背景——坐标变换和姿态表达对我来说是“母语”，所以这一块吸收得非常快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我的实践任务，落在这条流程的关键衔接处。贴片完成之后，激光测高、吸嘴取膜、取膜检测、膜材贴合、进入加压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而我要做的，是把原来的单点检测，扩展成双点检测，并且保持和原流程的顺序衔接，不打断后面的节拍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具体改了什么？原流程只检右上角一个点；我的目标流程，新增了左上角的检测，把一次检测变成两次。路径上是：原点P0 → 右上角P1 → 回到原点P0 → 左上角P2 → 后续。看起来只是多了一个检测点，但工程上影响三件事：检测覆盖更完整、以P0作为统一中间位置让路径可复现、而且能无缝衔接原有流程。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为什么强调P0？因为P0既是取膜后的起始位置，也是两次检测之间统一的“中间站”。P0—P1—P0—P2这条路径，每一次都能回到同一个已知点，所以它可验证、可复现，也更容易排查问题。稳定的路径，是稳定质量的前提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现场调试，我的原则是先确认安全、位置、顺序，再谈速度。五步走：先定义清楚P0、P1、P2三个点；用示教器低速确认XYZ方向和姿态；再逐段验证三段路径；确认和后续动作的衔接；最后连续观察重复性，从“能动”走向“稳定可复现”。目前我已经完成了动作序列、点位定位和流程衔接；下一步要做的，是量化验证——记录连续运行次数和成功率、评估对节拍的影响、用单张和多张样本做验证，并把异常和报警都记下来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最后，回到开头那句话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——这30天，我从一个参观者，变成了一个学习者，再变成了一个参与者。带走的不是一份</a:t>
            </a:r>
            <a:r>
              <a:rPr lang="zh-CN" altLang="en-US"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工作经历</a:t>
            </a:r>
            <a:r>
              <a:rPr lang="ja-JP" altLang="en-US"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2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而是三样东西：系统思维、安全优先、持续验证。感谢各位指导老师和团队这一个多月来的包容和指点。结业，对我来说是新的起点。谢谢大家！</a:t>
            </a:r>
            <a:endParaRPr sz="12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552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3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fld id="{612B3F2D-E4C4-4294-8FF6-6800643EF00E}" type="slidenum">
              <a:rPr sz="1200">
                <a:solidFill>
                  <a:schemeClr val="bg2"/>
                </a:solidFill>
                <a:latin typeface="+mn-lt"/>
                <a:ea typeface="+mn-lt"/>
                <a:cs typeface="+mn-lt"/>
              </a:rPr>
            </a:fld>
            <a:endParaRPr sz="12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3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0.xml"/><Relationship Id="rId2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0.xml"/><Relationship Id="rId2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9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0.xml"/><Relationship Id="rId2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C68DA-264C-4CBC-ABC7-D9DA2C544D1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hyperlink" Target="file:///C:\Users\WME20901\Desktop\ZBPLC_Projects\WIN_20260722_13_09_46_Pro.mp4" TargetMode="External"/><Relationship Id="rId3" Type="http://schemas.openxmlformats.org/officeDocument/2006/relationships/slideLayout" Target="../slideLayouts/slideLayout24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4140000" y="3528000"/>
            <a:ext cx="7332000" cy="1413168"/>
          </a:xfrm>
        </p:spPr>
        <p:txBody>
          <a:bodyPr/>
          <a:lstStyle/>
          <a:p>
            <a:r>
              <a:rPr sz="2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从产线认知到机器人双点检测动作改造</a:t>
            </a:r>
            <a:endParaRPr dirty="0"/>
          </a:p>
          <a:p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张博｜南京理工大学</a:t>
            </a:r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控制工程</a:t>
            </a:r>
            <a:endParaRPr dirty="0"/>
          </a:p>
          <a:p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2026.07.13—</a:t>
            </a:r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2026.</a:t>
            </a:r>
            <a:r>
              <a:rPr sz="15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08.12</a:t>
            </a:r>
            <a:endParaRPr dirty="0"/>
          </a:p>
          <a:p>
            <a:pPr algn="l"/>
            <a:r>
              <a:rPr sz="1400" b="0" dirty="0" err="1">
                <a:solidFill>
                  <a:srgbClr val="F5002F"/>
                </a:solidFill>
                <a:latin typeface="微软雅黑" panose="020B0503020204020204" charset="-122"/>
              </a:rPr>
              <a:t>无锡村田电子</a:t>
            </a:r>
            <a:r>
              <a:rPr sz="1400" b="0" dirty="0">
                <a:solidFill>
                  <a:srgbClr val="F5002F"/>
                </a:solidFill>
                <a:latin typeface="微软雅黑" panose="020B0503020204020204" charset="-122"/>
              </a:rPr>
              <a:t> · </a:t>
            </a:r>
            <a:r>
              <a:rPr sz="1400" b="0" dirty="0" err="1">
                <a:solidFill>
                  <a:srgbClr val="F5002F"/>
                </a:solidFill>
                <a:latin typeface="微软雅黑" panose="020B0503020204020204" charset="-122"/>
              </a:rPr>
              <a:t>村田二场</a:t>
            </a:r>
            <a:r>
              <a:rPr sz="1400" b="0" dirty="0">
                <a:solidFill>
                  <a:srgbClr val="F5002F"/>
                </a:solidFill>
                <a:latin typeface="微软雅黑" panose="020B0503020204020204" charset="-122"/>
              </a:rPr>
              <a:t> ｜ 2026 </a:t>
            </a:r>
            <a:r>
              <a:rPr sz="1400" b="0" dirty="0" err="1">
                <a:solidFill>
                  <a:srgbClr val="F5002F"/>
                </a:solidFill>
                <a:latin typeface="微软雅黑" panose="020B0503020204020204" charset="-122"/>
              </a:rPr>
              <a:t>暑期夏令营结业汇报</a:t>
            </a:r>
            <a:endParaRPr sz="1400" b="0" dirty="0">
              <a:solidFill>
                <a:srgbClr val="F5002F"/>
              </a:solidFill>
              <a:latin typeface="微软雅黑" panose="020B0503020204020204" charset="-122"/>
            </a:endParaRP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把知识装进产线</a:t>
            </a:r>
            <a:endParaRPr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31851" r="31851"/>
          <a:stretch>
            <a:fillRect/>
          </a:stretch>
        </p:blipFill>
        <p:spPr>
          <a:xfrm>
            <a:off x="0" y="0"/>
            <a:ext cx="3359658" cy="5209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5332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muRata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Innovator in Electronics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7040" y="6053328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/ 14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84365" y="5612765"/>
            <a:ext cx="5085715" cy="303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2000" b="1" dirty="0">
                <a:solidFill>
                  <a:srgbClr val="F5002F"/>
                </a:solidFill>
                <a:latin typeface="微软雅黑" panose="020B0503020204020204" charset="-122"/>
              </a:rPr>
              <a:t>本报告中部分示意图、效果图由</a:t>
            </a:r>
            <a:r>
              <a:rPr lang="en-US" altLang="zh-CN" sz="2000" b="1" dirty="0">
                <a:solidFill>
                  <a:srgbClr val="F5002F"/>
                </a:solidFill>
                <a:latin typeface="微软雅黑" panose="020B0503020204020204" charset="-122"/>
              </a:rPr>
              <a:t>AI</a:t>
            </a:r>
            <a:r>
              <a:rPr lang="zh-CN" altLang="en-US" sz="2000" b="1" dirty="0">
                <a:solidFill>
                  <a:srgbClr val="F5002F"/>
                </a:solidFill>
                <a:latin typeface="微软雅黑" panose="020B0503020204020204" charset="-122"/>
              </a:rPr>
              <a:t>辅助生成</a:t>
            </a:r>
            <a:endParaRPr lang="zh-CN" altLang="en-US" sz="2000" b="1" dirty="0">
              <a:solidFill>
                <a:srgbClr val="F5002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723900" y="5467350"/>
            <a:ext cx="10744200" cy="514350"/>
          </a:xfrm>
        </p:spPr>
        <p:txBody>
          <a:bodyPr/>
          <a:lstStyle/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不只是完成课程，而是把所学汇聚成一个能够在设备上执行的动作单元</a:t>
            </a:r>
            <a:r>
              <a:rPr sz="14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一个月里，我从“参观者”走到了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参与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者”</a:t>
            </a:r>
            <a:endParaRPr dirty="0"/>
          </a:p>
        </p:txBody>
      </p:sp>
      <p:sp>
        <p:nvSpPr>
          <p:cNvPr id="4" name="s02-days"/>
          <p:cNvSpPr>
            <a:spLocks noGrp="1"/>
          </p:cNvSpPr>
          <p:nvPr/>
        </p:nvSpPr>
        <p:spPr>
          <a:xfrm>
            <a:off x="762000" y="11620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30天</a:t>
            </a:r>
            <a:endParaRPr sz="4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2-date"/>
          <p:cNvSpPr>
            <a:spLocks noGrp="1"/>
          </p:cNvSpPr>
          <p:nvPr/>
        </p:nvSpPr>
        <p:spPr>
          <a:xfrm>
            <a:off x="800100" y="19526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7.13—8.12</a:t>
            </a:r>
            <a:endParaRPr sz="13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2-flow-line"/>
          <p:cNvSpPr>
            <a:spLocks noGrp="1"/>
          </p:cNvSpPr>
          <p:nvPr/>
        </p:nvSpPr>
        <p:spPr>
          <a:xfrm>
            <a:off x="2667000" y="2724150"/>
            <a:ext cx="7810500" cy="9525"/>
          </a:xfrm>
          <a:prstGeom prst="line">
            <a:avLst/>
          </a:prstGeom>
          <a:noFill/>
          <a:ln w="2857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02-01-num"/>
          <p:cNvSpPr>
            <a:spLocks noGrp="1"/>
          </p:cNvSpPr>
          <p:nvPr/>
        </p:nvSpPr>
        <p:spPr>
          <a:xfrm>
            <a:off x="28575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2-01-title"/>
          <p:cNvSpPr>
            <a:spLocks noGrp="1"/>
          </p:cNvSpPr>
          <p:nvPr/>
        </p:nvSpPr>
        <p:spPr>
          <a:xfrm>
            <a:off x="28575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参观者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2-01-detail"/>
          <p:cNvSpPr>
            <a:spLocks noGrp="1"/>
          </p:cNvSpPr>
          <p:nvPr/>
        </p:nvSpPr>
        <p:spPr>
          <a:xfrm>
            <a:off x="28575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认识安全、设备与生产逻辑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2-02-num"/>
          <p:cNvSpPr>
            <a:spLocks noGrp="1"/>
          </p:cNvSpPr>
          <p:nvPr/>
        </p:nvSpPr>
        <p:spPr>
          <a:xfrm>
            <a:off x="561975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2-02-title"/>
          <p:cNvSpPr>
            <a:spLocks noGrp="1"/>
          </p:cNvSpPr>
          <p:nvPr/>
        </p:nvSpPr>
        <p:spPr>
          <a:xfrm>
            <a:off x="561975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学习者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2-02-detail"/>
          <p:cNvSpPr>
            <a:spLocks noGrp="1"/>
          </p:cNvSpPr>
          <p:nvPr/>
        </p:nvSpPr>
        <p:spPr>
          <a:xfrm>
            <a:off x="561975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打通PLC、通信与机器人知识链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2-03-num"/>
          <p:cNvSpPr>
            <a:spLocks noGrp="1"/>
          </p:cNvSpPr>
          <p:nvPr/>
        </p:nvSpPr>
        <p:spPr>
          <a:xfrm>
            <a:off x="83820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2-03-title"/>
          <p:cNvSpPr>
            <a:spLocks noGrp="1"/>
          </p:cNvSpPr>
          <p:nvPr/>
        </p:nvSpPr>
        <p:spPr>
          <a:xfrm>
            <a:off x="83820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55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</a:t>
            </a:r>
            <a:r>
              <a:rPr sz="255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者</a:t>
            </a:r>
            <a:endParaRPr sz="255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2-03-detail"/>
          <p:cNvSpPr>
            <a:spLocks noGrp="1"/>
          </p:cNvSpPr>
          <p:nvPr/>
        </p:nvSpPr>
        <p:spPr>
          <a:xfrm>
            <a:off x="83820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完成机械臂双点检测动作</a:t>
            </a:r>
            <a:endParaRPr sz="15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2-result-rule"/>
          <p:cNvSpPr>
            <a:spLocks noGrp="1"/>
          </p:cNvSpPr>
          <p:nvPr/>
        </p:nvSpPr>
        <p:spPr>
          <a:xfrm>
            <a:off x="762000" y="4629150"/>
            <a:ext cx="10668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02-result"/>
          <p:cNvSpPr>
            <a:spLocks noGrp="1"/>
          </p:cNvSpPr>
          <p:nvPr/>
        </p:nvSpPr>
        <p:spPr>
          <a:xfrm>
            <a:off x="762000" y="476250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1条控制链 · 1个落地动作单元</a:t>
            </a:r>
            <a:endParaRPr sz="25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02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090842" y="1479798"/>
            <a:ext cx="3333750" cy="2381250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企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业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安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全</a:t>
            </a:r>
            <a:endParaRPr sz="1100" dirty="0"/>
          </a:p>
          <a:p>
            <a:pPr>
              <a:lnSpc>
                <a:spcPct val="200000"/>
              </a:lnSpc>
            </a:pP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产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业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技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术</a:t>
            </a:r>
            <a:endParaRPr sz="1050" dirty="0"/>
          </a:p>
          <a:p>
            <a:pPr>
              <a:lnSpc>
                <a:spcPct val="200000"/>
              </a:lnSpc>
            </a:pP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团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队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交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流</a:t>
            </a:r>
            <a:endParaRPr lang="en-US" sz="1050" dirty="0"/>
          </a:p>
          <a:p>
            <a:pPr>
              <a:lnSpc>
                <a:spcPct val="200000"/>
              </a:lnSpc>
            </a:pP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成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果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输</a:t>
            </a:r>
            <a:r>
              <a:rPr lang="en-US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出</a:t>
            </a:r>
            <a:endParaRPr sz="16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夏令营给了广度，部门实践给了深度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3-image-frame"/>
          <p:cNvSpPr>
            <a:spLocks noGrp="1"/>
          </p:cNvSpPr>
          <p:nvPr/>
        </p:nvSpPr>
        <p:spPr>
          <a:xfrm>
            <a:off x="723900" y="1143000"/>
            <a:ext cx="6762750" cy="4229100"/>
          </a:xfrm>
          <a:prstGeom prst="rect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4716" r="4716"/>
          <a:stretch>
            <a:fillRect/>
          </a:stretch>
        </p:blipFill>
        <p:spPr>
          <a:xfrm>
            <a:off x="762000" y="1181100"/>
            <a:ext cx="6686550" cy="4152900"/>
          </a:xfrm>
          <a:prstGeom prst="rect">
            <a:avLst/>
          </a:prstGeom>
        </p:spPr>
      </p:pic>
      <p:sp>
        <p:nvSpPr>
          <p:cNvPr id="6" name="s03-tag"/>
          <p:cNvSpPr>
            <a:spLocks noGrp="1"/>
          </p:cNvSpPr>
          <p:nvPr/>
        </p:nvSpPr>
        <p:spPr>
          <a:xfrm>
            <a:off x="7810500" y="1123950"/>
            <a:ext cx="3614092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夏令营｜视野广度</a:t>
            </a:r>
            <a:endParaRPr sz="1600" b="1" dirty="0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3-dot-1"/>
          <p:cNvSpPr>
            <a:spLocks noGrp="1"/>
          </p:cNvSpPr>
          <p:nvPr/>
        </p:nvSpPr>
        <p:spPr>
          <a:xfrm>
            <a:off x="7739608" y="1688232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3-dot-2"/>
          <p:cNvSpPr>
            <a:spLocks noGrp="1"/>
          </p:cNvSpPr>
          <p:nvPr/>
        </p:nvSpPr>
        <p:spPr>
          <a:xfrm>
            <a:off x="7739608" y="2336304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3-dot-3"/>
          <p:cNvSpPr>
            <a:spLocks noGrp="1"/>
          </p:cNvSpPr>
          <p:nvPr/>
        </p:nvSpPr>
        <p:spPr>
          <a:xfrm>
            <a:off x="7752184" y="2984376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3-dot-4"/>
          <p:cNvSpPr>
            <a:spLocks noGrp="1"/>
          </p:cNvSpPr>
          <p:nvPr/>
        </p:nvSpPr>
        <p:spPr>
          <a:xfrm>
            <a:off x="7752184" y="3645024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3-callout-line"/>
          <p:cNvSpPr>
            <a:spLocks noGrp="1"/>
          </p:cNvSpPr>
          <p:nvPr/>
        </p:nvSpPr>
        <p:spPr>
          <a:xfrm>
            <a:off x="7810500" y="4310608"/>
            <a:ext cx="0" cy="9906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03-callout"/>
          <p:cNvSpPr>
            <a:spLocks noGrp="1"/>
          </p:cNvSpPr>
          <p:nvPr/>
        </p:nvSpPr>
        <p:spPr>
          <a:xfrm>
            <a:off x="8039100" y="4248150"/>
            <a:ext cx="3429000" cy="155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课程让我先理解一家制造企业为什么这样运转，再思考控制工程可以在哪些环节创造价值</a:t>
            </a:r>
            <a:r>
              <a:rPr sz="1575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575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 dirty="0" err="1">
                <a:solidFill>
                  <a:srgbClr val="595959"/>
                </a:solidFill>
                <a:latin typeface="微软雅黑" panose="020B0503020204020204" charset="-122"/>
              </a:rPr>
              <a:t>夏令营以开营讲座、产线参观、跨部门交流等形式，建立对企业整体运转的认知</a:t>
            </a:r>
            <a:r>
              <a:rPr sz="1200" b="0" dirty="0">
                <a:solidFill>
                  <a:srgbClr val="595959"/>
                </a:solidFill>
                <a:latin typeface="微软雅黑" panose="020B0503020204020204" charset="-122"/>
              </a:rPr>
              <a:t>。</a:t>
            </a:r>
            <a:endParaRPr sz="1200" b="0" dirty="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03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76300" y="4800600"/>
            <a:ext cx="4476750" cy="990600"/>
          </a:xfrm>
        </p:spPr>
        <p:txBody>
          <a:bodyPr/>
          <a:lstStyle/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每一步都为下一步服务：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先理解设备，才能安全、准确地修改动作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五个递进阶段，把学习压缩成一条技术路线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4-stage-line"/>
          <p:cNvSpPr>
            <a:spLocks noGrp="1"/>
          </p:cNvSpPr>
          <p:nvPr/>
        </p:nvSpPr>
        <p:spPr>
          <a:xfrm>
            <a:off x="1114425" y="1458094"/>
            <a:ext cx="13023" cy="2769096"/>
          </a:xfrm>
          <a:prstGeom prst="line">
            <a:avLst/>
          </a:prstGeom>
          <a:noFill/>
          <a:ln w="3810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04-stage-1"/>
          <p:cNvSpPr>
            <a:spLocks noGrp="1"/>
          </p:cNvSpPr>
          <p:nvPr/>
        </p:nvSpPr>
        <p:spPr>
          <a:xfrm>
            <a:off x="904875" y="126876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4-title-1"/>
          <p:cNvSpPr>
            <a:spLocks noGrp="1"/>
          </p:cNvSpPr>
          <p:nvPr/>
        </p:nvSpPr>
        <p:spPr>
          <a:xfrm>
            <a:off x="1524000" y="1276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现场认知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4-detail-1"/>
          <p:cNvSpPr>
            <a:spLocks noGrp="1"/>
          </p:cNvSpPr>
          <p:nvPr/>
        </p:nvSpPr>
        <p:spPr>
          <a:xfrm>
            <a:off x="1524000" y="1581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安全意识｜SUS合理化线｜UV贴膜线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4-stage-2"/>
          <p:cNvSpPr>
            <a:spLocks noGrp="1"/>
          </p:cNvSpPr>
          <p:nvPr/>
        </p:nvSpPr>
        <p:spPr>
          <a:xfrm>
            <a:off x="904875" y="1982738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4-title-2"/>
          <p:cNvSpPr>
            <a:spLocks noGrp="1"/>
          </p:cNvSpPr>
          <p:nvPr/>
        </p:nvSpPr>
        <p:spPr>
          <a:xfrm>
            <a:off x="1524000" y="19431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PLC与通信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4-detail-2"/>
          <p:cNvSpPr>
            <a:spLocks noGrp="1"/>
          </p:cNvSpPr>
          <p:nvPr/>
        </p:nvSpPr>
        <p:spPr>
          <a:xfrm>
            <a:off x="1524000" y="22479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梯形图｜I/O映射｜ST｜工业以太网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4-stage-3"/>
          <p:cNvSpPr>
            <a:spLocks noGrp="1"/>
          </p:cNvSpPr>
          <p:nvPr/>
        </p:nvSpPr>
        <p:spPr>
          <a:xfrm>
            <a:off x="904875" y="263081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4-title-3"/>
          <p:cNvSpPr>
            <a:spLocks noGrp="1"/>
          </p:cNvSpPr>
          <p:nvPr/>
        </p:nvSpPr>
        <p:spPr>
          <a:xfrm>
            <a:off x="1524000" y="2609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4-detail-3"/>
          <p:cNvSpPr>
            <a:spLocks noGrp="1"/>
          </p:cNvSpPr>
          <p:nvPr/>
        </p:nvSpPr>
        <p:spPr>
          <a:xfrm>
            <a:off x="1524000" y="2927226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示教器｜坐标系｜低速手动操作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4-stage-4"/>
          <p:cNvSpPr>
            <a:spLocks noGrp="1"/>
          </p:cNvSpPr>
          <p:nvPr/>
        </p:nvSpPr>
        <p:spPr>
          <a:xfrm>
            <a:off x="904875" y="3278882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4-title-4"/>
          <p:cNvSpPr>
            <a:spLocks noGrp="1"/>
          </p:cNvSpPr>
          <p:nvPr/>
        </p:nvSpPr>
        <p:spPr>
          <a:xfrm>
            <a:off x="1524000" y="32766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4-detail-4"/>
          <p:cNvSpPr>
            <a:spLocks noGrp="1"/>
          </p:cNvSpPr>
          <p:nvPr/>
        </p:nvSpPr>
        <p:spPr>
          <a:xfrm>
            <a:off x="1524000" y="35814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吸取、检测与动作衔接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04-stage-5"/>
          <p:cNvSpPr>
            <a:spLocks noGrp="1"/>
          </p:cNvSpPr>
          <p:nvPr/>
        </p:nvSpPr>
        <p:spPr>
          <a:xfrm>
            <a:off x="904875" y="3933056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4-title-5"/>
          <p:cNvSpPr>
            <a:spLocks noGrp="1"/>
          </p:cNvSpPr>
          <p:nvPr/>
        </p:nvSpPr>
        <p:spPr>
          <a:xfrm>
            <a:off x="1524000" y="3943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成果沉淀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4-detail-5"/>
          <p:cNvSpPr>
            <a:spLocks noGrp="1"/>
          </p:cNvSpPr>
          <p:nvPr/>
        </p:nvSpPr>
        <p:spPr>
          <a:xfrm>
            <a:off x="1524000" y="4248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资料整理与结业汇报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04-plan-frame"/>
          <p:cNvSpPr>
            <a:spLocks noGrp="1"/>
          </p:cNvSpPr>
          <p:nvPr/>
        </p:nvSpPr>
        <p:spPr>
          <a:xfrm>
            <a:off x="5810250" y="1123950"/>
            <a:ext cx="5657850" cy="4533900"/>
          </a:xfrm>
          <a:prstGeom prst="rect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rcRect t="27550" b="27550"/>
          <a:stretch>
            <a:fillRect/>
          </a:stretch>
        </p:blipFill>
        <p:spPr>
          <a:xfrm>
            <a:off x="5848350" y="1162050"/>
            <a:ext cx="5581650" cy="4457700"/>
          </a:xfrm>
          <a:prstGeom prst="rect">
            <a:avLst/>
          </a:prstGeom>
        </p:spPr>
      </p:pic>
      <p:sp>
        <p:nvSpPr>
          <p:cNvPr id="22" name="s04-image-tag"/>
          <p:cNvSpPr>
            <a:spLocks noGrp="1"/>
          </p:cNvSpPr>
          <p:nvPr/>
        </p:nvSpPr>
        <p:spPr>
          <a:xfrm>
            <a:off x="6191250" y="12573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部门实习计划｜技术深度</a:t>
            </a:r>
            <a:endParaRPr sz="1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04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57250" y="5476875"/>
            <a:ext cx="10287000" cy="868680"/>
          </a:xfrm>
        </p:spPr>
        <p:txBody>
          <a:bodyPr/>
          <a:lstStyle/>
          <a:p>
            <a:r>
              <a:rPr sz="14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过去知识没有直接给出答案，但让我更快提出正确问题</a:t>
            </a:r>
            <a:r>
              <a:rPr sz="14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dirty="0"/>
          </a:p>
          <a:p>
            <a:pPr algn="l"/>
            <a:r>
              <a:rPr sz="1300" b="0">
                <a:solidFill>
                  <a:srgbClr val="F5002F"/>
                </a:solidFill>
                <a:latin typeface="微软雅黑" panose="020B0503020204020204" charset="-122"/>
              </a:rPr>
              <a:t>三段经历叠加，让我在部门实践中不是从零起步，上手明显更快。</a:t>
            </a:r>
            <a:endParaRPr sz="1300" b="0">
              <a:solidFill>
                <a:srgbClr val="F5002F"/>
              </a:solidFill>
              <a:latin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三段既有经历，缩短了理解现场的路径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5-leftbar-0"/>
          <p:cNvSpPr>
            <a:spLocks noGrp="1"/>
          </p:cNvSpPr>
          <p:nvPr/>
        </p:nvSpPr>
        <p:spPr>
          <a:xfrm>
            <a:off x="838200" y="1409700"/>
            <a:ext cx="0" cy="867172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05-source-0"/>
          <p:cNvSpPr>
            <a:spLocks noGrp="1"/>
          </p:cNvSpPr>
          <p:nvPr/>
        </p:nvSpPr>
        <p:spPr>
          <a:xfrm>
            <a:off x="1104900" y="14097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本科PLC毕业设计</a:t>
            </a:r>
            <a:endParaRPr sz="21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5-source-detail-0"/>
          <p:cNvSpPr>
            <a:spLocks noGrp="1"/>
          </p:cNvSpPr>
          <p:nvPr/>
        </p:nvSpPr>
        <p:spPr>
          <a:xfrm>
            <a:off x="1104900" y="18669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紫菜处理与清洗生产线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5-arrow-0"/>
          <p:cNvSpPr>
            <a:spLocks noGrp="1"/>
          </p:cNvSpPr>
          <p:nvPr/>
        </p:nvSpPr>
        <p:spPr>
          <a:xfrm>
            <a:off x="4762500" y="15811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5-output-0"/>
          <p:cNvSpPr>
            <a:spLocks noGrp="1"/>
          </p:cNvSpPr>
          <p:nvPr/>
        </p:nvSpPr>
        <p:spPr>
          <a:xfrm>
            <a:off x="6019800" y="1447800"/>
            <a:ext cx="4953000" cy="723900"/>
          </a:xfrm>
          <a:prstGeom prst="rect">
            <a:avLst/>
          </a:prstGeom>
          <a:solidFill>
            <a:srgbClr val="E8F1FB"/>
          </a:solidFill>
          <a:ln w="12700">
            <a:solidFill>
              <a:srgbClr val="005BAC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快速回顾梯形图与顺序控制</a:t>
            </a:r>
            <a:endParaRPr sz="2175" b="1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5-rowline-0"/>
          <p:cNvSpPr>
            <a:spLocks noGrp="1"/>
          </p:cNvSpPr>
          <p:nvPr/>
        </p:nvSpPr>
        <p:spPr>
          <a:xfrm>
            <a:off x="857250" y="25146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05-leftbar-1"/>
          <p:cNvSpPr>
            <a:spLocks noGrp="1"/>
          </p:cNvSpPr>
          <p:nvPr/>
        </p:nvSpPr>
        <p:spPr>
          <a:xfrm>
            <a:off x="838200" y="2819400"/>
            <a:ext cx="0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05-source-1"/>
          <p:cNvSpPr>
            <a:spLocks noGrp="1"/>
          </p:cNvSpPr>
          <p:nvPr/>
        </p:nvSpPr>
        <p:spPr>
          <a:xfrm>
            <a:off x="1104900" y="28194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硕士</a:t>
            </a:r>
            <a:r>
              <a:rPr lang="zh-CN" altLang="en-US"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期间参与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国家级项目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5-source-detail-1"/>
          <p:cNvSpPr>
            <a:spLocks noGrp="1"/>
          </p:cNvSpPr>
          <p:nvPr/>
        </p:nvSpPr>
        <p:spPr>
          <a:xfrm>
            <a:off x="1104900" y="32766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八电机协同控制空间球体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5-arrow-1"/>
          <p:cNvSpPr>
            <a:spLocks noGrp="1"/>
          </p:cNvSpPr>
          <p:nvPr/>
        </p:nvSpPr>
        <p:spPr>
          <a:xfrm>
            <a:off x="4762500" y="29908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5-output-1"/>
          <p:cNvSpPr>
            <a:spLocks noGrp="1"/>
          </p:cNvSpPr>
          <p:nvPr/>
        </p:nvSpPr>
        <p:spPr>
          <a:xfrm>
            <a:off x="6019800" y="2857500"/>
            <a:ext cx="4953000" cy="723900"/>
          </a:xfrm>
          <a:prstGeom prst="rect">
            <a:avLst/>
          </a:prstGeom>
          <a:solidFill>
            <a:srgbClr val="E8F1FB"/>
          </a:solidFill>
          <a:ln w="12700">
            <a:solidFill>
              <a:srgbClr val="005BAC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理解多执行器协同与通信</a:t>
            </a:r>
            <a:endParaRPr sz="2175" b="1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5-rowline-1"/>
          <p:cNvSpPr>
            <a:spLocks noGrp="1"/>
          </p:cNvSpPr>
          <p:nvPr/>
        </p:nvSpPr>
        <p:spPr>
          <a:xfrm>
            <a:off x="857250" y="39243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05-leftbar-2"/>
          <p:cNvSpPr>
            <a:spLocks noGrp="1"/>
          </p:cNvSpPr>
          <p:nvPr/>
        </p:nvSpPr>
        <p:spPr>
          <a:xfrm flipH="1">
            <a:off x="838199" y="4229100"/>
            <a:ext cx="1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05-source-2"/>
          <p:cNvSpPr>
            <a:spLocks noGrp="1"/>
          </p:cNvSpPr>
          <p:nvPr/>
        </p:nvSpPr>
        <p:spPr>
          <a:xfrm>
            <a:off x="1104900" y="42291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硕士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研究方向：惯性导航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5-source-detail-2"/>
          <p:cNvSpPr>
            <a:spLocks noGrp="1"/>
          </p:cNvSpPr>
          <p:nvPr/>
        </p:nvSpPr>
        <p:spPr>
          <a:xfrm>
            <a:off x="1104900" y="46863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坐标变换与姿态表达</a:t>
            </a:r>
            <a:endParaRPr sz="1425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5-arrow-2"/>
          <p:cNvSpPr>
            <a:spLocks noGrp="1"/>
          </p:cNvSpPr>
          <p:nvPr/>
        </p:nvSpPr>
        <p:spPr>
          <a:xfrm>
            <a:off x="4762500" y="44005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05-output-2"/>
          <p:cNvSpPr>
            <a:spLocks noGrp="1"/>
          </p:cNvSpPr>
          <p:nvPr/>
        </p:nvSpPr>
        <p:spPr>
          <a:xfrm>
            <a:off x="6019800" y="4267200"/>
            <a:ext cx="4953000" cy="723900"/>
          </a:xfrm>
          <a:prstGeom prst="rect">
            <a:avLst/>
          </a:prstGeom>
          <a:solidFill>
            <a:srgbClr val="E8F1FB"/>
          </a:solidFill>
          <a:ln w="12700">
            <a:solidFill>
              <a:srgbClr val="005BAC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 dirty="0" err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快速吸收世界</a:t>
            </a:r>
            <a:r>
              <a:rPr sz="2175" b="1" dirty="0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/TCP/</a:t>
            </a:r>
            <a:r>
              <a:rPr sz="2175" b="1" dirty="0" err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用户坐标系</a:t>
            </a:r>
            <a:endParaRPr sz="2175" b="1" dirty="0">
              <a:solidFill>
                <a:srgbClr val="1D22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05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38200" y="1714500"/>
            <a:ext cx="2809528" cy="247650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200000"/>
              </a:lnSpc>
            </a:pPr>
            <a:r>
              <a:rPr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SUS合理化线</a:t>
            </a:r>
            <a:endParaRPr sz="2400" dirty="0"/>
          </a:p>
          <a:p>
            <a:pPr algn="ctr">
              <a:lnSpc>
                <a:spcPct val="200000"/>
              </a:lnSpc>
            </a:pPr>
            <a:r>
              <a:rPr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UV贴膜自动化线</a:t>
            </a:r>
            <a:endParaRPr sz="2400" dirty="0"/>
          </a:p>
          <a:p>
            <a:pPr algn="ctr">
              <a:lnSpc>
                <a:spcPct val="200000"/>
              </a:lnSpc>
            </a:pPr>
            <a:r>
              <a:rPr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常见电气部品</a:t>
            </a:r>
            <a:endParaRPr sz="2400" dirty="0"/>
          </a:p>
          <a:p>
            <a:pPr algn="ctr">
              <a:lnSpc>
                <a:spcPct val="200000"/>
              </a:lnSpc>
            </a:pPr>
            <a:r>
              <a:rPr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生产线执行元件</a:t>
            </a:r>
            <a:endParaRPr sz="24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从认识部品开始，我看见了“感知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控制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sz="28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sz="28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dirty="0"/>
          </a:p>
        </p:txBody>
      </p:sp>
      <p:sp>
        <p:nvSpPr>
          <p:cNvPr id="4" name="s06-tag"/>
          <p:cNvSpPr>
            <a:spLocks noGrp="1"/>
          </p:cNvSpPr>
          <p:nvPr/>
        </p:nvSpPr>
        <p:spPr>
          <a:xfrm>
            <a:off x="838200" y="1200150"/>
            <a:ext cx="280952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现场见学</a:t>
            </a:r>
            <a:endParaRPr sz="1500" b="1" dirty="0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6-chain-line"/>
          <p:cNvSpPr>
            <a:spLocks noGrp="1"/>
          </p:cNvSpPr>
          <p:nvPr/>
        </p:nvSpPr>
        <p:spPr>
          <a:xfrm>
            <a:off x="876300" y="4686300"/>
            <a:ext cx="32004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06-chain"/>
          <p:cNvSpPr>
            <a:spLocks noGrp="1"/>
          </p:cNvSpPr>
          <p:nvPr/>
        </p:nvSpPr>
        <p:spPr>
          <a:xfrm>
            <a:off x="838200" y="485775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</a:t>
            </a:r>
            <a:r>
              <a:rPr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→  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</a:t>
            </a:r>
            <a:r>
              <a:rPr sz="2100" b="1" dirty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→  </a:t>
            </a:r>
            <a:r>
              <a:rPr sz="2100" b="1" dirty="0" err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endParaRPr sz="2100" b="1" dirty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6-chain-detail"/>
          <p:cNvSpPr>
            <a:spLocks noGrp="1"/>
          </p:cNvSpPr>
          <p:nvPr/>
        </p:nvSpPr>
        <p:spPr>
          <a:xfrm>
            <a:off x="857250" y="53149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</a:t>
            </a:r>
            <a:r>
              <a:rPr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 </a:t>
            </a:r>
            <a:r>
              <a:rPr lang="en-US"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PLC/</a:t>
            </a:r>
            <a:r>
              <a:rPr sz="12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</a:t>
            </a:r>
            <a:r>
              <a:rPr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en-US"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200" dirty="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机构与机器人</a:t>
            </a:r>
            <a:endParaRPr sz="120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l="8881" r="8881"/>
          <a:stretch>
            <a:fillRect/>
          </a:stretch>
        </p:blipFill>
        <p:spPr>
          <a:xfrm>
            <a:off x="4648200" y="1104900"/>
            <a:ext cx="6819900" cy="46672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06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38200" y="5467350"/>
            <a:ext cx="10287000" cy="457200"/>
          </a:xfrm>
        </p:spPr>
        <p:txBody>
          <a:bodyPr>
            <a:normAutofit/>
          </a:bodyPr>
          <a:lstStyle/>
          <a:p>
            <a:r>
              <a:rPr sz="20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当变量能够对应到设备状态，程序才真正成为产线行为的说明书</a:t>
            </a:r>
            <a:r>
              <a:rPr sz="2000" b="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2800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PLC学习的重点，从“会写指令”转向“看懂设备状态”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7-day"/>
          <p:cNvSpPr>
            <a:spLocks noGrp="1"/>
          </p:cNvSpPr>
          <p:nvPr/>
        </p:nvSpPr>
        <p:spPr>
          <a:xfrm>
            <a:off x="857250" y="1257300"/>
            <a:ext cx="171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1天</a:t>
            </a:r>
            <a:endParaRPr sz="4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7-day-detail"/>
          <p:cNvSpPr>
            <a:spLocks noGrp="1"/>
          </p:cNvSpPr>
          <p:nvPr/>
        </p:nvSpPr>
        <p:spPr>
          <a:xfrm>
            <a:off x="876300" y="20764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完成梯形图基础回顾</a:t>
            </a:r>
            <a:endParaRPr sz="13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7-flow"/>
          <p:cNvSpPr>
            <a:spLocks noGrp="1"/>
          </p:cNvSpPr>
          <p:nvPr/>
        </p:nvSpPr>
        <p:spPr>
          <a:xfrm>
            <a:off x="2667000" y="2857500"/>
            <a:ext cx="7810500" cy="9525"/>
          </a:xfrm>
          <a:prstGeom prst="line">
            <a:avLst/>
          </a:prstGeom>
          <a:noFill/>
          <a:ln w="28575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07-num-0"/>
          <p:cNvSpPr>
            <a:spLocks noGrp="1"/>
          </p:cNvSpPr>
          <p:nvPr/>
        </p:nvSpPr>
        <p:spPr>
          <a:xfrm>
            <a:off x="2667000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7-title-0"/>
          <p:cNvSpPr>
            <a:spLocks noGrp="1"/>
          </p:cNvSpPr>
          <p:nvPr/>
        </p:nvSpPr>
        <p:spPr>
          <a:xfrm>
            <a:off x="2667000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梯形图回顾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7-detail-0"/>
          <p:cNvSpPr>
            <a:spLocks noGrp="1"/>
          </p:cNvSpPr>
          <p:nvPr/>
        </p:nvSpPr>
        <p:spPr>
          <a:xfrm>
            <a:off x="2667000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快速恢复顺序控制语感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7-num-1"/>
          <p:cNvSpPr>
            <a:spLocks noGrp="1"/>
          </p:cNvSpPr>
          <p:nvPr/>
        </p:nvSpPr>
        <p:spPr>
          <a:xfrm>
            <a:off x="4810125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7-title-1"/>
          <p:cNvSpPr>
            <a:spLocks noGrp="1"/>
          </p:cNvSpPr>
          <p:nvPr/>
        </p:nvSpPr>
        <p:spPr>
          <a:xfrm>
            <a:off x="4810125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I/O映射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7-detail-1"/>
          <p:cNvSpPr>
            <a:spLocks noGrp="1"/>
          </p:cNvSpPr>
          <p:nvPr/>
        </p:nvSpPr>
        <p:spPr>
          <a:xfrm>
            <a:off x="4810125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变量与真实设备一一对应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7-num-2"/>
          <p:cNvSpPr>
            <a:spLocks noGrp="1"/>
          </p:cNvSpPr>
          <p:nvPr/>
        </p:nvSpPr>
        <p:spPr>
          <a:xfrm>
            <a:off x="6953250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7-title-2"/>
          <p:cNvSpPr>
            <a:spLocks noGrp="1"/>
          </p:cNvSpPr>
          <p:nvPr/>
        </p:nvSpPr>
        <p:spPr>
          <a:xfrm>
            <a:off x="6953250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ST编程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7-detail-2"/>
          <p:cNvSpPr>
            <a:spLocks noGrp="1"/>
          </p:cNvSpPr>
          <p:nvPr/>
        </p:nvSpPr>
        <p:spPr>
          <a:xfrm>
            <a:off x="6953250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结构化表达复杂逻辑</a:t>
            </a:r>
            <a:endParaRPr sz="135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7-num-3"/>
          <p:cNvSpPr>
            <a:spLocks noGrp="1"/>
          </p:cNvSpPr>
          <p:nvPr/>
        </p:nvSpPr>
        <p:spPr>
          <a:xfrm>
            <a:off x="9096375" y="2476500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2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07-title-3"/>
          <p:cNvSpPr>
            <a:spLocks noGrp="1"/>
          </p:cNvSpPr>
          <p:nvPr/>
        </p:nvSpPr>
        <p:spPr>
          <a:xfrm>
            <a:off x="9096375" y="3086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激光测距读取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7-detail-3"/>
          <p:cNvSpPr>
            <a:spLocks noGrp="1"/>
          </p:cNvSpPr>
          <p:nvPr/>
        </p:nvSpPr>
        <p:spPr>
          <a:xfrm>
            <a:off x="9096375" y="3600450"/>
            <a:ext cx="1952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让传感信息成为动作依据</a:t>
            </a:r>
            <a:endParaRPr sz="135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7-result-line"/>
          <p:cNvSpPr>
            <a:spLocks noGrp="1"/>
          </p:cNvSpPr>
          <p:nvPr/>
        </p:nvSpPr>
        <p:spPr>
          <a:xfrm>
            <a:off x="838200" y="50101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Rectangle 19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07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536" y="1124744"/>
            <a:ext cx="7896225" cy="4444365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工业通信让我从“单机控制”走向“设备协同”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08-p1"/>
          <p:cNvSpPr>
            <a:spLocks noGrp="1"/>
          </p:cNvSpPr>
          <p:nvPr/>
        </p:nvSpPr>
        <p:spPr>
          <a:xfrm>
            <a:off x="1562100" y="10287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EtherCAT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8-p2"/>
          <p:cNvSpPr>
            <a:spLocks noGrp="1"/>
          </p:cNvSpPr>
          <p:nvPr/>
        </p:nvSpPr>
        <p:spPr>
          <a:xfrm>
            <a:off x="4572000" y="1028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EtherNet/IP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8-p3"/>
          <p:cNvSpPr>
            <a:spLocks noGrp="1"/>
          </p:cNvSpPr>
          <p:nvPr/>
        </p:nvSpPr>
        <p:spPr>
          <a:xfrm>
            <a:off x="7639050" y="1028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Modbus TCP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8-result-line"/>
          <p:cNvSpPr>
            <a:spLocks noGrp="1"/>
          </p:cNvSpPr>
          <p:nvPr/>
        </p:nvSpPr>
        <p:spPr>
          <a:xfrm>
            <a:off x="876300" y="5257800"/>
            <a:ext cx="1038225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08-result"/>
          <p:cNvSpPr>
            <a:spLocks noGrp="1"/>
          </p:cNvSpPr>
          <p:nvPr/>
        </p:nvSpPr>
        <p:spPr>
          <a:xfrm>
            <a:off x="876300" y="54102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传感器给状态，PLC做判断，网络传指令，机器人完成动作。</a:t>
            </a:r>
            <a:endParaRPr sz="20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08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239125" y="1428750"/>
            <a:ext cx="3105150" cy="3333750"/>
          </a:xfrm>
        </p:spPr>
        <p:txBody>
          <a:bodyPr/>
          <a:lstStyle/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世界坐标系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整机运动的统一基准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sz="1400"/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工具坐标系（TCP）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吸嘴末端的位置与姿态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sz="1400"/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用户坐标系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面向PCB工作平面的局部基准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坐标系一旦统一，机器人动作才可被准确描述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5780" r="5780"/>
          <a:stretch>
            <a:fillRect/>
          </a:stretch>
        </p:blipFill>
        <p:spPr>
          <a:xfrm>
            <a:off x="723900" y="1143000"/>
            <a:ext cx="7124700" cy="4533900"/>
          </a:xfrm>
          <a:prstGeom prst="rect">
            <a:avLst/>
          </a:prstGeom>
        </p:spPr>
      </p:pic>
      <p:sp>
        <p:nvSpPr>
          <p:cNvPr id="5" name="s09-callout-line"/>
          <p:cNvSpPr>
            <a:spLocks noGrp="1"/>
          </p:cNvSpPr>
          <p:nvPr/>
        </p:nvSpPr>
        <p:spPr>
          <a:xfrm>
            <a:off x="8239125" y="4884390"/>
            <a:ext cx="0" cy="70485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09-callout"/>
          <p:cNvSpPr>
            <a:spLocks noGrp="1"/>
          </p:cNvSpPr>
          <p:nvPr/>
        </p:nvSpPr>
        <p:spPr>
          <a:xfrm>
            <a:off x="8439150" y="4972050"/>
            <a:ext cx="285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惯性导航研究帮助我快速建立坐标变换与姿态表达思维。</a:t>
            </a:r>
            <a:endParaRPr sz="14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09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4444" y="822960"/>
            <a:ext cx="7480062" cy="4206240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双点检测位于整条贴片与加压流程的关键衔接处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10-label-0"/>
          <p:cNvSpPr>
            <a:spLocks noGrp="1"/>
          </p:cNvSpPr>
          <p:nvPr/>
        </p:nvSpPr>
        <p:spPr>
          <a:xfrm>
            <a:off x="781050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贴片完成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10-label-1"/>
          <p:cNvSpPr>
            <a:spLocks noGrp="1"/>
          </p:cNvSpPr>
          <p:nvPr/>
        </p:nvSpPr>
        <p:spPr>
          <a:xfrm>
            <a:off x="2562225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激光测高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0-label-2"/>
          <p:cNvSpPr>
            <a:spLocks noGrp="1"/>
          </p:cNvSpPr>
          <p:nvPr/>
        </p:nvSpPr>
        <p:spPr>
          <a:xfrm>
            <a:off x="4343400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吸嘴取膜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0-label-3"/>
          <p:cNvSpPr>
            <a:spLocks noGrp="1"/>
          </p:cNvSpPr>
          <p:nvPr/>
        </p:nvSpPr>
        <p:spPr>
          <a:xfrm>
            <a:off x="6124575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取膜检测</a:t>
            </a:r>
            <a:endParaRPr sz="12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0-label-4"/>
          <p:cNvSpPr>
            <a:spLocks noGrp="1"/>
          </p:cNvSpPr>
          <p:nvPr/>
        </p:nvSpPr>
        <p:spPr>
          <a:xfrm>
            <a:off x="7905750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膜材贴合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0-label-5"/>
          <p:cNvSpPr>
            <a:spLocks noGrp="1"/>
          </p:cNvSpPr>
          <p:nvPr/>
        </p:nvSpPr>
        <p:spPr>
          <a:xfrm>
            <a:off x="9686925" y="1066800"/>
            <a:ext cx="1638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 进入加压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0-task-line"/>
          <p:cNvSpPr>
            <a:spLocks noGrp="1"/>
          </p:cNvSpPr>
          <p:nvPr/>
        </p:nvSpPr>
        <p:spPr>
          <a:xfrm>
            <a:off x="838200" y="5343872"/>
            <a:ext cx="1216" cy="533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10-task-tag"/>
          <p:cNvSpPr>
            <a:spLocks noGrp="1"/>
          </p:cNvSpPr>
          <p:nvPr/>
        </p:nvSpPr>
        <p:spPr>
          <a:xfrm>
            <a:off x="1066800" y="5074920"/>
            <a:ext cx="214888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改造任务：单点 → 双点</a:t>
            </a:r>
            <a:endParaRPr sz="1425" b="1" dirty="0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10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5440680"/>
            <a:ext cx="3611880" cy="868680"/>
          </a:xfrm>
          <a:prstGeom prst="roundRect">
            <a:avLst/>
          </a:prstGeom>
          <a:solidFill>
            <a:srgbClr val="FFE3E8"/>
          </a:solidFill>
          <a:ln w="15875">
            <a:solidFill>
              <a:srgbClr val="F50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F5002F"/>
                </a:solidFill>
                <a:latin typeface="Microsoft YaHei"/>
              </a:rPr>
              <a:t>为什么改造</a:t>
            </a:r>
          </a:p>
          <a:p>
            <a:r>
              <a:rPr sz="1100">
                <a:solidFill>
                  <a:srgbClr val="595959"/>
                </a:solidFill>
                <a:latin typeface="Microsoft YaHei"/>
              </a:rPr>
              <a:t>原单点检测仅检右上角，静电吸附易造成多张膜漏检。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88536" y="5440680"/>
            <a:ext cx="3611880" cy="8686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005BAC"/>
                </a:solidFill>
                <a:latin typeface="Microsoft YaHei"/>
              </a:rPr>
              <a:t>解决的困境</a:t>
            </a:r>
          </a:p>
          <a:p>
            <a:r>
              <a:rPr sz="1100">
                <a:solidFill>
                  <a:srgbClr val="595959"/>
                </a:solidFill>
                <a:latin typeface="Microsoft YaHei"/>
              </a:rPr>
              <a:t>新增左上角检测，双角点互验，杜绝多张膜流入贴片与加压。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2" y="5440680"/>
            <a:ext cx="3611880" cy="868680"/>
          </a:xfrm>
          <a:prstGeom prst="roundRect">
            <a:avLst/>
          </a:prstGeom>
          <a:solidFill>
            <a:srgbClr val="FFE3E8"/>
          </a:solidFill>
          <a:ln w="15875">
            <a:solidFill>
              <a:srgbClr val="F50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300" b="1">
                <a:solidFill>
                  <a:srgbClr val="F5002F"/>
                </a:solidFill>
                <a:latin typeface="Microsoft YaHei"/>
              </a:rPr>
              <a:t>成功率提升</a:t>
            </a:r>
          </a:p>
          <a:p>
            <a:r>
              <a:rPr sz="1100">
                <a:solidFill>
                  <a:srgbClr val="595959"/>
                </a:solidFill>
                <a:latin typeface="Microsoft YaHei"/>
              </a:rPr>
              <a:t>单/多张判别可靠性显著提升（实测成功率：___ %）。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原流程只检右上角，新增左上角扩大检测覆盖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11-original-heading"/>
          <p:cNvSpPr>
            <a:spLocks noGrp="1"/>
          </p:cNvSpPr>
          <p:nvPr/>
        </p:nvSpPr>
        <p:spPr>
          <a:xfrm>
            <a:off x="876300" y="1162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原流程｜一次检测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11-target-heading"/>
          <p:cNvSpPr>
            <a:spLocks noGrp="1"/>
          </p:cNvSpPr>
          <p:nvPr/>
        </p:nvSpPr>
        <p:spPr>
          <a:xfrm>
            <a:off x="6267450" y="1162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目标流程｜两次检测</a:t>
            </a:r>
            <a:endParaRPr sz="18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1-vline"/>
          <p:cNvSpPr>
            <a:spLocks noGrp="1"/>
          </p:cNvSpPr>
          <p:nvPr/>
        </p:nvSpPr>
        <p:spPr>
          <a:xfrm>
            <a:off x="5905500" y="1162050"/>
            <a:ext cx="9525" cy="30480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11-o-arrow-0"/>
          <p:cNvSpPr>
            <a:spLocks noGrp="1"/>
          </p:cNvSpPr>
          <p:nvPr/>
        </p:nvSpPr>
        <p:spPr>
          <a:xfrm>
            <a:off x="1943100" y="2333625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1-o-arrow-1"/>
          <p:cNvSpPr>
            <a:spLocks noGrp="1"/>
          </p:cNvSpPr>
          <p:nvPr/>
        </p:nvSpPr>
        <p:spPr>
          <a:xfrm>
            <a:off x="3771900" y="2333625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1-o-node-0"/>
          <p:cNvSpPr>
            <a:spLocks noGrp="1"/>
          </p:cNvSpPr>
          <p:nvPr/>
        </p:nvSpPr>
        <p:spPr>
          <a:xfrm>
            <a:off x="10668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原点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1-o-node-1"/>
          <p:cNvSpPr>
            <a:spLocks noGrp="1"/>
          </p:cNvSpPr>
          <p:nvPr/>
        </p:nvSpPr>
        <p:spPr>
          <a:xfrm>
            <a:off x="28956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右上角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1-o-node-2"/>
          <p:cNvSpPr>
            <a:spLocks noGrp="1"/>
          </p:cNvSpPr>
          <p:nvPr/>
        </p:nvSpPr>
        <p:spPr>
          <a:xfrm>
            <a:off x="47244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1-t-arrow-0"/>
          <p:cNvSpPr>
            <a:spLocks noGrp="1"/>
          </p:cNvSpPr>
          <p:nvPr/>
        </p:nvSpPr>
        <p:spPr>
          <a:xfrm>
            <a:off x="69532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1-t-arrow-1"/>
          <p:cNvSpPr>
            <a:spLocks noGrp="1"/>
          </p:cNvSpPr>
          <p:nvPr/>
        </p:nvSpPr>
        <p:spPr>
          <a:xfrm>
            <a:off x="79819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1-t-arrow-2"/>
          <p:cNvSpPr>
            <a:spLocks noGrp="1"/>
          </p:cNvSpPr>
          <p:nvPr/>
        </p:nvSpPr>
        <p:spPr>
          <a:xfrm>
            <a:off x="90106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1-t-arrow-3"/>
          <p:cNvSpPr>
            <a:spLocks noGrp="1"/>
          </p:cNvSpPr>
          <p:nvPr/>
        </p:nvSpPr>
        <p:spPr>
          <a:xfrm>
            <a:off x="100393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1-t-node-0"/>
          <p:cNvSpPr>
            <a:spLocks noGrp="1"/>
          </p:cNvSpPr>
          <p:nvPr/>
        </p:nvSpPr>
        <p:spPr>
          <a:xfrm>
            <a:off x="63055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11-t-node-1"/>
          <p:cNvSpPr>
            <a:spLocks noGrp="1"/>
          </p:cNvSpPr>
          <p:nvPr/>
        </p:nvSpPr>
        <p:spPr>
          <a:xfrm>
            <a:off x="73342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1-t-node-2"/>
          <p:cNvSpPr>
            <a:spLocks noGrp="1"/>
          </p:cNvSpPr>
          <p:nvPr/>
        </p:nvSpPr>
        <p:spPr>
          <a:xfrm>
            <a:off x="83629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11-t-node-3"/>
          <p:cNvSpPr>
            <a:spLocks noGrp="1"/>
          </p:cNvSpPr>
          <p:nvPr/>
        </p:nvSpPr>
        <p:spPr>
          <a:xfrm>
            <a:off x="93916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11-t-node-4"/>
          <p:cNvSpPr>
            <a:spLocks noGrp="1"/>
          </p:cNvSpPr>
          <p:nvPr/>
        </p:nvSpPr>
        <p:spPr>
          <a:xfrm>
            <a:off x="104203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11-target-detail"/>
          <p:cNvSpPr>
            <a:spLocks noGrp="1"/>
          </p:cNvSpPr>
          <p:nvPr/>
        </p:nvSpPr>
        <p:spPr>
          <a:xfrm>
            <a:off x="6324600" y="31432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原点 → 右上角 → 原点 → 左上角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11-bottom-line"/>
          <p:cNvSpPr>
            <a:spLocks noGrp="1"/>
          </p:cNvSpPr>
          <p:nvPr/>
        </p:nvSpPr>
        <p:spPr>
          <a:xfrm>
            <a:off x="876300" y="39433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11-bottom-heading"/>
          <p:cNvSpPr>
            <a:spLocks noGrp="1"/>
          </p:cNvSpPr>
          <p:nvPr/>
        </p:nvSpPr>
        <p:spPr>
          <a:xfrm>
            <a:off x="876300" y="41338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变化只有一个检测点，工程影响涉及三件事</a:t>
            </a:r>
            <a:endParaRPr sz="20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11-impact-title-0"/>
          <p:cNvSpPr>
            <a:spLocks noGrp="1"/>
          </p:cNvSpPr>
          <p:nvPr/>
        </p:nvSpPr>
        <p:spPr>
          <a:xfrm>
            <a:off x="895350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检测覆盖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1-impact-detail-0"/>
          <p:cNvSpPr>
            <a:spLocks noGrp="1"/>
          </p:cNvSpPr>
          <p:nvPr/>
        </p:nvSpPr>
        <p:spPr>
          <a:xfrm>
            <a:off x="895350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 err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两个角点提供更完整的局部信息</a:t>
            </a:r>
            <a:endParaRPr sz="1350" dirty="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11-impact-divider-1"/>
          <p:cNvSpPr>
            <a:spLocks noGrp="1"/>
          </p:cNvSpPr>
          <p:nvPr/>
        </p:nvSpPr>
        <p:spPr>
          <a:xfrm>
            <a:off x="4124326" y="4705350"/>
            <a:ext cx="0" cy="9906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11-impact-title-1"/>
          <p:cNvSpPr>
            <a:spLocks noGrp="1"/>
          </p:cNvSpPr>
          <p:nvPr/>
        </p:nvSpPr>
        <p:spPr>
          <a:xfrm>
            <a:off x="4371975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路径复现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11-impact-detail-1"/>
          <p:cNvSpPr>
            <a:spLocks noGrp="1"/>
          </p:cNvSpPr>
          <p:nvPr/>
        </p:nvSpPr>
        <p:spPr>
          <a:xfrm>
            <a:off x="4371975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以P0作为统一中间位置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11-impact-divider-2"/>
          <p:cNvSpPr>
            <a:spLocks noGrp="1"/>
          </p:cNvSpPr>
          <p:nvPr/>
        </p:nvSpPr>
        <p:spPr>
          <a:xfrm>
            <a:off x="7600950" y="4705350"/>
            <a:ext cx="1" cy="9906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11-impact-title-2"/>
          <p:cNvSpPr>
            <a:spLocks noGrp="1"/>
          </p:cNvSpPr>
          <p:nvPr/>
        </p:nvSpPr>
        <p:spPr>
          <a:xfrm>
            <a:off x="7848600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流程衔接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11-impact-detail-2"/>
          <p:cNvSpPr>
            <a:spLocks noGrp="1"/>
          </p:cNvSpPr>
          <p:nvPr/>
        </p:nvSpPr>
        <p:spPr>
          <a:xfrm>
            <a:off x="7848600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通过后继续原有贴膜与加压动作</a:t>
            </a:r>
            <a:endParaRPr sz="1350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11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6_双点检测_P0至P1返回再至P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970" y="916305"/>
            <a:ext cx="8143875" cy="4583430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“P0—P1—P0—P2”构成可验证的稳定路径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12-bottom-rule"/>
          <p:cNvSpPr>
            <a:spLocks noGrp="1"/>
          </p:cNvSpPr>
          <p:nvPr/>
        </p:nvSpPr>
        <p:spPr>
          <a:xfrm>
            <a:off x="876300" y="55816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12-bottom"/>
          <p:cNvSpPr>
            <a:spLocks noGrp="1"/>
          </p:cNvSpPr>
          <p:nvPr/>
        </p:nvSpPr>
        <p:spPr>
          <a:xfrm>
            <a:off x="876300" y="56959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P0既是取膜后的起始位置，也是两次检测之间的统一中间位置。</a:t>
            </a:r>
            <a:endParaRPr sz="16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12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>
            <a:hlinkClick r:id="rId2" action="ppaction://hlinkfile"/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46920" y="1051560"/>
            <a:ext cx="2331720" cy="1051560"/>
          </a:xfrm>
          <a:prstGeom prst="roundRect">
            <a:avLst/>
          </a:prstGeom>
          <a:solidFill>
            <a:srgbClr val="FFE3E8"/>
          </a:solidFill>
          <a:ln w="15875">
            <a:solidFill>
              <a:srgbClr val="F50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200" b="1" dirty="0">
                <a:solidFill>
                  <a:srgbClr val="F5002F"/>
                </a:solidFill>
                <a:latin typeface="微软雅黑" panose="020B0503020204020204" charset="-122"/>
              </a:rPr>
              <a:t>▶ </a:t>
            </a:r>
            <a:r>
              <a:rPr sz="1200" b="1" dirty="0" err="1">
                <a:solidFill>
                  <a:srgbClr val="F5002F"/>
                </a:solidFill>
                <a:latin typeface="微软雅黑" panose="020B0503020204020204" charset="-122"/>
              </a:rPr>
              <a:t>现场演示</a:t>
            </a:r>
            <a:endParaRPr sz="1200" b="1" dirty="0">
              <a:solidFill>
                <a:srgbClr val="F5002F"/>
              </a:solidFill>
              <a:latin typeface="微软雅黑" panose="020B0503020204020204" charset="-122"/>
            </a:endParaRPr>
          </a:p>
          <a:p>
            <a:pPr algn="ctr"/>
            <a:r>
              <a:rPr sz="1200" b="0" dirty="0" err="1">
                <a:solidFill>
                  <a:srgbClr val="F5002F"/>
                </a:solidFill>
                <a:latin typeface="微软雅黑" panose="020B0503020204020204" charset="-122"/>
              </a:rPr>
              <a:t>双点检测动作</a:t>
            </a:r>
            <a:endParaRPr sz="1200" b="0" dirty="0">
              <a:solidFill>
                <a:srgbClr val="F5002F"/>
              </a:solidFill>
              <a:latin typeface="微软雅黑" panose="020B0503020204020204" charset="-122"/>
            </a:endParaRPr>
          </a:p>
          <a:p>
            <a:pPr algn="ctr"/>
            <a:r>
              <a:rPr sz="1200" b="0" dirty="0" err="1">
                <a:solidFill>
                  <a:srgbClr val="F5002F"/>
                </a:solidFill>
                <a:latin typeface="微软雅黑" panose="020B0503020204020204" charset="-122"/>
              </a:rPr>
              <a:t>适配视频</a:t>
            </a:r>
            <a:endParaRPr sz="1200" b="0" dirty="0">
              <a:solidFill>
                <a:srgbClr val="F5002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现场调试先确认安全、位置与顺序，再谈速度</a:t>
            </a:r>
            <a:endParaRPr sz="2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13-timeline"/>
          <p:cNvSpPr>
            <a:spLocks noGrp="1"/>
          </p:cNvSpPr>
          <p:nvPr/>
        </p:nvSpPr>
        <p:spPr>
          <a:xfrm>
            <a:off x="1257300" y="1371600"/>
            <a:ext cx="9525" cy="3752850"/>
          </a:xfrm>
          <a:prstGeom prst="line">
            <a:avLst/>
          </a:prstGeom>
          <a:noFill/>
          <a:ln w="38100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13-step-0"/>
          <p:cNvSpPr>
            <a:spLocks noGrp="1"/>
          </p:cNvSpPr>
          <p:nvPr/>
        </p:nvSpPr>
        <p:spPr>
          <a:xfrm>
            <a:off x="1047750" y="12001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3-title-0"/>
          <p:cNvSpPr>
            <a:spLocks noGrp="1"/>
          </p:cNvSpPr>
          <p:nvPr/>
        </p:nvSpPr>
        <p:spPr>
          <a:xfrm>
            <a:off x="1714500" y="11811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明确P0 / P1 / P2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3-detail-0"/>
          <p:cNvSpPr>
            <a:spLocks noGrp="1"/>
          </p:cNvSpPr>
          <p:nvPr/>
        </p:nvSpPr>
        <p:spPr>
          <a:xfrm>
            <a:off x="1714500" y="15240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先定义统一原点与两个检测位置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3-step-1"/>
          <p:cNvSpPr>
            <a:spLocks noGrp="1"/>
          </p:cNvSpPr>
          <p:nvPr/>
        </p:nvSpPr>
        <p:spPr>
          <a:xfrm>
            <a:off x="1047750" y="20383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3-title-1"/>
          <p:cNvSpPr>
            <a:spLocks noGrp="1"/>
          </p:cNvSpPr>
          <p:nvPr/>
        </p:nvSpPr>
        <p:spPr>
          <a:xfrm>
            <a:off x="1714500" y="20193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低速确认XYZ与姿态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3-detail-1"/>
          <p:cNvSpPr>
            <a:spLocks noGrp="1"/>
          </p:cNvSpPr>
          <p:nvPr/>
        </p:nvSpPr>
        <p:spPr>
          <a:xfrm>
            <a:off x="1714500" y="23622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使用示教器检查移动方向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3-step-2"/>
          <p:cNvSpPr>
            <a:spLocks noGrp="1"/>
          </p:cNvSpPr>
          <p:nvPr/>
        </p:nvSpPr>
        <p:spPr>
          <a:xfrm>
            <a:off x="1047750" y="28765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3-title-2"/>
          <p:cNvSpPr>
            <a:spLocks noGrp="1"/>
          </p:cNvSpPr>
          <p:nvPr/>
        </p:nvSpPr>
        <p:spPr>
          <a:xfrm>
            <a:off x="1714500" y="28575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逐段验证三段路径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3-detail-2"/>
          <p:cNvSpPr>
            <a:spLocks noGrp="1"/>
          </p:cNvSpPr>
          <p:nvPr/>
        </p:nvSpPr>
        <p:spPr>
          <a:xfrm>
            <a:off x="1714500" y="32004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P0→P1、P1→P0、P0→P2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3-step-3"/>
          <p:cNvSpPr>
            <a:spLocks noGrp="1"/>
          </p:cNvSpPr>
          <p:nvPr/>
        </p:nvSpPr>
        <p:spPr>
          <a:xfrm>
            <a:off x="1047750" y="37147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3-title-3"/>
          <p:cNvSpPr>
            <a:spLocks noGrp="1"/>
          </p:cNvSpPr>
          <p:nvPr/>
        </p:nvSpPr>
        <p:spPr>
          <a:xfrm>
            <a:off x="1714500" y="36957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确认流程衔接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3-detail-3"/>
          <p:cNvSpPr>
            <a:spLocks noGrp="1"/>
          </p:cNvSpPr>
          <p:nvPr/>
        </p:nvSpPr>
        <p:spPr>
          <a:xfrm>
            <a:off x="1714500" y="40386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检测通过后进入原有后续动作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13-step-4"/>
          <p:cNvSpPr>
            <a:spLocks noGrp="1"/>
          </p:cNvSpPr>
          <p:nvPr/>
        </p:nvSpPr>
        <p:spPr>
          <a:xfrm>
            <a:off x="1047750" y="45529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3-title-4"/>
          <p:cNvSpPr>
            <a:spLocks noGrp="1"/>
          </p:cNvSpPr>
          <p:nvPr/>
        </p:nvSpPr>
        <p:spPr>
          <a:xfrm>
            <a:off x="1714500" y="45339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连续观察重复性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13-detail-4"/>
          <p:cNvSpPr>
            <a:spLocks noGrp="1"/>
          </p:cNvSpPr>
          <p:nvPr/>
        </p:nvSpPr>
        <p:spPr>
          <a:xfrm>
            <a:off x="1714500" y="48768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从“能动”走向“稳定可复现”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13-divider"/>
          <p:cNvSpPr>
            <a:spLocks noGrp="1"/>
          </p:cNvSpPr>
          <p:nvPr/>
        </p:nvSpPr>
        <p:spPr>
          <a:xfrm>
            <a:off x="5905500" y="1181100"/>
            <a:ext cx="9525" cy="44577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13-done-tag"/>
          <p:cNvSpPr>
            <a:spLocks noGrp="1"/>
          </p:cNvSpPr>
          <p:nvPr/>
        </p:nvSpPr>
        <p:spPr>
          <a:xfrm>
            <a:off x="6381750" y="12573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13-done"/>
          <p:cNvSpPr>
            <a:spLocks noGrp="1"/>
          </p:cNvSpPr>
          <p:nvPr/>
        </p:nvSpPr>
        <p:spPr>
          <a:xfrm>
            <a:off x="6381750" y="1733550"/>
            <a:ext cx="4476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双点检测动作序列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关键点位定位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与原有后续动作衔接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13-right-mid"/>
          <p:cNvSpPr>
            <a:spLocks noGrp="1"/>
          </p:cNvSpPr>
          <p:nvPr/>
        </p:nvSpPr>
        <p:spPr>
          <a:xfrm>
            <a:off x="6381750" y="3314700"/>
            <a:ext cx="447675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13-next-tag"/>
          <p:cNvSpPr>
            <a:spLocks noGrp="1"/>
          </p:cNvSpPr>
          <p:nvPr/>
        </p:nvSpPr>
        <p:spPr>
          <a:xfrm>
            <a:off x="6381750" y="35433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下一步量化验证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3-next"/>
          <p:cNvSpPr>
            <a:spLocks noGrp="1"/>
          </p:cNvSpPr>
          <p:nvPr/>
        </p:nvSpPr>
        <p:spPr>
          <a:xfrm>
            <a:off x="6381750" y="4038600"/>
            <a:ext cx="47625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连续试运行次数与成功率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新增动作对节拍的影响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单张/多张样本验证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异常、报警与流程中断记录</a:t>
            </a:r>
            <a:endParaRPr sz="15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13-boundary"/>
          <p:cNvSpPr>
            <a:spLocks noGrp="1"/>
          </p:cNvSpPr>
          <p:nvPr/>
        </p:nvSpPr>
        <p:spPr>
          <a:xfrm>
            <a:off x="9525000" y="12573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当前验证边界</a:t>
            </a:r>
            <a:endParaRPr sz="12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参观者</a:t>
            </a:r>
            <a:r>
              <a:rPr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2600" b="1" dirty="0" err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学习者</a:t>
            </a:r>
            <a:r>
              <a:rPr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altLang="en-US"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参与</a:t>
            </a:r>
            <a:r>
              <a:rPr sz="2600" b="1" dirty="0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者</a:t>
            </a:r>
            <a:endParaRPr dirty="0"/>
          </a:p>
          <a:p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系统思维｜安全优先｜持续验证</a:t>
            </a:r>
            <a:endParaRPr dirty="0"/>
          </a:p>
          <a:p>
            <a:r>
              <a:rPr sz="1500" b="0" dirty="0" err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感谢各位指导老师与团队</a:t>
            </a:r>
            <a:endParaRPr dirty="0"/>
          </a:p>
          <a:p>
            <a:pPr algn="l"/>
            <a:r>
              <a:rPr sz="1400" b="0" dirty="0" err="1">
                <a:solidFill>
                  <a:srgbClr val="595959"/>
                </a:solidFill>
                <a:latin typeface="微软雅黑" panose="020B0503020204020204" charset="-122"/>
              </a:rPr>
              <a:t>期待把控制工程的系统思维，带向更广阔的应用场景</a:t>
            </a:r>
            <a:r>
              <a:rPr sz="1400" b="0" dirty="0">
                <a:solidFill>
                  <a:srgbClr val="595959"/>
                </a:solidFill>
                <a:latin typeface="微软雅黑" panose="020B0503020204020204" charset="-122"/>
              </a:rPr>
              <a:t>。</a:t>
            </a:r>
            <a:endParaRPr sz="1400" b="0" dirty="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</a:rPr>
              <a:t>结业，是新的起点</a:t>
            </a:r>
            <a:endParaRPr sz="30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31851" r="31851"/>
          <a:stretch>
            <a:fillRect/>
          </a:stretch>
        </p:blipFill>
        <p:spPr>
          <a:xfrm>
            <a:off x="0" y="0"/>
            <a:ext cx="3359658" cy="5209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F5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5332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muRata</a:t>
            </a:r>
            <a:endParaRPr sz="2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0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Innovator in Electronics  ·  </a:t>
            </a:r>
            <a:r>
              <a:rPr sz="1100" b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感谢各位指导老师与团队</a:t>
            </a:r>
            <a:endParaRPr sz="1100" b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07040" y="6053328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14 / 14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trictly 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imited Disclosure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WPS 演示</Application>
  <PresentationFormat>宽屏</PresentationFormat>
  <Paragraphs>382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Arial Unicode MS</vt:lpstr>
      <vt:lpstr>Confidential</vt:lpstr>
      <vt:lpstr>Standard</vt:lpstr>
      <vt:lpstr>Strictly Confidential</vt:lpstr>
      <vt:lpstr>Limited Disclosure</vt:lpstr>
      <vt:lpstr>把知识装进产线</vt:lpstr>
      <vt:lpstr>一个月里，我从“参观者”走到了“参与者”</vt:lpstr>
      <vt:lpstr>夏令营给了广度，部门实践给了深度</vt:lpstr>
      <vt:lpstr>五个递进阶段，把学习压缩成一条技术路线</vt:lpstr>
      <vt:lpstr>三段既有经历，缩短了理解现场的路径</vt:lpstr>
      <vt:lpstr>从认识部品开始，我看见了“感知—控制—执行”</vt:lpstr>
      <vt:lpstr>PLC学习的重点，从“会写指令”转向“看懂设备状态”</vt:lpstr>
      <vt:lpstr>工业通信让我从“单机控制”走向“设备协同”</vt:lpstr>
      <vt:lpstr>坐标系一旦统一，机器人动作才可被准确描述</vt:lpstr>
      <vt:lpstr>双点检测位于整条贴片与加压流程的关键衔接处</vt:lpstr>
      <vt:lpstr>原流程只检右上角，新增左上角扩大检测覆盖</vt:lpstr>
      <vt:lpstr>“P0—P1—P0—P2”构成可验证的稳定路径</vt:lpstr>
      <vt:lpstr>现场调试先确认安全、位置与顺序，再谈速度</vt:lpstr>
      <vt:lpstr>结业，是新的起点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赵29</cp:lastModifiedBy>
  <cp:revision>21</cp:revision>
  <dcterms:created xsi:type="dcterms:W3CDTF">2026-07-29T12:12:00Z</dcterms:created>
  <dcterms:modified xsi:type="dcterms:W3CDTF">2026-08-01T13:39:10Z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7228C903E29F43C7ACEB3902F8984090_12</vt:lpwstr>
  </property>
  <property fmtid="{D5CDD505-2E9C-101B-9397-08002B2CF9AE}" pid="3" name="KSOProductBuildVer">
    <vt:lpwstr>2052-12.1.0.23542</vt:lpwstr>
  </property>
</Properties>
</file>